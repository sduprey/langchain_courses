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'toolkit' session. Keep each technique tied to a reason: what problem does it solve? End with the classifier they'll evaluate next session, so S3 has something concrete to measure.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(supporting workflow): Branching &amp; merging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(supporting workflow): Resolving a merge conflict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these four as the dials students will reach for all course. Everything today is a variation on instruction and examples. Emphasise that reaching for a bigger model is usually the wrong first move — tighten these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output constraint ('one lowercase word') — that single line is what makes the result parseable in code. Zero-shot is the baseline they'll compare few-shot against in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Live: add and remove an example and watch the label flip. This previews prompt sensitivity (S3). Make the point that examples are context — they eat token budget, so there's a real trade-off.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delimiter point does double duty: cleaner prompts now, and the seed of injection defence in S8. Correct the common myth that 'act as an expert' improves factual accuracy — it mostly changes style.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lesson: there is no single 'good prompt' — the shape follows the task. Ask students which of the four their capstone idea is; it changes how they'll prompt and evaluate.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this as a debugging checklist. When a prompt misbehaves in the lab, walk these four before anything else. It builds the habit of blaming the prompt first — which is usually correct.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classifier they build here is the input to next session's evaluation lab — make sure everyone leaves with one that runs. The commit-per-change habit is what makes their iteration visible and gradeable.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Tease S3 hard: 'you built a classifier today — but how do you KNOW it's good? Next session we stop guessing and start measuring.'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182880"/>
            <a:ext cx="45720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2327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9ECE6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7680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Techniques &amp; Task Patterns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6052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everyday toolkit, and how prompting changes with the task.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12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Mercredi 16 septembre   ·   8h00–9h40   ·   1h40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23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—  Stefan Duprey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— plan &amp; goals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EC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be able to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5852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Branch, merge, and resolve a conflict in Git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zero/few-shot, role &amp; structure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prompt patterns to task types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and fix weak prompts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903720" y="1965960"/>
            <a:ext cx="4736592" cy="3886200"/>
          </a:xfrm>
          <a:prstGeom prst="roundRect">
            <a:avLst>
              <a:gd name="adj" fmla="val 2118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78040" y="2194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OF SHOW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2651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595360" y="26517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05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— branching, merging, conflicts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178040" y="3310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0:55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33101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&amp; task patterns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38221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1:25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595360" y="382219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— fix prompts, build a classifier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9ECE6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Core Techniques &amp; Task Patterns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Sept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0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05872" y="45720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F0562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405872" y="4572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GIT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· BRANCHING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Branching &amp; merging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30352" cy="530352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08483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468880"/>
            <a:ext cx="10424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switch -c feature — isolate your work from main.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209544"/>
            <a:ext cx="530352" cy="530352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2095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19125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575304"/>
            <a:ext cx="10424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freely on the branch; main stays clean.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315968"/>
            <a:ext cx="530352" cy="530352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31596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42976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681728"/>
            <a:ext cx="10424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merge — bring the finished work back into main.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5422392"/>
            <a:ext cx="530352" cy="530352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4223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540410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5788152"/>
            <a:ext cx="10424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branch once it's merged.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0562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05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· supporting workflow  ·  Core Techniques &amp; Task Patterns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Sept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0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05872" y="45720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F0562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405872" y="4572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GIT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· CONFLICTS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Resolving a merge conflict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57400"/>
            <a:ext cx="47091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Conflicts happen when two branches change the same lines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marks the clash directly in the file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 the correct result and remove the markers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stage and commit the resolution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532120" y="2057400"/>
            <a:ext cx="6108192" cy="3794760"/>
          </a:xfrm>
          <a:prstGeom prst="roundRect">
            <a:avLst>
              <a:gd name="adj" fmla="val 1446"/>
            </a:avLst>
          </a:prstGeom>
          <a:solidFill>
            <a:srgbClr val="22120B"/>
          </a:solidFill>
          <a:ln w="12700">
            <a:solidFill>
              <a:srgbClr val="5C342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0" y="2194560"/>
            <a:ext cx="5650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conflict markers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88152" y="2560320"/>
            <a:ext cx="559612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&lt;&lt;&lt;&lt;&lt;&lt;&lt; HEAD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0.0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0.7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&gt;&gt;&gt;&gt;&gt;&gt;&gt; feature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to the right value, then: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config.py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056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05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· supporting workflow  ·  Core Techniques &amp; Task Patterns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Sept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levers you control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everything you do to a prompt is a turn of one of these four dials — keep them in mind all course.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3230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24912"/>
            <a:ext cx="548640" cy="548640"/>
          </a:xfrm>
          <a:prstGeom prst="ellipse">
            <a:avLst/>
          </a:prstGeom>
          <a:solidFill>
            <a:srgbClr val="9ECE6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6883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34670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exactly what to do, for whom, and to what standard. Most weak outputs are really under-specified instructions.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45352" y="243230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19672" y="2724912"/>
            <a:ext cx="548640" cy="548640"/>
          </a:xfrm>
          <a:prstGeom prst="ellipse">
            <a:avLst/>
          </a:prstGeom>
          <a:solidFill>
            <a:srgbClr val="9ECE6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19672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205472" y="26883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34670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pattern instead of describing it. A few input→output pairs often beat a paragraph of rules.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736592"/>
            <a:ext cx="548640" cy="548640"/>
          </a:xfrm>
          <a:prstGeom prst="ellipse">
            <a:avLst/>
          </a:prstGeom>
          <a:solidFill>
            <a:srgbClr val="FF9E6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736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70001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5838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 sets vocabulary, depth and default rigor — 'you are a careful editor' changes tone reliably.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45352" y="444398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19672" y="4736592"/>
            <a:ext cx="548640" cy="548640"/>
          </a:xfrm>
          <a:prstGeom prst="ellipse">
            <a:avLst/>
          </a:prstGeom>
          <a:solidFill>
            <a:srgbClr val="7DC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19672" y="4736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205472" y="470001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519672" y="535838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 the shape of the output: length, a schema, a style. Formats you can check are formats you can trust.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9ECE6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Core Techniques &amp; Task Patterns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Sept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TECHNIQUE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Zero-shot: just ask, but ask well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move is to just ask — the trick is asking precisely enough that there's only one reasonable answer.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86584"/>
            <a:ext cx="470916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examples — a precise instruction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rely entirely on the wording. Works when the task is common and unambiguous.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audience and format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asks get vague answers. 'One lowercase word' removes a whole class of formatting problems.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default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here. Add examples only when zero-shot visibly falls short — don't pay for examples you don't need.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532120" y="2386584"/>
            <a:ext cx="6108192" cy="3465576"/>
          </a:xfrm>
          <a:prstGeom prst="roundRect">
            <a:avLst>
              <a:gd name="adj" fmla="val 1583"/>
            </a:avLst>
          </a:prstGeom>
          <a:solidFill>
            <a:srgbClr val="16161E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0" y="2523744"/>
            <a:ext cx="5650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zero-shot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788152" y="2889504"/>
            <a:ext cx="5596128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System: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You are a support triage bot.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User: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Classify the ticket as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billing, bug, or other.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 with one lowercase word.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FF9E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Ticket: "App crashes on export."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9ECE6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Core Techniques &amp; Task Patterns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Sept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TECHNIQUE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Few-shot: show the pattern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words alone aren't landing, stop explaining and start showing — a few examples often do what a paragraph can't.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86584"/>
            <a:ext cx="470916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2–5 input→output examples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infers the task and the exact output shape from your examples — often more reliably than from instructions alone.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beats quantity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format identical across examples. Order can matter; a contradictory example poisons the batch.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on smaller models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models drift without examples. Few-shot is how you get reliable structure out of a modest model (revisited in S7).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532120" y="2386584"/>
            <a:ext cx="6108192" cy="3465576"/>
          </a:xfrm>
          <a:prstGeom prst="roundRect">
            <a:avLst>
              <a:gd name="adj" fmla="val 1583"/>
            </a:avLst>
          </a:prstGeom>
          <a:solidFill>
            <a:srgbClr val="16161E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0" y="2523744"/>
            <a:ext cx="5650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788152" y="2889504"/>
            <a:ext cx="5596128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"Refund took weeks"  -&gt; 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billing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"Button does nothing" -&gt; 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bug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"Love the new UI"    -&gt; 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"Charged twice"      -&gt; 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FF9E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9ECE6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Core Techniques &amp; Task Patterns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Sept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TECHNIQUE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&amp; structure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quiet levers that shape a lot: who you tell the model to be, and how you fence off the parts of your prompt.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61264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 shifts the whole register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'You are a senior tax accountant' changes vocabulary, caution and defaults. It steers style — it does not add knowledge the model lacks.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Delimiters fence the input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user text in quotes or tags so the model treats it as data, not as new instructions. This is also your first line against injection (S8).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the sections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/ Task / Constraints / Output headings make long prompts legible to the model and to you.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95160" y="2478024"/>
            <a:ext cx="4645152" cy="3054096"/>
          </a:xfrm>
          <a:prstGeom prst="roundRect">
            <a:avLst>
              <a:gd name="adj" fmla="val 2695"/>
            </a:avLst>
          </a:prstGeom>
          <a:solidFill>
            <a:srgbClr val="24283B"/>
          </a:solidFill>
          <a:ln w="15875">
            <a:solidFill>
              <a:srgbClr val="9ECE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69480" y="2752344"/>
            <a:ext cx="457200" cy="457200"/>
          </a:xfrm>
          <a:prstGeom prst="ellipse">
            <a:avLst/>
          </a:prstGeom>
          <a:solidFill>
            <a:srgbClr val="9ECE6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18120" y="277977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3438144"/>
            <a:ext cx="416052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reliably changes how the model writes. It does not make the model know things it was never trained on — don't confuse tone for expertise.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9ECE6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Core Techniques &amp; Task Patterns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Sept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PATTERNS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differ by task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'good prompt' — the right shape depends on what kind of job you're asking for.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3230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24912"/>
            <a:ext cx="548640" cy="548640"/>
          </a:xfrm>
          <a:prstGeom prst="ellipse">
            <a:avLst/>
          </a:prstGeom>
          <a:solidFill>
            <a:srgbClr val="9ECE6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6883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34670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label set, one-word output, few-shot examples. Optimise for a parseable, constrained answer.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45352" y="243230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19672" y="2724912"/>
            <a:ext cx="548640" cy="548640"/>
          </a:xfrm>
          <a:prstGeom prst="ellipse">
            <a:avLst/>
          </a:prstGeom>
          <a:solidFill>
            <a:srgbClr val="9ECE6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19672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⇲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205472" y="26883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34670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typed fields into a schema. Delimit the source text and specify what to do when a field is missing.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736592"/>
            <a:ext cx="548640" cy="548640"/>
          </a:xfrm>
          <a:prstGeom prst="ellipse">
            <a:avLst/>
          </a:prstGeom>
          <a:solidFill>
            <a:srgbClr val="FF9E6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736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¶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70001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5838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audience and length first, then what to keep versus drop. 'Summarize' without those is under-specified.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45352" y="444398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19672" y="4736592"/>
            <a:ext cx="548640" cy="548640"/>
          </a:xfrm>
          <a:prstGeom prst="ellipse">
            <a:avLst/>
          </a:prstGeom>
          <a:solidFill>
            <a:srgbClr val="7DC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19672" y="4736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✎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205472" y="470001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519672" y="535838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Open-ended writing. Supply style, hard constraints, and one example of 'good' to anchor quality.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9ECE6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Core Techniques &amp; Task Patterns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Sept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DIAGNOSIS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failure modes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prompt misbehaves it's usually one of these four — think of this as your debugging checklist.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61264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Ambiguity → the model guesses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instruction allows two readings, the model will sometimes pick the wrong one. Remove the ambiguity, don't add pleading.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drift → unparseable output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asked for JSON and got prose with an apology. Constrain the format and, later, validate it (S4).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Over-stuffed context → lost instruction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line drowns in pasted text. Shorten, or move it to the edges of the prompt.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Leaked instructions → input obeyed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Unfenced user text gets read as a command. Delimiter discipline matters (and it's a security issue — S8).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95160" y="2478024"/>
            <a:ext cx="4645152" cy="3054096"/>
          </a:xfrm>
          <a:prstGeom prst="roundRect">
            <a:avLst>
              <a:gd name="adj" fmla="val 2695"/>
            </a:avLst>
          </a:prstGeom>
          <a:solidFill>
            <a:srgbClr val="24283B"/>
          </a:solidFill>
          <a:ln w="15875">
            <a:solidFill>
              <a:srgbClr val="9ECE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69480" y="2752344"/>
            <a:ext cx="457200" cy="457200"/>
          </a:xfrm>
          <a:prstGeom prst="ellipse">
            <a:avLst/>
          </a:prstGeom>
          <a:solidFill>
            <a:srgbClr val="9ECE6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18120" y="277977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FIX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3438144"/>
            <a:ext cx="416052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bad outputs are under-specified prompts, not weak models. Tighten the ask before you reach for a bigger model.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9ECE6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Core Techniques &amp; Task Patterns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Sept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— Fix prompts &amp; build a classifier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377440" cy="384048"/>
          </a:xfrm>
          <a:prstGeom prst="roundRect">
            <a:avLst>
              <a:gd name="adj" fmla="val 19048"/>
            </a:avLst>
          </a:prstGeom>
          <a:solidFill>
            <a:srgbClr val="9ECE6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· OLLAMA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15727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prompt-engineering-course/02_techniques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7040880" cy="3657600"/>
          </a:xfrm>
          <a:prstGeom prst="roundRect">
            <a:avLst>
              <a:gd name="adj" fmla="val 2250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957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88920"/>
            <a:ext cx="6400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branch, then rewrite three weak prompts to spec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few-shot sentiment classifier with a fixed label set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and remove examples; watch the behaviour change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each version with a message saying what you changed and why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818120" y="2194560"/>
            <a:ext cx="3822192" cy="3657600"/>
          </a:xfrm>
          <a:prstGeom prst="roundRect">
            <a:avLst>
              <a:gd name="adj" fmla="val 2250"/>
            </a:avLst>
          </a:prstGeom>
          <a:solidFill>
            <a:srgbClr val="24283B"/>
          </a:solidFill>
          <a:ln w="15875">
            <a:solidFill>
              <a:srgbClr val="9ECE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92440" y="2468880"/>
            <a:ext cx="457200" cy="457200"/>
          </a:xfrm>
          <a:prstGeom prst="ellipse">
            <a:avLst/>
          </a:prstGeom>
          <a:solidFill>
            <a:srgbClr val="9ECE6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924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0" y="24871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DELIVERABLE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092440" y="315468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before/after prompt set and a working classifier, committed step by step so the Git history shows your iteration.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9ECE6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Core Techniques &amp; Task Patterns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Sept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WRAP-UP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— Session 2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9ECE6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14884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Instruction, examples, role, format are your four levers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457200" cy="457200"/>
          </a:xfrm>
          <a:prstGeom prst="ellipse">
            <a:avLst/>
          </a:prstGeom>
          <a:solidFill>
            <a:srgbClr val="9ECE6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0896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fixes output format and the label space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457200" cy="457200"/>
          </a:xfrm>
          <a:prstGeom prst="ellipse">
            <a:avLst/>
          </a:prstGeom>
          <a:solidFill>
            <a:srgbClr val="9ECE6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06908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task types want different prompt shapes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5074920"/>
            <a:ext cx="457200" cy="457200"/>
          </a:xfrm>
          <a:prstGeom prst="ellipse">
            <a:avLst/>
          </a:prstGeom>
          <a:solidFill>
            <a:srgbClr val="9ECE6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02920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Tighten the ask before blaming the model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0" y="2194560"/>
            <a:ext cx="4325112" cy="3566160"/>
          </a:xfrm>
          <a:prstGeom prst="roundRect">
            <a:avLst>
              <a:gd name="adj" fmla="val 2308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2423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SESSION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283464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EC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iteration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397764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pivot: turn prompting from vibes into engineering by measuring. Eval sets, LLM-as-judge, and prompt sensitivity.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9ECE6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Core Techniques &amp; Task Patterns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Sept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Prompt &amp; Context Engineering — Session 2</dc:title>
  <dc:subject>PptxGenJS Presentation</dc:subject>
  <dc:creator>Stefan Duprey</dc:creator>
  <cp:lastModifiedBy>Stefan Duprey</cp:lastModifiedBy>
  <cp:revision>1</cp:revision>
  <dcterms:created xsi:type="dcterms:W3CDTF">2026-09-08T15:47:41Z</dcterms:created>
  <dcterms:modified xsi:type="dcterms:W3CDTF">2026-09-08T15:47:41Z</dcterms:modified>
</cp:coreProperties>
</file>