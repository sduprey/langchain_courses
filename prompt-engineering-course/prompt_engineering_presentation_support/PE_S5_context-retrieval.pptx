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conceptual reframe of the course: prompt engineering grows up into context engineering. Retrieval (RAG) is the first and most important form. Keep the RAG pipeline concrete and end on the honest caveat that more context can hurt.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 (supporting workflow): Keep secrets out of Git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shift explicitly — students hear 'prompt engineering' but the job is increasingly 'context engineering'. Everything in S5 and S6 is a form of it: retrieval, tools, memory are all decisions about what fills the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four stages against the offline RAG notebook. The framing that matters: RAG is not magic, it's 'assemble the right context, then ask'. Most RAG failures are retrieval or assembly failures, not model failures.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vector-search explanation intuitive (a map where similar meanings are neighbours). You don't need the math. The actionable knobs are chunk size/overlap and k — those are what they'll tune in the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little prompt is the workhorse of grounded QA. The refusal clause is counter-intuitive to students — they want the model to always answer. Show that permitting 'I don't know' dramatically cuts confident nonsense on out-of-scope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stops students building bloated RAG. 'Lost in the middle' is a real, documented effect. Tie it back to S1's context-window slide and forward to S7's context compression. And note: you evaluate RAG the same way you evaluate anything — with a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diagnostic table for the lab: when their RAG bot gives a bad answer, which of the four is it? Each has a distinct fix. This turns 'RAG is flaky' into a set of concrete, addressable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Success = the bot correctly says 'I don't know' to an out-of-scope question AND cites for in-scope ones. The .gitignore/.env point is the only Git today. If time is tight, the refusal behaviour is the must-have takeaway.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retrieval was context you fetched; next session covers context the model can act on (tools) and context you persist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B26"/>
        </a:solidFill>
      </p:bgPr>
    </p:bg>
    <p:spTree>
      <p:nvGrpSpPr>
        <p:cNvPr id="1" name=""/>
        <p:cNvGrpSpPr/>
        <p:nvPr/>
      </p:nvGrpSpPr>
      <p:grpSpPr>
        <a:xfrm>
          <a:off x="0" y="0"/>
          <a:ext cx="0" cy="0"/>
          <a:chOff x="0" y="0"/>
          <a:chExt cx="0" cy="0"/>
        </a:xfrm>
      </p:grpSpPr>
      <p:sp>
        <p:nvSpPr>
          <p:cNvPr id="2" name="Text 0"/>
          <p:cNvSpPr txBox="1"/>
          <p:nvPr/>
        </p:nvSpPr>
        <p:spPr>
          <a:xfrm>
            <a:off x="7589520" y="182880"/>
            <a:ext cx="4572000" cy="6400800"/>
          </a:xfrm>
          <a:prstGeom prst="rect">
            <a:avLst/>
          </a:prstGeom>
          <a:noFill/>
          <a:ln/>
        </p:spPr>
        <p:txBody>
          <a:bodyPr wrap="square" lIns="0" tIns="0" rIns="0" bIns="0" rtlCol="0" anchor="ctr"/>
          <a:lstStyle/>
          <a:p>
            <a:pPr algn="r" indent="0" marL="0">
              <a:buNone/>
            </a:pPr>
            <a:r>
              <a:rPr lang="en-US" sz="40000" b="1" dirty="0">
                <a:solidFill>
                  <a:srgbClr val="232739"/>
                </a:solidFill>
                <a:latin typeface="Calibri" pitchFamily="34" charset="0"/>
                <a:ea typeface="Calibri" pitchFamily="34" charset="-122"/>
                <a:cs typeface="Calibri" pitchFamily="34" charset="-120"/>
              </a:rPr>
              <a:t>5</a:t>
            </a:r>
            <a:endParaRPr lang="en-US" sz="40000" dirty="0"/>
          </a:p>
        </p:txBody>
      </p:sp>
      <p:sp>
        <p:nvSpPr>
          <p:cNvPr id="3" name="Shape 1"/>
          <p:cNvSpPr/>
          <p:nvPr/>
        </p:nvSpPr>
        <p:spPr>
          <a:xfrm>
            <a:off x="548640" y="1371600"/>
            <a:ext cx="1920240" cy="384048"/>
          </a:xfrm>
          <a:prstGeom prst="roundRect">
            <a:avLst>
              <a:gd name="adj" fmla="val 19048"/>
            </a:avLst>
          </a:prstGeom>
          <a:solidFill>
            <a:srgbClr val="FF9E64"/>
          </a:solidFill>
          <a:ln/>
        </p:spPr>
      </p:sp>
      <p:sp>
        <p:nvSpPr>
          <p:cNvPr id="4" name="Text 2"/>
          <p:cNvSpPr txBox="1"/>
          <p:nvPr/>
        </p:nvSpPr>
        <p:spPr>
          <a:xfrm>
            <a:off x="548640" y="1371600"/>
            <a:ext cx="1920240" cy="384048"/>
          </a:xfrm>
          <a:prstGeom prst="rect">
            <a:avLst/>
          </a:prstGeom>
          <a:noFill/>
          <a:ln/>
        </p:spPr>
        <p:txBody>
          <a:bodyPr wrap="square" lIns="0" tIns="0" rIns="0" bIns="0" rtlCol="0" anchor="ctr"/>
          <a:lstStyle/>
          <a:p>
            <a:pPr algn="ctr" indent="0" marL="0">
              <a:buNone/>
            </a:pPr>
            <a:r>
              <a:rPr lang="en-US" sz="1300" b="1" dirty="0">
                <a:solidFill>
                  <a:srgbClr val="1A1B26"/>
                </a:solidFill>
                <a:latin typeface="Courier New" pitchFamily="34" charset="0"/>
                <a:ea typeface="Courier New" pitchFamily="34" charset="-122"/>
                <a:cs typeface="Courier New" pitchFamily="34" charset="-120"/>
              </a:rPr>
              <a:t>SESSION 5</a:t>
            </a:r>
            <a:endParaRPr lang="en-US" sz="1300" dirty="0"/>
          </a:p>
        </p:txBody>
      </p:sp>
      <p:sp>
        <p:nvSpPr>
          <p:cNvPr id="5" name="Text 3"/>
          <p:cNvSpPr txBox="1"/>
          <p:nvPr/>
        </p:nvSpPr>
        <p:spPr>
          <a:xfrm>
            <a:off x="548640" y="1965960"/>
            <a:ext cx="7680960" cy="2194560"/>
          </a:xfrm>
          <a:prstGeom prst="rect">
            <a:avLst/>
          </a:prstGeom>
          <a:noFill/>
          <a:ln/>
        </p:spPr>
        <p:txBody>
          <a:bodyPr wrap="square" lIns="0" tIns="0" rIns="0" bIns="0" rtlCol="0" anchor="t"/>
          <a:lstStyle/>
          <a:p>
            <a:pPr algn="l" indent="0" marL="0">
              <a:buNone/>
            </a:pPr>
            <a:r>
              <a:rPr lang="en-US" sz="4600" b="1" dirty="0">
                <a:solidFill>
                  <a:srgbClr val="C0CAF5"/>
                </a:solidFill>
                <a:latin typeface="Calibri" pitchFamily="34" charset="0"/>
                <a:ea typeface="Calibri" pitchFamily="34" charset="-122"/>
                <a:cs typeface="Calibri" pitchFamily="34" charset="-120"/>
              </a:rPr>
              <a:t>Context Engineering I — Retrieval</a:t>
            </a:r>
            <a:endParaRPr lang="en-US" sz="4600" dirty="0"/>
          </a:p>
        </p:txBody>
      </p:sp>
      <p:sp>
        <p:nvSpPr>
          <p:cNvPr id="6" name="Text 4"/>
          <p:cNvSpPr txBox="1"/>
          <p:nvPr/>
        </p:nvSpPr>
        <p:spPr>
          <a:xfrm>
            <a:off x="548640" y="4160520"/>
            <a:ext cx="7498080" cy="822960"/>
          </a:xfrm>
          <a:prstGeom prst="rect">
            <a:avLst/>
          </a:prstGeom>
          <a:noFill/>
          <a:ln/>
        </p:spPr>
        <p:txBody>
          <a:bodyPr wrap="square" lIns="0" tIns="0" rIns="0" bIns="0" rtlCol="0" anchor="t"/>
          <a:lstStyle/>
          <a:p>
            <a:pPr algn="l" indent="0" marL="0">
              <a:buNone/>
            </a:pPr>
            <a:r>
              <a:rPr lang="en-US" sz="1800" dirty="0">
                <a:solidFill>
                  <a:srgbClr val="A9B1D6"/>
                </a:solidFill>
                <a:latin typeface="Calibri" pitchFamily="34" charset="0"/>
                <a:ea typeface="Calibri" pitchFamily="34" charset="-122"/>
                <a:cs typeface="Calibri" pitchFamily="34" charset="-120"/>
              </a:rPr>
              <a:t>The field shifted from wording prompts to engineering what fills the window.</a:t>
            </a:r>
            <a:endParaRPr lang="en-US" sz="1800" dirty="0"/>
          </a:p>
        </p:txBody>
      </p:sp>
      <p:sp>
        <p:nvSpPr>
          <p:cNvPr id="7" name="Text 5"/>
          <p:cNvSpPr txBox="1"/>
          <p:nvPr/>
        </p:nvSpPr>
        <p:spPr>
          <a:xfrm>
            <a:off x="548640" y="5212080"/>
            <a:ext cx="8229600" cy="365760"/>
          </a:xfrm>
          <a:prstGeom prst="rect">
            <a:avLst/>
          </a:prstGeom>
          <a:noFill/>
          <a:ln/>
        </p:spPr>
        <p:txBody>
          <a:bodyPr wrap="square" lIns="0" tIns="0" rIns="0" bIns="0" rtlCol="0" anchor="t"/>
          <a:lstStyle/>
          <a:p>
            <a:pPr algn="l" indent="0" marL="0">
              <a:buNone/>
            </a:pPr>
            <a:r>
              <a:rPr lang="en-US" sz="1300" dirty="0">
                <a:solidFill>
                  <a:srgbClr val="565F89"/>
                </a:solidFill>
                <a:latin typeface="Courier New" pitchFamily="34" charset="0"/>
                <a:ea typeface="Courier New" pitchFamily="34" charset="-122"/>
                <a:cs typeface="Courier New" pitchFamily="34" charset="-120"/>
              </a:rPr>
              <a:t>Mercredi 23 septembre   ·   8h00–9h30   ·   1h30</a:t>
            </a:r>
            <a:endParaRPr lang="en-US" sz="1300" dirty="0"/>
          </a:p>
        </p:txBody>
      </p:sp>
      <p:sp>
        <p:nvSpPr>
          <p:cNvPr id="8" name="Text 6"/>
          <p:cNvSpPr txBox="1"/>
          <p:nvPr/>
        </p:nvSpPr>
        <p:spPr>
          <a:xfrm>
            <a:off x="548640" y="5623560"/>
            <a:ext cx="8229600" cy="365760"/>
          </a:xfrm>
          <a:prstGeom prst="rect">
            <a:avLst/>
          </a:prstGeom>
          <a:noFill/>
          <a:ln/>
        </p:spPr>
        <p:txBody>
          <a:bodyPr wrap="square" lIns="0" tIns="0" rIns="0" bIns="0" rtlCol="0" anchor="t"/>
          <a:lstStyle/>
          <a:p>
            <a:pPr algn="l" indent="0" marL="0">
              <a:buNone/>
            </a:pPr>
            <a:r>
              <a:rPr lang="en-US" sz="1300" dirty="0">
                <a:solidFill>
                  <a:srgbClr val="565F89"/>
                </a:solidFill>
                <a:latin typeface="Calibri" pitchFamily="34" charset="0"/>
                <a:ea typeface="Calibri" pitchFamily="34" charset="-122"/>
                <a:cs typeface="Calibri" pitchFamily="34" charset="-120"/>
              </a:rPr>
              <a:t>Prompt &amp; Context Engineering  —  Stefan Duprey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B26"/>
        </a:solidFill>
      </p:bgPr>
    </p:bg>
    <p:spTree>
      <p:nvGrpSpPr>
        <p:cNvPr id="1" name=""/>
        <p:cNvGrpSpPr/>
        <p:nvPr/>
      </p:nvGrpSpPr>
      <p:grpSpPr>
        <a:xfrm>
          <a:off x="0" y="0"/>
          <a:ext cx="0" cy="0"/>
          <a:chOff x="0" y="0"/>
          <a:chExt cx="0" cy="0"/>
        </a:xfrm>
      </p:grpSpPr>
      <p:sp>
        <p:nvSpPr>
          <p:cNvPr id="2" name="Text 0"/>
          <p:cNvSpPr txBox="1"/>
          <p:nvPr/>
        </p:nvSpPr>
        <p:spPr>
          <a:xfrm>
            <a:off x="548640" y="502920"/>
            <a:ext cx="7315200" cy="320040"/>
          </a:xfrm>
          <a:prstGeom prst="rect">
            <a:avLst/>
          </a:prstGeom>
          <a:noFill/>
          <a:ln/>
        </p:spPr>
        <p:txBody>
          <a:bodyPr wrap="square" lIns="0" tIns="0" rIns="0" bIns="0" rtlCol="0" anchor="t"/>
          <a:lstStyle/>
          <a:p>
            <a:pPr algn="l" indent="0" marL="0">
              <a:buNone/>
            </a:pPr>
            <a:r>
              <a:rPr lang="en-US" sz="1300" b="1" spc="200" kern="0" dirty="0">
                <a:solidFill>
                  <a:srgbClr val="FF9E64"/>
                </a:solidFill>
                <a:latin typeface="Courier New" pitchFamily="34" charset="0"/>
                <a:ea typeface="Courier New" pitchFamily="34" charset="-122"/>
                <a:cs typeface="Courier New" pitchFamily="34" charset="-120"/>
              </a:rPr>
              <a:t>TODAY</a:t>
            </a:r>
            <a:endParaRPr lang="en-US" sz="1300" dirty="0"/>
          </a:p>
        </p:txBody>
      </p:sp>
      <p:sp>
        <p:nvSpPr>
          <p:cNvPr id="3" name="Text 1"/>
          <p:cNvSpPr txBox="1"/>
          <p:nvPr/>
        </p:nvSpPr>
        <p:spPr>
          <a:xfrm>
            <a:off x="548640" y="868680"/>
            <a:ext cx="11091672" cy="1005840"/>
          </a:xfrm>
          <a:prstGeom prst="rect">
            <a:avLst/>
          </a:prstGeom>
          <a:noFill/>
          <a:ln/>
        </p:spPr>
        <p:txBody>
          <a:bodyPr wrap="square" lIns="0" tIns="0" rIns="0" bIns="0" rtlCol="0" anchor="t"/>
          <a:lstStyle/>
          <a:p>
            <a:pPr algn="l" indent="0" marL="0">
              <a:buNone/>
            </a:pPr>
            <a:r>
              <a:rPr lang="en-US" sz="3400" b="1" dirty="0">
                <a:solidFill>
                  <a:srgbClr val="C0CAF5"/>
                </a:solidFill>
                <a:latin typeface="Calibri" pitchFamily="34" charset="0"/>
                <a:ea typeface="Calibri" pitchFamily="34" charset="-122"/>
                <a:cs typeface="Calibri" pitchFamily="34" charset="-120"/>
              </a:rPr>
              <a:t>Session 5 — plan &amp; goals</a:t>
            </a:r>
            <a:endParaRPr lang="en-US" sz="3400" dirty="0"/>
          </a:p>
        </p:txBody>
      </p:sp>
      <p:sp>
        <p:nvSpPr>
          <p:cNvPr id="4" name="Text 2"/>
          <p:cNvSpPr txBox="1"/>
          <p:nvPr/>
        </p:nvSpPr>
        <p:spPr>
          <a:xfrm>
            <a:off x="548640" y="1965960"/>
            <a:ext cx="5852160" cy="365760"/>
          </a:xfrm>
          <a:prstGeom prst="rect">
            <a:avLst/>
          </a:prstGeom>
          <a:noFill/>
          <a:ln/>
        </p:spPr>
        <p:txBody>
          <a:bodyPr wrap="square" lIns="0" tIns="0" rIns="0" bIns="0" rtlCol="0" anchor="t"/>
          <a:lstStyle/>
          <a:p>
            <a:pPr algn="l" indent="0" marL="0">
              <a:buNone/>
            </a:pPr>
            <a:r>
              <a:rPr lang="en-US" sz="1400" b="1" dirty="0">
                <a:solidFill>
                  <a:srgbClr val="FF9E64"/>
                </a:solidFill>
                <a:latin typeface="Calibri" pitchFamily="34" charset="0"/>
                <a:ea typeface="Calibri" pitchFamily="34" charset="-122"/>
                <a:cs typeface="Calibri" pitchFamily="34" charset="-120"/>
              </a:rPr>
              <a:t>You will be able to</a:t>
            </a:r>
            <a:endParaRPr lang="en-US" sz="1400" dirty="0"/>
          </a:p>
        </p:txBody>
      </p:sp>
      <p:sp>
        <p:nvSpPr>
          <p:cNvPr id="5" name="Text 3"/>
          <p:cNvSpPr txBox="1"/>
          <p:nvPr/>
        </p:nvSpPr>
        <p:spPr>
          <a:xfrm>
            <a:off x="548640" y="2377440"/>
            <a:ext cx="5852160" cy="32918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A9B1D6"/>
                </a:solidFill>
                <a:latin typeface="Calibri" pitchFamily="34" charset="0"/>
                <a:ea typeface="Calibri" pitchFamily="34" charset="-122"/>
                <a:cs typeface="Calibri" pitchFamily="34" charset="-120"/>
              </a:rPr>
              <a:t>Keep secrets out of Git (.gitignore, .env)</a:t>
            </a:r>
            <a:endParaRPr lang="en-US" sz="1500" dirty="0"/>
          </a:p>
          <a:p>
            <a:pPr marL="342900" indent="-342900">
              <a:spcAft>
                <a:spcPts val="1000"/>
              </a:spcAft>
              <a:buSzPct val="100000"/>
              <a:buChar char="•"/>
            </a:pPr>
            <a:r>
              <a:rPr lang="en-US" sz="1500" dirty="0">
                <a:solidFill>
                  <a:srgbClr val="A9B1D6"/>
                </a:solidFill>
                <a:latin typeface="Calibri" pitchFamily="34" charset="0"/>
                <a:ea typeface="Calibri" pitchFamily="34" charset="-122"/>
                <a:cs typeface="Calibri" pitchFamily="34" charset="-120"/>
              </a:rPr>
              <a:t>Reframe prompting as context engineering</a:t>
            </a:r>
            <a:endParaRPr lang="en-US" sz="1500" dirty="0"/>
          </a:p>
          <a:p>
            <a:pPr marL="342900" indent="-342900">
              <a:spcAft>
                <a:spcPts val="1000"/>
              </a:spcAft>
              <a:buSzPct val="100000"/>
              <a:buChar char="•"/>
            </a:pPr>
            <a:r>
              <a:rPr lang="en-US" sz="1500" dirty="0">
                <a:solidFill>
                  <a:srgbClr val="A9B1D6"/>
                </a:solidFill>
                <a:latin typeface="Calibri" pitchFamily="34" charset="0"/>
                <a:ea typeface="Calibri" pitchFamily="34" charset="-122"/>
                <a:cs typeface="Calibri" pitchFamily="34" charset="-120"/>
              </a:rPr>
              <a:t>Ground answers with retrieval + citation</a:t>
            </a:r>
            <a:endParaRPr lang="en-US" sz="1500" dirty="0"/>
          </a:p>
          <a:p>
            <a:pPr marL="342900" indent="-342900">
              <a:spcAft>
                <a:spcPts val="1000"/>
              </a:spcAft>
              <a:buSzPct val="100000"/>
              <a:buChar char="•"/>
            </a:pPr>
            <a:r>
              <a:rPr lang="en-US" sz="1500" dirty="0">
                <a:solidFill>
                  <a:srgbClr val="A9B1D6"/>
                </a:solidFill>
                <a:latin typeface="Calibri" pitchFamily="34" charset="0"/>
                <a:ea typeface="Calibri" pitchFamily="34" charset="-122"/>
                <a:cs typeface="Calibri" pitchFamily="34" charset="-120"/>
              </a:rPr>
              <a:t>Handle context rot / lost-in-the-middle</a:t>
            </a:r>
            <a:endParaRPr lang="en-US" sz="1500" dirty="0"/>
          </a:p>
        </p:txBody>
      </p:sp>
      <p:sp>
        <p:nvSpPr>
          <p:cNvPr id="6" name="Shape 4"/>
          <p:cNvSpPr/>
          <p:nvPr/>
        </p:nvSpPr>
        <p:spPr>
          <a:xfrm>
            <a:off x="6903720" y="1965960"/>
            <a:ext cx="4736592" cy="3886200"/>
          </a:xfrm>
          <a:prstGeom prst="roundRect">
            <a:avLst>
              <a:gd name="adj" fmla="val 2118"/>
            </a:avLst>
          </a:prstGeom>
          <a:solidFill>
            <a:srgbClr val="24283B"/>
          </a:solidFill>
          <a:ln w="12700">
            <a:solidFill>
              <a:srgbClr val="2A2E42"/>
            </a:solidFill>
            <a:prstDash val="solid"/>
          </a:ln>
        </p:spPr>
      </p:sp>
      <p:sp>
        <p:nvSpPr>
          <p:cNvPr id="7" name="Text 5"/>
          <p:cNvSpPr txBox="1"/>
          <p:nvPr/>
        </p:nvSpPr>
        <p:spPr>
          <a:xfrm>
            <a:off x="7178040" y="2194560"/>
            <a:ext cx="4206240" cy="320040"/>
          </a:xfrm>
          <a:prstGeom prst="rect">
            <a:avLst/>
          </a:prstGeom>
          <a:noFill/>
          <a:ln/>
        </p:spPr>
        <p:txBody>
          <a:bodyPr wrap="square" lIns="0" tIns="0" rIns="0" bIns="0" rtlCol="0" anchor="t"/>
          <a:lstStyle/>
          <a:p>
            <a:pPr algn="l" indent="0" marL="0">
              <a:buNone/>
            </a:pPr>
            <a:r>
              <a:rPr lang="en-US" sz="1200" b="1" spc="200" kern="0" dirty="0">
                <a:solidFill>
                  <a:srgbClr val="565F89"/>
                </a:solidFill>
                <a:latin typeface="Courier New" pitchFamily="34" charset="0"/>
                <a:ea typeface="Courier New" pitchFamily="34" charset="-122"/>
                <a:cs typeface="Courier New" pitchFamily="34" charset="-120"/>
              </a:rPr>
              <a:t>RUN OF SHOW</a:t>
            </a:r>
            <a:endParaRPr lang="en-US" sz="1200" dirty="0"/>
          </a:p>
        </p:txBody>
      </p:sp>
      <p:sp>
        <p:nvSpPr>
          <p:cNvPr id="8" name="Text 6"/>
          <p:cNvSpPr txBox="1"/>
          <p:nvPr/>
        </p:nvSpPr>
        <p:spPr>
          <a:xfrm>
            <a:off x="7178040" y="2651760"/>
            <a:ext cx="1371600" cy="457200"/>
          </a:xfrm>
          <a:prstGeom prst="rect">
            <a:avLst/>
          </a:prstGeom>
          <a:noFill/>
          <a:ln/>
        </p:spPr>
        <p:txBody>
          <a:bodyPr wrap="square" lIns="0" tIns="0" rIns="0" bIns="0" rtlCol="0" anchor="t"/>
          <a:lstStyle/>
          <a:p>
            <a:pPr algn="l" indent="0" marL="0">
              <a:buNone/>
            </a:pPr>
            <a:r>
              <a:rPr lang="en-US" sz="1200" b="1" dirty="0">
                <a:solidFill>
                  <a:srgbClr val="F0562D"/>
                </a:solidFill>
                <a:latin typeface="Courier New" pitchFamily="34" charset="0"/>
                <a:ea typeface="Courier New" pitchFamily="34" charset="-122"/>
                <a:cs typeface="Courier New" pitchFamily="34" charset="-120"/>
              </a:rPr>
              <a:t>0:00</a:t>
            </a:r>
            <a:endParaRPr lang="en-US" sz="1200" dirty="0"/>
          </a:p>
        </p:txBody>
      </p:sp>
      <p:sp>
        <p:nvSpPr>
          <p:cNvPr id="9" name="Text 7"/>
          <p:cNvSpPr txBox="1"/>
          <p:nvPr/>
        </p:nvSpPr>
        <p:spPr>
          <a:xfrm>
            <a:off x="8595360" y="2651760"/>
            <a:ext cx="2880360" cy="548640"/>
          </a:xfrm>
          <a:prstGeom prst="rect">
            <a:avLst/>
          </a:prstGeom>
          <a:noFill/>
          <a:ln/>
        </p:spPr>
        <p:txBody>
          <a:bodyPr wrap="square" lIns="0" tIns="0" rIns="0" bIns="0" rtlCol="0" anchor="t"/>
          <a:lstStyle/>
          <a:p>
            <a:pPr algn="l" indent="0" marL="0">
              <a:buNone/>
            </a:pPr>
            <a:r>
              <a:rPr lang="en-US" sz="1300" dirty="0">
                <a:solidFill>
                  <a:srgbClr val="F0562D"/>
                </a:solidFill>
                <a:latin typeface="Calibri" pitchFamily="34" charset="0"/>
                <a:ea typeface="Calibri" pitchFamily="34" charset="-122"/>
                <a:cs typeface="Calibri" pitchFamily="34" charset="-120"/>
              </a:rPr>
              <a:t>Git — secrets &amp; .gitignore</a:t>
            </a:r>
            <a:endParaRPr lang="en-US" sz="1300" dirty="0"/>
          </a:p>
        </p:txBody>
      </p:sp>
      <p:sp>
        <p:nvSpPr>
          <p:cNvPr id="10" name="Text 8"/>
          <p:cNvSpPr txBox="1"/>
          <p:nvPr/>
        </p:nvSpPr>
        <p:spPr>
          <a:xfrm>
            <a:off x="7178040" y="3163824"/>
            <a:ext cx="1371600" cy="457200"/>
          </a:xfrm>
          <a:prstGeom prst="rect">
            <a:avLst/>
          </a:prstGeom>
          <a:noFill/>
          <a:ln/>
        </p:spPr>
        <p:txBody>
          <a:bodyPr wrap="square" lIns="0" tIns="0" rIns="0" bIns="0" rtlCol="0" anchor="t"/>
          <a:lstStyle/>
          <a:p>
            <a:pPr algn="l" indent="0" marL="0">
              <a:buNone/>
            </a:pPr>
            <a:r>
              <a:rPr lang="en-US" sz="1200" b="1" dirty="0">
                <a:solidFill>
                  <a:srgbClr val="FF9E64"/>
                </a:solidFill>
                <a:latin typeface="Courier New" pitchFamily="34" charset="0"/>
                <a:ea typeface="Courier New" pitchFamily="34" charset="-122"/>
                <a:cs typeface="Courier New" pitchFamily="34" charset="-120"/>
              </a:rPr>
              <a:t>0:15</a:t>
            </a:r>
            <a:endParaRPr lang="en-US" sz="1200" dirty="0"/>
          </a:p>
        </p:txBody>
      </p:sp>
      <p:sp>
        <p:nvSpPr>
          <p:cNvPr id="11" name="Text 9"/>
          <p:cNvSpPr txBox="1"/>
          <p:nvPr/>
        </p:nvSpPr>
        <p:spPr>
          <a:xfrm>
            <a:off x="8595360" y="3163824"/>
            <a:ext cx="2880360" cy="548640"/>
          </a:xfrm>
          <a:prstGeom prst="rect">
            <a:avLst/>
          </a:prstGeom>
          <a:noFill/>
          <a:ln/>
        </p:spPr>
        <p:txBody>
          <a:bodyPr wrap="square" lIns="0" tIns="0" rIns="0" bIns="0" rtlCol="0" anchor="t"/>
          <a:lstStyle/>
          <a:p>
            <a:pPr algn="l" indent="0" marL="0">
              <a:buNone/>
            </a:pPr>
            <a:r>
              <a:rPr lang="en-US" sz="1300" dirty="0">
                <a:solidFill>
                  <a:srgbClr val="A9B1D6"/>
                </a:solidFill>
                <a:latin typeface="Calibri" pitchFamily="34" charset="0"/>
                <a:ea typeface="Calibri" pitchFamily="34" charset="-122"/>
                <a:cs typeface="Calibri" pitchFamily="34" charset="-120"/>
              </a:rPr>
              <a:t>Context engineering: retrieval</a:t>
            </a:r>
            <a:endParaRPr lang="en-US" sz="1300" dirty="0"/>
          </a:p>
        </p:txBody>
      </p:sp>
      <p:sp>
        <p:nvSpPr>
          <p:cNvPr id="12" name="Text 10"/>
          <p:cNvSpPr txBox="1"/>
          <p:nvPr/>
        </p:nvSpPr>
        <p:spPr>
          <a:xfrm>
            <a:off x="7178040" y="3675888"/>
            <a:ext cx="1371600" cy="457200"/>
          </a:xfrm>
          <a:prstGeom prst="rect">
            <a:avLst/>
          </a:prstGeom>
          <a:noFill/>
          <a:ln/>
        </p:spPr>
        <p:txBody>
          <a:bodyPr wrap="square" lIns="0" tIns="0" rIns="0" bIns="0" rtlCol="0" anchor="t"/>
          <a:lstStyle/>
          <a:p>
            <a:pPr algn="l" indent="0" marL="0">
              <a:buNone/>
            </a:pPr>
            <a:r>
              <a:rPr lang="en-US" sz="1200" b="1" dirty="0">
                <a:solidFill>
                  <a:srgbClr val="FF9E64"/>
                </a:solidFill>
                <a:latin typeface="Courier New" pitchFamily="34" charset="0"/>
                <a:ea typeface="Courier New" pitchFamily="34" charset="-122"/>
                <a:cs typeface="Courier New" pitchFamily="34" charset="-120"/>
              </a:rPr>
              <a:t>0:40</a:t>
            </a:r>
            <a:endParaRPr lang="en-US" sz="1200" dirty="0"/>
          </a:p>
        </p:txBody>
      </p:sp>
      <p:sp>
        <p:nvSpPr>
          <p:cNvPr id="13" name="Text 11"/>
          <p:cNvSpPr txBox="1"/>
          <p:nvPr/>
        </p:nvSpPr>
        <p:spPr>
          <a:xfrm>
            <a:off x="8595360" y="3675888"/>
            <a:ext cx="2880360" cy="548640"/>
          </a:xfrm>
          <a:prstGeom prst="rect">
            <a:avLst/>
          </a:prstGeom>
          <a:noFill/>
          <a:ln/>
        </p:spPr>
        <p:txBody>
          <a:bodyPr wrap="square" lIns="0" tIns="0" rIns="0" bIns="0" rtlCol="0" anchor="t"/>
          <a:lstStyle/>
          <a:p>
            <a:pPr algn="l" indent="0" marL="0">
              <a:buNone/>
            </a:pPr>
            <a:r>
              <a:rPr lang="en-US" sz="1300" dirty="0">
                <a:solidFill>
                  <a:srgbClr val="A9B1D6"/>
                </a:solidFill>
                <a:latin typeface="Calibri" pitchFamily="34" charset="0"/>
                <a:ea typeface="Calibri" pitchFamily="34" charset="-122"/>
                <a:cs typeface="Calibri" pitchFamily="34" charset="-120"/>
              </a:rPr>
              <a:t>Lab — grounded, measured RAG</a:t>
            </a:r>
            <a:endParaRPr lang="en-US" sz="1300" dirty="0"/>
          </a:p>
        </p:txBody>
      </p:sp>
      <p:sp>
        <p:nvSpPr>
          <p:cNvPr id="14" name="Shape 12"/>
          <p:cNvSpPr/>
          <p:nvPr/>
        </p:nvSpPr>
        <p:spPr>
          <a:xfrm>
            <a:off x="548640" y="6217920"/>
            <a:ext cx="640080" cy="384048"/>
          </a:xfrm>
          <a:prstGeom prst="roundRect">
            <a:avLst>
              <a:gd name="adj" fmla="val 19048"/>
            </a:avLst>
          </a:prstGeom>
          <a:solidFill>
            <a:srgbClr val="FF9E64"/>
          </a:solidFill>
          <a:ln/>
        </p:spPr>
      </p:sp>
      <p:sp>
        <p:nvSpPr>
          <p:cNvPr id="15" name="Text 13"/>
          <p:cNvSpPr txBox="1"/>
          <p:nvPr/>
        </p:nvSpPr>
        <p:spPr>
          <a:xfrm>
            <a:off x="548640" y="6217920"/>
            <a:ext cx="640080" cy="384048"/>
          </a:xfrm>
          <a:prstGeom prst="rect">
            <a:avLst/>
          </a:prstGeom>
          <a:noFill/>
          <a:ln/>
        </p:spPr>
        <p:txBody>
          <a:bodyPr wrap="square" lIns="0" tIns="0" rIns="0" bIns="0" rtlCol="0" anchor="ctr"/>
          <a:lstStyle/>
          <a:p>
            <a:pPr algn="ctr" indent="0" marL="0">
              <a:buNone/>
            </a:pPr>
            <a:r>
              <a:rPr lang="en-US" sz="1300" b="1" dirty="0">
                <a:solidFill>
                  <a:srgbClr val="1A1B26"/>
                </a:solidFill>
                <a:latin typeface="Courier New" pitchFamily="34" charset="0"/>
                <a:ea typeface="Courier New" pitchFamily="34" charset="-122"/>
                <a:cs typeface="Courier New" pitchFamily="34" charset="-120"/>
              </a:rPr>
              <a:t>S5</a:t>
            </a:r>
            <a:endParaRPr lang="en-US" sz="1300" dirty="0"/>
          </a:p>
        </p:txBody>
      </p:sp>
      <p:sp>
        <p:nvSpPr>
          <p:cNvPr id="16" name="Text 14"/>
          <p:cNvSpPr txBox="1"/>
          <p:nvPr/>
        </p:nvSpPr>
        <p:spPr>
          <a:xfrm>
            <a:off x="1325880" y="6254496"/>
            <a:ext cx="8229600" cy="320040"/>
          </a:xfrm>
          <a:prstGeom prst="rect">
            <a:avLst/>
          </a:prstGeom>
          <a:noFill/>
          <a:ln/>
        </p:spPr>
        <p:txBody>
          <a:bodyPr wrap="square" lIns="0" tIns="0" rIns="0" bIns="0" rtlCol="0" anchor="ctr"/>
          <a:lstStyle/>
          <a:p>
            <a:pPr algn="l" indent="0" marL="0">
              <a:buNone/>
            </a:pPr>
            <a:r>
              <a:rPr lang="en-US" sz="1000" dirty="0">
                <a:solidFill>
                  <a:srgbClr val="565F89"/>
                </a:solidFill>
                <a:latin typeface="Calibri" pitchFamily="34" charset="0"/>
                <a:ea typeface="Calibri" pitchFamily="34" charset="-122"/>
                <a:cs typeface="Calibri" pitchFamily="34" charset="-120"/>
              </a:rPr>
              <a:t>Prompt &amp; Context Engineering  ·  Context Engineering I — Retrieval</a:t>
            </a:r>
            <a:endParaRPr lang="en-US" sz="1000" dirty="0"/>
          </a:p>
        </p:txBody>
      </p:sp>
      <p:sp>
        <p:nvSpPr>
          <p:cNvPr id="17" name="Text 15"/>
          <p:cNvSpPr txBox="1"/>
          <p:nvPr/>
        </p:nvSpPr>
        <p:spPr>
          <a:xfrm>
            <a:off x="8897112" y="6254496"/>
            <a:ext cx="2743200" cy="320040"/>
          </a:xfrm>
          <a:prstGeom prst="rect">
            <a:avLst/>
          </a:prstGeom>
          <a:noFill/>
          <a:ln/>
        </p:spPr>
        <p:txBody>
          <a:bodyPr wrap="square" lIns="0" tIns="0" rIns="0" bIns="0" rtlCol="0" anchor="ctr"/>
          <a:lstStyle/>
          <a:p>
            <a:pPr algn="r" indent="0" marL="0">
              <a:buNone/>
            </a:pPr>
            <a:r>
              <a:rPr lang="en-US" sz="1000" dirty="0">
                <a:solidFill>
                  <a:srgbClr val="565F89"/>
                </a:solidFill>
                <a:latin typeface="Calibri" pitchFamily="34" charset="0"/>
                <a:ea typeface="Calibri" pitchFamily="34" charset="-122"/>
                <a:cs typeface="Calibri" pitchFamily="34" charset="-120"/>
              </a:rPr>
              <a:t>23 Sept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81C16"/>
        </a:solidFill>
      </p:bgPr>
    </p:bg>
    <p:spTree>
      <p:nvGrpSpPr>
        <p:cNvPr id="1" name=""/>
        <p:cNvGrpSpPr/>
        <p:nvPr/>
      </p:nvGrpSpPr>
      <p:grpSpPr>
        <a:xfrm>
          <a:off x="0" y="0"/>
          <a:ext cx="0" cy="0"/>
          <a:chOff x="0" y="0"/>
          <a:chExt cx="0" cy="0"/>
        </a:xfrm>
      </p:grpSpPr>
      <p:sp>
        <p:nvSpPr>
          <p:cNvPr id="2" name="Shape 0"/>
          <p:cNvSpPr/>
          <p:nvPr/>
        </p:nvSpPr>
        <p:spPr>
          <a:xfrm>
            <a:off x="10588752" y="502920"/>
            <a:ext cx="1051560" cy="384048"/>
          </a:xfrm>
          <a:prstGeom prst="roundRect">
            <a:avLst>
              <a:gd name="adj" fmla="val 47619"/>
            </a:avLst>
          </a:prstGeom>
          <a:solidFill>
            <a:srgbClr val="F0562D"/>
          </a:solidFill>
          <a:ln/>
        </p:spPr>
      </p:sp>
      <p:sp>
        <p:nvSpPr>
          <p:cNvPr id="3" name="Text 1"/>
          <p:cNvSpPr txBox="1"/>
          <p:nvPr/>
        </p:nvSpPr>
        <p:spPr>
          <a:xfrm>
            <a:off x="10588752" y="502920"/>
            <a:ext cx="1051560" cy="384048"/>
          </a:xfrm>
          <a:prstGeom prst="rect">
            <a:avLst/>
          </a:prstGeom>
          <a:noFill/>
          <a:ln/>
        </p:spPr>
        <p:txBody>
          <a:bodyPr wrap="square" lIns="0" tIns="0" rIns="0" bIns="0" rtlCol="0" anchor="ctr"/>
          <a:lstStyle/>
          <a:p>
            <a:pPr algn="ctr" indent="0" marL="0">
              <a:buNone/>
            </a:pPr>
            <a:r>
              <a:rPr lang="en-US" sz="1300" b="1" spc="200" kern="0" dirty="0">
                <a:solidFill>
                  <a:srgbClr val="281C16"/>
                </a:solidFill>
                <a:latin typeface="Courier New" pitchFamily="34" charset="0"/>
                <a:ea typeface="Courier New" pitchFamily="34" charset="-122"/>
                <a:cs typeface="Courier New" pitchFamily="34" charset="-120"/>
              </a:rPr>
              <a:t>GIT</a:t>
            </a:r>
            <a:endParaRPr lang="en-US" sz="1300" dirty="0"/>
          </a:p>
        </p:txBody>
      </p:sp>
      <p:sp>
        <p:nvSpPr>
          <p:cNvPr id="4" name="Text 2"/>
          <p:cNvSpPr txBox="1"/>
          <p:nvPr/>
        </p:nvSpPr>
        <p:spPr>
          <a:xfrm>
            <a:off x="548640" y="502920"/>
            <a:ext cx="7315200" cy="320040"/>
          </a:xfrm>
          <a:prstGeom prst="rect">
            <a:avLst/>
          </a:prstGeom>
          <a:noFill/>
          <a:ln/>
        </p:spPr>
        <p:txBody>
          <a:bodyPr wrap="square" lIns="0" tIns="0" rIns="0" bIns="0" rtlCol="0" anchor="t"/>
          <a:lstStyle/>
          <a:p>
            <a:pPr algn="l" indent="0" marL="0">
              <a:buNone/>
            </a:pPr>
            <a:r>
              <a:rPr lang="en-US" sz="1300" b="1" spc="200" kern="0" dirty="0">
                <a:solidFill>
                  <a:srgbClr val="F0562D"/>
                </a:solidFill>
                <a:latin typeface="Courier New" pitchFamily="34" charset="0"/>
                <a:ea typeface="Courier New" pitchFamily="34" charset="-122"/>
                <a:cs typeface="Courier New" pitchFamily="34" charset="-120"/>
              </a:rPr>
              <a:t>GIT · SECRETS</a:t>
            </a:r>
            <a:endParaRPr lang="en-US" sz="1300" dirty="0"/>
          </a:p>
        </p:txBody>
      </p:sp>
      <p:sp>
        <p:nvSpPr>
          <p:cNvPr id="5" name="Text 3"/>
          <p:cNvSpPr txBox="1"/>
          <p:nvPr/>
        </p:nvSpPr>
        <p:spPr>
          <a:xfrm>
            <a:off x="548640" y="868680"/>
            <a:ext cx="11091672" cy="1005840"/>
          </a:xfrm>
          <a:prstGeom prst="rect">
            <a:avLst/>
          </a:prstGeom>
          <a:noFill/>
          <a:ln/>
        </p:spPr>
        <p:txBody>
          <a:bodyPr wrap="square" lIns="0" tIns="0" rIns="0" bIns="0" rtlCol="0" anchor="t"/>
          <a:lstStyle/>
          <a:p>
            <a:pPr algn="l" indent="0" marL="0">
              <a:buNone/>
            </a:pPr>
            <a:r>
              <a:rPr lang="en-US" sz="3400" b="1" dirty="0">
                <a:solidFill>
                  <a:srgbClr val="C0CAF5"/>
                </a:solidFill>
                <a:latin typeface="Calibri" pitchFamily="34" charset="0"/>
                <a:ea typeface="Calibri" pitchFamily="34" charset="-122"/>
                <a:cs typeface="Calibri" pitchFamily="34" charset="-120"/>
              </a:rPr>
              <a:t>Keep secrets out of Git</a:t>
            </a:r>
            <a:endParaRPr lang="en-US" sz="3400" dirty="0"/>
          </a:p>
        </p:txBody>
      </p:sp>
      <p:sp>
        <p:nvSpPr>
          <p:cNvPr id="6" name="Text 4"/>
          <p:cNvSpPr txBox="1"/>
          <p:nvPr/>
        </p:nvSpPr>
        <p:spPr>
          <a:xfrm>
            <a:off x="548640" y="2057400"/>
            <a:ext cx="4709160" cy="374904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rgbClr val="A9B1D6"/>
                </a:solidFill>
                <a:latin typeface="Calibri" pitchFamily="34" charset="0"/>
                <a:ea typeface="Calibri" pitchFamily="34" charset="-122"/>
                <a:cs typeface="Calibri" pitchFamily="34" charset="-120"/>
              </a:rPr>
              <a:t>API keys live in .env — never in your code or notebooks</a:t>
            </a:r>
            <a:endParaRPr lang="en-US" sz="1500" dirty="0"/>
          </a:p>
          <a:p>
            <a:pPr marL="342900" indent="-342900">
              <a:spcAft>
                <a:spcPts val="1200"/>
              </a:spcAft>
              <a:buSzPct val="100000"/>
              <a:buChar char="•"/>
            </a:pPr>
            <a:r>
              <a:rPr lang="en-US" sz="1500" dirty="0">
                <a:solidFill>
                  <a:srgbClr val="A9B1D6"/>
                </a:solidFill>
                <a:latin typeface="Calibri" pitchFamily="34" charset="0"/>
                <a:ea typeface="Calibri" pitchFamily="34" charset="-122"/>
                <a:cs typeface="Calibri" pitchFamily="34" charset="-120"/>
              </a:rPr>
              <a:t>Add .env to .gitignore BEFORE your first commit</a:t>
            </a:r>
            <a:endParaRPr lang="en-US" sz="1500" dirty="0"/>
          </a:p>
          <a:p>
            <a:pPr marL="342900" indent="-342900">
              <a:spcAft>
                <a:spcPts val="1200"/>
              </a:spcAft>
              <a:buSzPct val="100000"/>
              <a:buChar char="•"/>
            </a:pPr>
            <a:r>
              <a:rPr lang="en-US" sz="1500" dirty="0">
                <a:solidFill>
                  <a:srgbClr val="A9B1D6"/>
                </a:solidFill>
                <a:latin typeface="Calibri" pitchFamily="34" charset="0"/>
                <a:ea typeface="Calibri" pitchFamily="34" charset="-122"/>
                <a:cs typeface="Calibri" pitchFamily="34" charset="-120"/>
              </a:rPr>
              <a:t>A key pushed to GitHub is compromised — rotate it</a:t>
            </a:r>
            <a:endParaRPr lang="en-US" sz="1500" dirty="0"/>
          </a:p>
          <a:p>
            <a:pPr marL="342900" indent="-342900">
              <a:spcAft>
                <a:spcPts val="1200"/>
              </a:spcAft>
              <a:buSzPct val="100000"/>
              <a:buChar char="•"/>
            </a:pPr>
            <a:r>
              <a:rPr lang="en-US" sz="1500" dirty="0">
                <a:solidFill>
                  <a:srgbClr val="A9B1D6"/>
                </a:solidFill>
                <a:latin typeface="Calibri" pitchFamily="34" charset="0"/>
                <a:ea typeface="Calibri" pitchFamily="34" charset="-122"/>
                <a:cs typeface="Calibri" pitchFamily="34" charset="-120"/>
              </a:rPr>
              <a:t>Load secrets at runtime from the environment</a:t>
            </a:r>
            <a:endParaRPr lang="en-US" sz="1500" dirty="0"/>
          </a:p>
        </p:txBody>
      </p:sp>
      <p:sp>
        <p:nvSpPr>
          <p:cNvPr id="7" name="Shape 5"/>
          <p:cNvSpPr/>
          <p:nvPr/>
        </p:nvSpPr>
        <p:spPr>
          <a:xfrm>
            <a:off x="5532120" y="2057400"/>
            <a:ext cx="6108192" cy="3794760"/>
          </a:xfrm>
          <a:prstGeom prst="roundRect">
            <a:avLst>
              <a:gd name="adj" fmla="val 1446"/>
            </a:avLst>
          </a:prstGeom>
          <a:solidFill>
            <a:srgbClr val="16161E"/>
          </a:solidFill>
          <a:ln w="12700">
            <a:solidFill>
              <a:srgbClr val="2A2E42"/>
            </a:solidFill>
            <a:prstDash val="solid"/>
          </a:ln>
        </p:spPr>
      </p:sp>
      <p:sp>
        <p:nvSpPr>
          <p:cNvPr id="8" name="Text 6"/>
          <p:cNvSpPr txBox="1"/>
          <p:nvPr/>
        </p:nvSpPr>
        <p:spPr>
          <a:xfrm>
            <a:off x="5760720" y="2194560"/>
            <a:ext cx="5650992" cy="320040"/>
          </a:xfrm>
          <a:prstGeom prst="rect">
            <a:avLst/>
          </a:prstGeom>
          <a:noFill/>
          <a:ln/>
        </p:spPr>
        <p:txBody>
          <a:bodyPr wrap="square" lIns="0" tIns="0" rIns="0" bIns="0" rtlCol="0" anchor="t"/>
          <a:lstStyle/>
          <a:p>
            <a:pPr algn="l" indent="0" marL="0">
              <a:buNone/>
            </a:pPr>
            <a:r>
              <a:rPr lang="en-US" sz="1100" dirty="0">
                <a:solidFill>
                  <a:srgbClr val="565F89"/>
                </a:solidFill>
                <a:latin typeface="Courier New" pitchFamily="34" charset="0"/>
                <a:ea typeface="Courier New" pitchFamily="34" charset="-122"/>
                <a:cs typeface="Courier New" pitchFamily="34" charset="-120"/>
              </a:rPr>
              <a:t>the safe pattern</a:t>
            </a:r>
            <a:endParaRPr lang="en-US" sz="1100" dirty="0"/>
          </a:p>
        </p:txBody>
      </p:sp>
      <p:sp>
        <p:nvSpPr>
          <p:cNvPr id="9" name="Text 7"/>
          <p:cNvSpPr txBox="1"/>
          <p:nvPr/>
        </p:nvSpPr>
        <p:spPr>
          <a:xfrm>
            <a:off x="5788152" y="2560320"/>
            <a:ext cx="5596128" cy="3108960"/>
          </a:xfrm>
          <a:prstGeom prst="rect">
            <a:avLst/>
          </a:prstGeom>
          <a:noFill/>
          <a:ln/>
        </p:spPr>
        <p:txBody>
          <a:bodyPr wrap="square" lIns="0" tIns="0" rIns="0" bIns="0" rtlCol="0" anchor="t"/>
          <a:lstStyle/>
          <a:p>
            <a:pPr indent="0" marL="0">
              <a:spcAft>
                <a:spcPts val="200"/>
              </a:spcAft>
              <a:buNone/>
            </a:pPr>
            <a:r>
              <a:rPr lang="en-US" sz="1250" dirty="0">
                <a:solidFill>
                  <a:srgbClr val="565F89"/>
                </a:solidFill>
                <a:latin typeface="Courier New" pitchFamily="34" charset="0"/>
                <a:ea typeface="Courier New" pitchFamily="34" charset="-122"/>
                <a:cs typeface="Courier New" pitchFamily="34" charset="-120"/>
              </a:rPr>
              <a:t># .gitignore</a:t>
            </a:r>
            <a:endParaRPr lang="en-US" sz="1250" dirty="0"/>
          </a:p>
          <a:p>
            <a:pPr indent="0" marL="0">
              <a:spcAft>
                <a:spcPts val="200"/>
              </a:spcAft>
              <a:buNone/>
            </a:pPr>
            <a:r>
              <a:rPr lang="en-US" sz="1250" dirty="0">
                <a:solidFill>
                  <a:srgbClr val="C0CAF5"/>
                </a:solidFill>
                <a:latin typeface="Courier New" pitchFamily="34" charset="0"/>
                <a:ea typeface="Courier New" pitchFamily="34" charset="-122"/>
                <a:cs typeface="Courier New" pitchFamily="34" charset="-120"/>
              </a:rPr>
              <a:t>.env</a:t>
            </a:r>
            <a:endParaRPr lang="en-US" sz="1250" dirty="0"/>
          </a:p>
          <a:p>
            <a:pPr indent="0" marL="0">
              <a:spcAft>
                <a:spcPts val="200"/>
              </a:spcAft>
              <a:buNone/>
            </a:pPr>
            <a:r>
              <a:rPr lang="en-US" sz="1250" dirty="0">
                <a:solidFill>
                  <a:srgbClr val="C0CAF5"/>
                </a:solidFill>
                <a:latin typeface="Courier New" pitchFamily="34" charset="0"/>
                <a:ea typeface="Courier New" pitchFamily="34" charset="-122"/>
                <a:cs typeface="Courier New" pitchFamily="34" charset="-120"/>
              </a:rPr>
              <a:t>*.key</a:t>
            </a:r>
            <a:endParaRPr lang="en-US" sz="1250" dirty="0"/>
          </a:p>
          <a:p>
            <a:pPr indent="0" marL="0">
              <a:spcAft>
                <a:spcPts val="200"/>
              </a:spcAft>
              <a:buNone/>
            </a:pPr>
            <a:r>
              <a:rPr lang="en-US" sz="1250" dirty="0">
                <a:solidFill>
                  <a:srgbClr val="C0CAF5"/>
                </a:solidFill>
                <a:latin typeface="Courier New" pitchFamily="34" charset="0"/>
                <a:ea typeface="Courier New" pitchFamily="34" charset="-122"/>
                <a:cs typeface="Courier New" pitchFamily="34" charset="-120"/>
              </a:rPr>
              <a:t> </a:t>
            </a:r>
            <a:endParaRPr lang="en-US" sz="1250" dirty="0"/>
          </a:p>
          <a:p>
            <a:pPr indent="0" marL="0">
              <a:spcAft>
                <a:spcPts val="200"/>
              </a:spcAft>
              <a:buNone/>
            </a:pPr>
            <a:r>
              <a:rPr lang="en-US" sz="1250" dirty="0">
                <a:solidFill>
                  <a:srgbClr val="565F89"/>
                </a:solidFill>
                <a:latin typeface="Courier New" pitchFamily="34" charset="0"/>
                <a:ea typeface="Courier New" pitchFamily="34" charset="-122"/>
                <a:cs typeface="Courier New" pitchFamily="34" charset="-120"/>
              </a:rPr>
              <a:t># load at runtime, not in code</a:t>
            </a:r>
            <a:endParaRPr lang="en-US" sz="1250" dirty="0"/>
          </a:p>
          <a:p>
            <a:pPr indent="0" marL="0">
              <a:spcAft>
                <a:spcPts val="200"/>
              </a:spcAft>
              <a:buNone/>
            </a:pPr>
            <a:r>
              <a:rPr lang="en-US" sz="1250" dirty="0">
                <a:solidFill>
                  <a:srgbClr val="F0562D"/>
                </a:solidFill>
                <a:latin typeface="Courier New" pitchFamily="34" charset="0"/>
                <a:ea typeface="Courier New" pitchFamily="34" charset="-122"/>
                <a:cs typeface="Courier New" pitchFamily="34" charset="-120"/>
              </a:rPr>
              <a:t>load_dotenv()</a:t>
            </a:r>
            <a:endParaRPr lang="en-US" sz="1250" dirty="0"/>
          </a:p>
          <a:p>
            <a:pPr indent="0" marL="0">
              <a:spcAft>
                <a:spcPts val="200"/>
              </a:spcAft>
              <a:buNone/>
            </a:pPr>
            <a:r>
              <a:rPr lang="en-US" sz="1250" dirty="0">
                <a:solidFill>
                  <a:srgbClr val="C0CAF5"/>
                </a:solidFill>
                <a:latin typeface="Courier New" pitchFamily="34" charset="0"/>
                <a:ea typeface="Courier New" pitchFamily="34" charset="-122"/>
                <a:cs typeface="Courier New" pitchFamily="34" charset="-120"/>
              </a:rPr>
              <a:t>key = os.environ[</a:t>
            </a:r>
            <a:pPr indent="0" marL="0">
              <a:spcAft>
                <a:spcPts val="200"/>
              </a:spcAft>
              <a:buNone/>
            </a:pPr>
            <a:r>
              <a:rPr lang="en-US" sz="1250" dirty="0">
                <a:solidFill>
                  <a:srgbClr val="9ECE6A"/>
                </a:solidFill>
                <a:latin typeface="Courier New" pitchFamily="34" charset="0"/>
                <a:ea typeface="Courier New" pitchFamily="34" charset="-122"/>
                <a:cs typeface="Courier New" pitchFamily="34" charset="-120"/>
              </a:rPr>
              <a:t>"OPENAI_API_KEY"</a:t>
            </a:r>
            <a:pPr indent="0" marL="0">
              <a:spcAft>
                <a:spcPts val="200"/>
              </a:spcAft>
              <a:buNone/>
            </a:pPr>
            <a:r>
              <a:rPr lang="en-US" sz="1250" dirty="0">
                <a:solidFill>
                  <a:srgbClr val="C0CAF5"/>
                </a:solidFill>
                <a:latin typeface="Courier New" pitchFamily="34" charset="0"/>
                <a:ea typeface="Courier New" pitchFamily="34" charset="-122"/>
                <a:cs typeface="Courier New" pitchFamily="34" charset="-120"/>
              </a:rPr>
              <a:t>]</a:t>
            </a:r>
            <a:endParaRPr lang="en-US" sz="1250" dirty="0"/>
          </a:p>
        </p:txBody>
      </p:sp>
      <p:sp>
        <p:nvSpPr>
          <p:cNvPr id="10" name="Shape 8"/>
          <p:cNvSpPr/>
          <p:nvPr/>
        </p:nvSpPr>
        <p:spPr>
          <a:xfrm>
            <a:off x="548640" y="6217920"/>
            <a:ext cx="640080" cy="384048"/>
          </a:xfrm>
          <a:prstGeom prst="roundRect">
            <a:avLst>
              <a:gd name="adj" fmla="val 19048"/>
            </a:avLst>
          </a:prstGeom>
          <a:solidFill>
            <a:srgbClr val="F0562D"/>
          </a:solidFill>
          <a:ln/>
        </p:spPr>
      </p:sp>
      <p:sp>
        <p:nvSpPr>
          <p:cNvPr id="11" name="Text 9"/>
          <p:cNvSpPr txBox="1"/>
          <p:nvPr/>
        </p:nvSpPr>
        <p:spPr>
          <a:xfrm>
            <a:off x="548640" y="6217920"/>
            <a:ext cx="640080" cy="384048"/>
          </a:xfrm>
          <a:prstGeom prst="rect">
            <a:avLst/>
          </a:prstGeom>
          <a:noFill/>
          <a:ln/>
        </p:spPr>
        <p:txBody>
          <a:bodyPr wrap="square" lIns="0" tIns="0" rIns="0" bIns="0" rtlCol="0" anchor="ctr"/>
          <a:lstStyle/>
          <a:p>
            <a:pPr algn="ctr" indent="0" marL="0">
              <a:buNone/>
            </a:pPr>
            <a:r>
              <a:rPr lang="en-US" sz="1300" b="1" dirty="0">
                <a:solidFill>
                  <a:srgbClr val="1A1B26"/>
                </a:solidFill>
                <a:latin typeface="Courier New" pitchFamily="34" charset="0"/>
                <a:ea typeface="Courier New" pitchFamily="34" charset="-122"/>
                <a:cs typeface="Courier New" pitchFamily="34" charset="-120"/>
              </a:rPr>
              <a:t>S5</a:t>
            </a:r>
            <a:endParaRPr lang="en-US" sz="1300" dirty="0"/>
          </a:p>
        </p:txBody>
      </p:sp>
      <p:sp>
        <p:nvSpPr>
          <p:cNvPr id="12" name="Text 10"/>
          <p:cNvSpPr txBox="1"/>
          <p:nvPr/>
        </p:nvSpPr>
        <p:spPr>
          <a:xfrm>
            <a:off x="1325880" y="6254496"/>
            <a:ext cx="8229600" cy="320040"/>
          </a:xfrm>
          <a:prstGeom prst="rect">
            <a:avLst/>
          </a:prstGeom>
          <a:noFill/>
          <a:ln/>
        </p:spPr>
        <p:txBody>
          <a:bodyPr wrap="square" lIns="0" tIns="0" rIns="0" bIns="0" rtlCol="0" anchor="ctr"/>
          <a:lstStyle/>
          <a:p>
            <a:pPr algn="l" indent="0" marL="0">
              <a:buNone/>
            </a:pPr>
            <a:r>
              <a:rPr lang="en-US" sz="1000" dirty="0">
                <a:solidFill>
                  <a:srgbClr val="F0562D"/>
                </a:solidFill>
                <a:latin typeface="Calibri" pitchFamily="34" charset="0"/>
                <a:ea typeface="Calibri" pitchFamily="34" charset="-122"/>
                <a:cs typeface="Calibri" pitchFamily="34" charset="-120"/>
              </a:rPr>
              <a:t>GIT · supporting workflow  ·  Context Engineering I — Retrieval</a:t>
            </a:r>
            <a:endParaRPr lang="en-US" sz="1000" dirty="0"/>
          </a:p>
        </p:txBody>
      </p:sp>
      <p:sp>
        <p:nvSpPr>
          <p:cNvPr id="13" name="Text 11"/>
          <p:cNvSpPr txBox="1"/>
          <p:nvPr/>
        </p:nvSpPr>
        <p:spPr>
          <a:xfrm>
            <a:off x="8897112" y="6254496"/>
            <a:ext cx="2743200" cy="320040"/>
          </a:xfrm>
          <a:prstGeom prst="rect">
            <a:avLst/>
          </a:prstGeom>
          <a:noFill/>
          <a:ln/>
        </p:spPr>
        <p:txBody>
          <a:bodyPr wrap="square" lIns="0" tIns="0" rIns="0" bIns="0" rtlCol="0" anchor="ctr"/>
          <a:lstStyle/>
          <a:p>
            <a:pPr algn="r" indent="0" marL="0">
              <a:buNone/>
            </a:pPr>
            <a:r>
              <a:rPr lang="en-US" sz="1000" dirty="0">
                <a:solidFill>
                  <a:srgbClr val="565F89"/>
                </a:solidFill>
                <a:latin typeface="Calibri" pitchFamily="34" charset="0"/>
                <a:ea typeface="Calibri" pitchFamily="34" charset="-122"/>
                <a:cs typeface="Calibri" pitchFamily="34" charset="-120"/>
              </a:rPr>
              <a:t>23 Sept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B26"/>
        </a:solidFill>
      </p:bgPr>
    </p:bg>
    <p:spTree>
      <p:nvGrpSpPr>
        <p:cNvPr id="1" name=""/>
        <p:cNvGrpSpPr/>
        <p:nvPr/>
      </p:nvGrpSpPr>
      <p:grpSpPr>
        <a:xfrm>
          <a:off x="0" y="0"/>
          <a:ext cx="0" cy="0"/>
          <a:chOff x="0" y="0"/>
          <a:chExt cx="0" cy="0"/>
        </a:xfrm>
      </p:grpSpPr>
      <p:sp>
        <p:nvSpPr>
          <p:cNvPr id="2" name="Text 0"/>
          <p:cNvSpPr txBox="1"/>
          <p:nvPr/>
        </p:nvSpPr>
        <p:spPr>
          <a:xfrm>
            <a:off x="548640" y="502920"/>
            <a:ext cx="7315200" cy="320040"/>
          </a:xfrm>
          <a:prstGeom prst="rect">
            <a:avLst/>
          </a:prstGeom>
          <a:noFill/>
          <a:ln/>
        </p:spPr>
        <p:txBody>
          <a:bodyPr wrap="square" lIns="0" tIns="0" rIns="0" bIns="0" rtlCol="0" anchor="t"/>
          <a:lstStyle/>
          <a:p>
            <a:pPr algn="l" indent="0" marL="0">
              <a:buNone/>
            </a:pPr>
            <a:r>
              <a:rPr lang="en-US" sz="1300" b="1" spc="200" kern="0" dirty="0">
                <a:solidFill>
                  <a:srgbClr val="FF9E64"/>
                </a:solidFill>
                <a:latin typeface="Courier New" pitchFamily="34" charset="0"/>
                <a:ea typeface="Courier New" pitchFamily="34" charset="-122"/>
                <a:cs typeface="Courier New" pitchFamily="34" charset="-120"/>
              </a:rPr>
              <a:t>REFRAME</a:t>
            </a:r>
            <a:endParaRPr lang="en-US" sz="1300" dirty="0"/>
          </a:p>
        </p:txBody>
      </p:sp>
      <p:sp>
        <p:nvSpPr>
          <p:cNvPr id="3" name="Text 1"/>
          <p:cNvSpPr txBox="1"/>
          <p:nvPr/>
        </p:nvSpPr>
        <p:spPr>
          <a:xfrm>
            <a:off x="548640" y="868680"/>
            <a:ext cx="11091672" cy="1005840"/>
          </a:xfrm>
          <a:prstGeom prst="rect">
            <a:avLst/>
          </a:prstGeom>
          <a:noFill/>
          <a:ln/>
        </p:spPr>
        <p:txBody>
          <a:bodyPr wrap="square" lIns="0" tIns="0" rIns="0" bIns="0" rtlCol="0" anchor="t"/>
          <a:lstStyle/>
          <a:p>
            <a:pPr algn="l" indent="0" marL="0">
              <a:buNone/>
            </a:pPr>
            <a:r>
              <a:rPr lang="en-US" sz="3400" b="1" dirty="0">
                <a:solidFill>
                  <a:srgbClr val="C0CAF5"/>
                </a:solidFill>
                <a:latin typeface="Calibri" pitchFamily="34" charset="0"/>
                <a:ea typeface="Calibri" pitchFamily="34" charset="-122"/>
                <a:cs typeface="Calibri" pitchFamily="34" charset="-120"/>
              </a:rPr>
              <a:t>From prompt to context engineering</a:t>
            </a:r>
            <a:endParaRPr lang="en-US" sz="3400" dirty="0"/>
          </a:p>
        </p:txBody>
      </p:sp>
      <p:sp>
        <p:nvSpPr>
          <p:cNvPr id="4" name="Text 2"/>
          <p:cNvSpPr txBox="1"/>
          <p:nvPr/>
        </p:nvSpPr>
        <p:spPr>
          <a:xfrm>
            <a:off x="548640" y="2011680"/>
            <a:ext cx="6126480" cy="3840480"/>
          </a:xfrm>
          <a:prstGeom prst="rect">
            <a:avLst/>
          </a:prstGeom>
          <a:noFill/>
          <a:ln/>
        </p:spPr>
        <p:txBody>
          <a:bodyPr wrap="square" lIns="0" tIns="0" rIns="0" bIns="0" rtlCol="0" anchor="t"/>
          <a:lstStyle/>
          <a:p>
            <a:pPr marL="342900" indent="-342900">
              <a:spcAft>
                <a:spcPts val="300"/>
              </a:spcAft>
              <a:buSzPct val="100000"/>
              <a:buChar char="•"/>
            </a:pPr>
            <a:r>
              <a:rPr lang="en-US" sz="1600" b="1" dirty="0">
                <a:solidFill>
                  <a:srgbClr val="C0CAF5"/>
                </a:solidFill>
                <a:latin typeface="Calibri" pitchFamily="34" charset="0"/>
                <a:ea typeface="Calibri" pitchFamily="34" charset="-122"/>
                <a:cs typeface="Calibri" pitchFamily="34" charset="-120"/>
              </a:rPr>
              <a:t>The prompt is only part of the window</a:t>
            </a:r>
            <a:endParaRPr lang="en-US" sz="1600" dirty="0"/>
          </a:p>
          <a:p>
            <a:pPr lvl="1" indent="0" marL="0">
              <a:spcAft>
                <a:spcPts val="1200"/>
              </a:spcAft>
              <a:buNone/>
            </a:pPr>
            <a:r>
              <a:rPr lang="en-US" sz="1300" dirty="0">
                <a:solidFill>
                  <a:srgbClr val="A9B1D6"/>
                </a:solidFill>
                <a:latin typeface="Calibri" pitchFamily="34" charset="0"/>
                <a:ea typeface="Calibri" pitchFamily="34" charset="-122"/>
                <a:cs typeface="Calibri" pitchFamily="34" charset="-120"/>
              </a:rPr>
              <a:t>Retrieved documents, examples, conversation history and tool results all share the context — and all compete for attention.</a:t>
            </a:r>
            <a:endParaRPr lang="en-US" sz="1600" dirty="0"/>
          </a:p>
          <a:p>
            <a:pPr marL="342900" indent="-342900">
              <a:spcAft>
                <a:spcPts val="300"/>
              </a:spcAft>
              <a:buSzPct val="100000"/>
              <a:buChar char="•"/>
            </a:pPr>
            <a:r>
              <a:rPr lang="en-US" sz="1600" b="1" dirty="0">
                <a:solidFill>
                  <a:srgbClr val="C0CAF5"/>
                </a:solidFill>
                <a:latin typeface="Calibri" pitchFamily="34" charset="0"/>
                <a:ea typeface="Calibri" pitchFamily="34" charset="-122"/>
                <a:cs typeface="Calibri" pitchFamily="34" charset="-120"/>
              </a:rPr>
              <a:t>The real skill is curation</a:t>
            </a:r>
            <a:endParaRPr lang="en-US" sz="1600" dirty="0"/>
          </a:p>
          <a:p>
            <a:pPr lvl="1" indent="0" marL="0">
              <a:spcAft>
                <a:spcPts val="1200"/>
              </a:spcAft>
              <a:buNone/>
            </a:pPr>
            <a:r>
              <a:rPr lang="en-US" sz="1300" dirty="0">
                <a:solidFill>
                  <a:srgbClr val="A9B1D6"/>
                </a:solidFill>
                <a:latin typeface="Calibri" pitchFamily="34" charset="0"/>
                <a:ea typeface="Calibri" pitchFamily="34" charset="-122"/>
                <a:cs typeface="Calibri" pitchFamily="34" charset="-120"/>
              </a:rPr>
              <a:t>Deciding what goes in, and in what order, matters more than polishing the exact sentence. This is context engineering.</a:t>
            </a:r>
            <a:endParaRPr lang="en-US" sz="1600" dirty="0"/>
          </a:p>
          <a:p>
            <a:pPr marL="342900" indent="-342900">
              <a:spcAft>
                <a:spcPts val="300"/>
              </a:spcAft>
              <a:buSzPct val="100000"/>
              <a:buChar char="•"/>
            </a:pPr>
            <a:r>
              <a:rPr lang="en-US" sz="1600" b="1" dirty="0">
                <a:solidFill>
                  <a:srgbClr val="C0CAF5"/>
                </a:solidFill>
                <a:latin typeface="Calibri" pitchFamily="34" charset="0"/>
                <a:ea typeface="Calibri" pitchFamily="34" charset="-122"/>
                <a:cs typeface="Calibri" pitchFamily="34" charset="-120"/>
              </a:rPr>
              <a:t>It's the field's current framing</a:t>
            </a:r>
            <a:endParaRPr lang="en-US" sz="1600" dirty="0"/>
          </a:p>
          <a:p>
            <a:pPr lvl="1" indent="0" marL="0">
              <a:spcAft>
                <a:spcPts val="1200"/>
              </a:spcAft>
              <a:buNone/>
            </a:pPr>
            <a:r>
              <a:rPr lang="en-US" sz="1300" dirty="0">
                <a:solidFill>
                  <a:srgbClr val="A9B1D6"/>
                </a:solidFill>
                <a:latin typeface="Calibri" pitchFamily="34" charset="0"/>
                <a:ea typeface="Calibri" pitchFamily="34" charset="-122"/>
                <a:cs typeface="Calibri" pitchFamily="34" charset="-120"/>
              </a:rPr>
              <a:t>As models got better at following instructions, the bottleneck moved from wording to context assembly. That's where the work is now.</a:t>
            </a:r>
            <a:endParaRPr lang="en-US" sz="1600" dirty="0"/>
          </a:p>
        </p:txBody>
      </p:sp>
      <p:sp>
        <p:nvSpPr>
          <p:cNvPr id="5" name="Shape 3"/>
          <p:cNvSpPr/>
          <p:nvPr/>
        </p:nvSpPr>
        <p:spPr>
          <a:xfrm>
            <a:off x="6995160" y="2148840"/>
            <a:ext cx="4645152" cy="3383280"/>
          </a:xfrm>
          <a:prstGeom prst="roundRect">
            <a:avLst>
              <a:gd name="adj" fmla="val 2432"/>
            </a:avLst>
          </a:prstGeom>
          <a:solidFill>
            <a:srgbClr val="24283B"/>
          </a:solidFill>
          <a:ln w="15875">
            <a:solidFill>
              <a:srgbClr val="FF9E64"/>
            </a:solidFill>
            <a:prstDash val="solid"/>
          </a:ln>
        </p:spPr>
      </p:sp>
      <p:sp>
        <p:nvSpPr>
          <p:cNvPr id="6" name="Shape 4"/>
          <p:cNvSpPr/>
          <p:nvPr/>
        </p:nvSpPr>
        <p:spPr>
          <a:xfrm>
            <a:off x="7269480" y="2423160"/>
            <a:ext cx="457200" cy="457200"/>
          </a:xfrm>
          <a:prstGeom prst="ellipse">
            <a:avLst/>
          </a:prstGeom>
          <a:solidFill>
            <a:srgbClr val="FF9E64"/>
          </a:solidFill>
          <a:ln/>
        </p:spPr>
      </p:sp>
      <p:sp>
        <p:nvSpPr>
          <p:cNvPr id="7" name="Text 5"/>
          <p:cNvSpPr txBox="1"/>
          <p:nvPr/>
        </p:nvSpPr>
        <p:spPr>
          <a:xfrm>
            <a:off x="7818120" y="2450592"/>
            <a:ext cx="3657600" cy="411480"/>
          </a:xfrm>
          <a:prstGeom prst="rect">
            <a:avLst/>
          </a:prstGeom>
          <a:noFill/>
          <a:ln/>
        </p:spPr>
        <p:txBody>
          <a:bodyPr wrap="square" lIns="0" tIns="0" rIns="0" bIns="0" rtlCol="0" anchor="ctr"/>
          <a:lstStyle/>
          <a:p>
            <a:pPr algn="l" indent="0" marL="0">
              <a:buNone/>
            </a:pPr>
            <a:r>
              <a:rPr lang="en-US" sz="1300" b="1" spc="100" kern="0" dirty="0">
                <a:solidFill>
                  <a:srgbClr val="FF9E64"/>
                </a:solidFill>
                <a:latin typeface="Courier New" pitchFamily="34" charset="0"/>
                <a:ea typeface="Courier New" pitchFamily="34" charset="-122"/>
                <a:cs typeface="Courier New" pitchFamily="34" charset="-120"/>
              </a:rPr>
              <a:t>SHIFT</a:t>
            </a:r>
            <a:endParaRPr lang="en-US" sz="1300" dirty="0"/>
          </a:p>
        </p:txBody>
      </p:sp>
      <p:sp>
        <p:nvSpPr>
          <p:cNvPr id="8" name="Text 6"/>
          <p:cNvSpPr txBox="1"/>
          <p:nvPr/>
        </p:nvSpPr>
        <p:spPr>
          <a:xfrm>
            <a:off x="7269480" y="3108960"/>
            <a:ext cx="4160520" cy="2286000"/>
          </a:xfrm>
          <a:prstGeom prst="rect">
            <a:avLst/>
          </a:prstGeom>
          <a:noFill/>
          <a:ln/>
        </p:spPr>
        <p:txBody>
          <a:bodyPr wrap="square" lIns="0" tIns="0" rIns="0" bIns="0" rtlCol="0" anchor="t"/>
          <a:lstStyle/>
          <a:p>
            <a:pPr algn="l" indent="0" marL="0">
              <a:buNone/>
            </a:pPr>
            <a:r>
              <a:rPr lang="en-US" sz="1600" dirty="0">
                <a:solidFill>
                  <a:srgbClr val="C0CAF5"/>
                </a:solidFill>
                <a:latin typeface="Calibri" pitchFamily="34" charset="0"/>
                <a:ea typeface="Calibri" pitchFamily="34" charset="-122"/>
                <a:cs typeface="Calibri" pitchFamily="34" charset="-120"/>
              </a:rPr>
              <a:t>Stop polishing sentences; start curating context. What's in the window matters more than the exact phrasing around it.</a:t>
            </a:r>
            <a:endParaRPr lang="en-US" sz="1600" dirty="0"/>
          </a:p>
        </p:txBody>
      </p:sp>
      <p:sp>
        <p:nvSpPr>
          <p:cNvPr id="9" name="Shape 7"/>
          <p:cNvSpPr/>
          <p:nvPr/>
        </p:nvSpPr>
        <p:spPr>
          <a:xfrm>
            <a:off x="548640" y="6217920"/>
            <a:ext cx="640080" cy="384048"/>
          </a:xfrm>
          <a:prstGeom prst="roundRect">
            <a:avLst>
              <a:gd name="adj" fmla="val 19048"/>
            </a:avLst>
          </a:prstGeom>
          <a:solidFill>
            <a:srgbClr val="FF9E64"/>
          </a:solidFill>
          <a:ln/>
        </p:spPr>
      </p:sp>
      <p:sp>
        <p:nvSpPr>
          <p:cNvPr id="10" name="Text 8"/>
          <p:cNvSpPr txBox="1"/>
          <p:nvPr/>
        </p:nvSpPr>
        <p:spPr>
          <a:xfrm>
            <a:off x="548640" y="6217920"/>
            <a:ext cx="640080" cy="384048"/>
          </a:xfrm>
          <a:prstGeom prst="rect">
            <a:avLst/>
          </a:prstGeom>
          <a:noFill/>
          <a:ln/>
        </p:spPr>
        <p:txBody>
          <a:bodyPr wrap="square" lIns="0" tIns="0" rIns="0" bIns="0" rtlCol="0" anchor="ctr"/>
          <a:lstStyle/>
          <a:p>
            <a:pPr algn="ctr" indent="0" marL="0">
              <a:buNone/>
            </a:pPr>
            <a:r>
              <a:rPr lang="en-US" sz="1300" b="1" dirty="0">
                <a:solidFill>
                  <a:srgbClr val="1A1B26"/>
                </a:solidFill>
                <a:latin typeface="Courier New" pitchFamily="34" charset="0"/>
                <a:ea typeface="Courier New" pitchFamily="34" charset="-122"/>
                <a:cs typeface="Courier New" pitchFamily="34" charset="-120"/>
              </a:rPr>
              <a:t>S5</a:t>
            </a:r>
            <a:endParaRPr lang="en-US" sz="1300" dirty="0"/>
          </a:p>
        </p:txBody>
      </p:sp>
      <p:sp>
        <p:nvSpPr>
          <p:cNvPr id="11" name="Text 9"/>
          <p:cNvSpPr txBox="1"/>
          <p:nvPr/>
        </p:nvSpPr>
        <p:spPr>
          <a:xfrm>
            <a:off x="1325880" y="6254496"/>
            <a:ext cx="8229600" cy="320040"/>
          </a:xfrm>
          <a:prstGeom prst="rect">
            <a:avLst/>
          </a:prstGeom>
          <a:noFill/>
          <a:ln/>
        </p:spPr>
        <p:txBody>
          <a:bodyPr wrap="square" lIns="0" tIns="0" rIns="0" bIns="0" rtlCol="0" anchor="ctr"/>
          <a:lstStyle/>
          <a:p>
            <a:pPr algn="l" indent="0" marL="0">
              <a:buNone/>
            </a:pPr>
            <a:r>
              <a:rPr lang="en-US" sz="1000" dirty="0">
                <a:solidFill>
                  <a:srgbClr val="565F89"/>
                </a:solidFill>
                <a:latin typeface="Calibri" pitchFamily="34" charset="0"/>
                <a:ea typeface="Calibri" pitchFamily="34" charset="-122"/>
                <a:cs typeface="Calibri" pitchFamily="34" charset="-120"/>
              </a:rPr>
              <a:t>Prompt &amp; Context Engineering  ·  Context Engineering I — Retrieval</a:t>
            </a:r>
            <a:endParaRPr lang="en-US" sz="1000" dirty="0"/>
          </a:p>
        </p:txBody>
      </p:sp>
      <p:sp>
        <p:nvSpPr>
          <p:cNvPr id="12" name="Text 10"/>
          <p:cNvSpPr txBox="1"/>
          <p:nvPr/>
        </p:nvSpPr>
        <p:spPr>
          <a:xfrm>
            <a:off x="8897112" y="6254496"/>
            <a:ext cx="2743200" cy="320040"/>
          </a:xfrm>
          <a:prstGeom prst="rect">
            <a:avLst/>
          </a:prstGeom>
          <a:noFill/>
          <a:ln/>
        </p:spPr>
        <p:txBody>
          <a:bodyPr wrap="square" lIns="0" tIns="0" rIns="0" bIns="0" rtlCol="0" anchor="ctr"/>
          <a:lstStyle/>
          <a:p>
            <a:pPr algn="r" indent="0" marL="0">
              <a:buNone/>
            </a:pPr>
            <a:r>
              <a:rPr lang="en-US" sz="1000" dirty="0">
                <a:solidFill>
                  <a:srgbClr val="565F89"/>
                </a:solidFill>
                <a:latin typeface="Calibri" pitchFamily="34" charset="0"/>
                <a:ea typeface="Calibri" pitchFamily="34" charset="-122"/>
                <a:cs typeface="Calibri" pitchFamily="34" charset="-120"/>
              </a:rPr>
              <a:t>23 Sept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B26"/>
        </a:solidFill>
      </p:bgPr>
    </p:bg>
    <p:spTree>
      <p:nvGrpSpPr>
        <p:cNvPr id="1" name=""/>
        <p:cNvGrpSpPr/>
        <p:nvPr/>
      </p:nvGrpSpPr>
      <p:grpSpPr>
        <a:xfrm>
          <a:off x="0" y="0"/>
          <a:ext cx="0" cy="0"/>
          <a:chOff x="0" y="0"/>
          <a:chExt cx="0" cy="0"/>
        </a:xfrm>
      </p:grpSpPr>
      <p:sp>
        <p:nvSpPr>
          <p:cNvPr id="2" name="Text 0"/>
          <p:cNvSpPr txBox="1"/>
          <p:nvPr/>
        </p:nvSpPr>
        <p:spPr>
          <a:xfrm>
            <a:off x="548640" y="502920"/>
            <a:ext cx="7315200" cy="320040"/>
          </a:xfrm>
          <a:prstGeom prst="rect">
            <a:avLst/>
          </a:prstGeom>
          <a:noFill/>
          <a:ln/>
        </p:spPr>
        <p:txBody>
          <a:bodyPr wrap="square" lIns="0" tIns="0" rIns="0" bIns="0" rtlCol="0" anchor="t"/>
          <a:lstStyle/>
          <a:p>
            <a:pPr algn="l" indent="0" marL="0">
              <a:buNone/>
            </a:pPr>
            <a:r>
              <a:rPr lang="en-US" sz="1300" b="1" spc="200" kern="0" dirty="0">
                <a:solidFill>
                  <a:srgbClr val="FF9E64"/>
                </a:solidFill>
                <a:latin typeface="Courier New" pitchFamily="34" charset="0"/>
                <a:ea typeface="Courier New" pitchFamily="34" charset="-122"/>
                <a:cs typeface="Courier New" pitchFamily="34" charset="-120"/>
              </a:rPr>
              <a:t>CORE PATTERN</a:t>
            </a:r>
            <a:endParaRPr lang="en-US" sz="1300" dirty="0"/>
          </a:p>
        </p:txBody>
      </p:sp>
      <p:sp>
        <p:nvSpPr>
          <p:cNvPr id="3" name="Text 1"/>
          <p:cNvSpPr txBox="1"/>
          <p:nvPr/>
        </p:nvSpPr>
        <p:spPr>
          <a:xfrm>
            <a:off x="548640" y="868680"/>
            <a:ext cx="11091672" cy="1005840"/>
          </a:xfrm>
          <a:prstGeom prst="rect">
            <a:avLst/>
          </a:prstGeom>
          <a:noFill/>
          <a:ln/>
        </p:spPr>
        <p:txBody>
          <a:bodyPr wrap="square" lIns="0" tIns="0" rIns="0" bIns="0" rtlCol="0" anchor="t"/>
          <a:lstStyle/>
          <a:p>
            <a:pPr algn="l" indent="0" marL="0">
              <a:buNone/>
            </a:pPr>
            <a:r>
              <a:rPr lang="en-US" sz="3400" b="1" dirty="0">
                <a:solidFill>
                  <a:srgbClr val="C0CAF5"/>
                </a:solidFill>
                <a:latin typeface="Calibri" pitchFamily="34" charset="0"/>
                <a:ea typeface="Calibri" pitchFamily="34" charset="-122"/>
                <a:cs typeface="Calibri" pitchFamily="34" charset="-120"/>
              </a:rPr>
              <a:t>Retrieval as context assembly</a:t>
            </a:r>
            <a:endParaRPr lang="en-US" sz="3400" dirty="0"/>
          </a:p>
        </p:txBody>
      </p:sp>
      <p:sp>
        <p:nvSpPr>
          <p:cNvPr id="4" name="Shape 2"/>
          <p:cNvSpPr/>
          <p:nvPr/>
        </p:nvSpPr>
        <p:spPr>
          <a:xfrm>
            <a:off x="548640" y="2103120"/>
            <a:ext cx="530352" cy="530352"/>
          </a:xfrm>
          <a:prstGeom prst="ellipse">
            <a:avLst/>
          </a:prstGeom>
          <a:solidFill>
            <a:srgbClr val="FF9E64"/>
          </a:solidFill>
          <a:ln/>
        </p:spPr>
      </p:sp>
      <p:sp>
        <p:nvSpPr>
          <p:cNvPr id="5" name="Text 3"/>
          <p:cNvSpPr txBox="1"/>
          <p:nvPr/>
        </p:nvSpPr>
        <p:spPr>
          <a:xfrm>
            <a:off x="548640" y="2103120"/>
            <a:ext cx="530352" cy="530352"/>
          </a:xfrm>
          <a:prstGeom prst="rect">
            <a:avLst/>
          </a:prstGeom>
          <a:noFill/>
          <a:ln/>
        </p:spPr>
        <p:txBody>
          <a:bodyPr wrap="square" lIns="0" tIns="0" rIns="0" bIns="0" rtlCol="0" anchor="ctr"/>
          <a:lstStyle/>
          <a:p>
            <a:pPr algn="ctr" indent="0" marL="0">
              <a:buNone/>
            </a:pPr>
            <a:r>
              <a:rPr lang="en-US" sz="1800" b="1" dirty="0">
                <a:solidFill>
                  <a:srgbClr val="1A1B26"/>
                </a:solidFill>
                <a:latin typeface="Courier New" pitchFamily="34" charset="0"/>
                <a:ea typeface="Courier New" pitchFamily="34" charset="-122"/>
                <a:cs typeface="Courier New" pitchFamily="34" charset="-120"/>
              </a:rPr>
              <a:t>1</a:t>
            </a:r>
            <a:endParaRPr lang="en-US" sz="1800" dirty="0"/>
          </a:p>
        </p:txBody>
      </p:sp>
      <p:sp>
        <p:nvSpPr>
          <p:cNvPr id="6" name="Text 4"/>
          <p:cNvSpPr txBox="1"/>
          <p:nvPr/>
        </p:nvSpPr>
        <p:spPr>
          <a:xfrm>
            <a:off x="1325880" y="2084832"/>
            <a:ext cx="10424160" cy="411480"/>
          </a:xfrm>
          <a:prstGeom prst="rect">
            <a:avLst/>
          </a:prstGeom>
          <a:noFill/>
          <a:ln/>
        </p:spPr>
        <p:txBody>
          <a:bodyPr wrap="square" lIns="0" tIns="0" rIns="0" bIns="0" rtlCol="0" anchor="ctr"/>
          <a:lstStyle/>
          <a:p>
            <a:pPr algn="l" indent="0" marL="0">
              <a:buNone/>
            </a:pPr>
            <a:r>
              <a:rPr lang="en-US" sz="1700" b="1" dirty="0">
                <a:solidFill>
                  <a:srgbClr val="C0CAF5"/>
                </a:solidFill>
                <a:latin typeface="Calibri" pitchFamily="34" charset="0"/>
                <a:ea typeface="Calibri" pitchFamily="34" charset="-122"/>
                <a:cs typeface="Calibri" pitchFamily="34" charset="-120"/>
              </a:rPr>
              <a:t>Load &amp; split</a:t>
            </a:r>
            <a:endParaRPr lang="en-US" sz="1700" dirty="0"/>
          </a:p>
        </p:txBody>
      </p:sp>
      <p:sp>
        <p:nvSpPr>
          <p:cNvPr id="7" name="Text 5"/>
          <p:cNvSpPr txBox="1"/>
          <p:nvPr/>
        </p:nvSpPr>
        <p:spPr>
          <a:xfrm>
            <a:off x="1325880" y="2468880"/>
            <a:ext cx="10424160" cy="667512"/>
          </a:xfrm>
          <a:prstGeom prst="rect">
            <a:avLst/>
          </a:prstGeom>
          <a:noFill/>
          <a:ln/>
        </p:spPr>
        <p:txBody>
          <a:bodyPr wrap="square" lIns="0" tIns="0" rIns="0" bIns="0" rtlCol="0" anchor="t"/>
          <a:lstStyle/>
          <a:p>
            <a:pPr algn="l" indent="0" marL="0">
              <a:buNone/>
            </a:pPr>
            <a:r>
              <a:rPr lang="en-US" sz="1350" dirty="0">
                <a:solidFill>
                  <a:srgbClr val="A9B1D6"/>
                </a:solidFill>
                <a:latin typeface="Calibri" pitchFamily="34" charset="0"/>
                <a:ea typeface="Calibri" pitchFamily="34" charset="-122"/>
                <a:cs typeface="Calibri" pitchFamily="34" charset="-120"/>
              </a:rPr>
              <a:t>Chunk documents into passages of a few hundred tokens. Chunk boundaries strongly affect what you can retrieve.</a:t>
            </a:r>
            <a:endParaRPr lang="en-US" sz="1350" dirty="0"/>
          </a:p>
        </p:txBody>
      </p:sp>
      <p:sp>
        <p:nvSpPr>
          <p:cNvPr id="8" name="Shape 6"/>
          <p:cNvSpPr/>
          <p:nvPr/>
        </p:nvSpPr>
        <p:spPr>
          <a:xfrm>
            <a:off x="548640" y="3209544"/>
            <a:ext cx="530352" cy="530352"/>
          </a:xfrm>
          <a:prstGeom prst="ellipse">
            <a:avLst/>
          </a:prstGeom>
          <a:solidFill>
            <a:srgbClr val="FF9E64"/>
          </a:solidFill>
          <a:ln/>
        </p:spPr>
      </p:sp>
      <p:sp>
        <p:nvSpPr>
          <p:cNvPr id="9" name="Text 7"/>
          <p:cNvSpPr txBox="1"/>
          <p:nvPr/>
        </p:nvSpPr>
        <p:spPr>
          <a:xfrm>
            <a:off x="548640" y="3209544"/>
            <a:ext cx="530352" cy="530352"/>
          </a:xfrm>
          <a:prstGeom prst="rect">
            <a:avLst/>
          </a:prstGeom>
          <a:noFill/>
          <a:ln/>
        </p:spPr>
        <p:txBody>
          <a:bodyPr wrap="square" lIns="0" tIns="0" rIns="0" bIns="0" rtlCol="0" anchor="ctr"/>
          <a:lstStyle/>
          <a:p>
            <a:pPr algn="ctr" indent="0" marL="0">
              <a:buNone/>
            </a:pPr>
            <a:r>
              <a:rPr lang="en-US" sz="1800" b="1" dirty="0">
                <a:solidFill>
                  <a:srgbClr val="1A1B26"/>
                </a:solidFill>
                <a:latin typeface="Courier New" pitchFamily="34" charset="0"/>
                <a:ea typeface="Courier New" pitchFamily="34" charset="-122"/>
                <a:cs typeface="Courier New" pitchFamily="34" charset="-120"/>
              </a:rPr>
              <a:t>2</a:t>
            </a:r>
            <a:endParaRPr lang="en-US" sz="1800" dirty="0"/>
          </a:p>
        </p:txBody>
      </p:sp>
      <p:sp>
        <p:nvSpPr>
          <p:cNvPr id="10" name="Text 8"/>
          <p:cNvSpPr txBox="1"/>
          <p:nvPr/>
        </p:nvSpPr>
        <p:spPr>
          <a:xfrm>
            <a:off x="1325880" y="3191256"/>
            <a:ext cx="10424160" cy="411480"/>
          </a:xfrm>
          <a:prstGeom prst="rect">
            <a:avLst/>
          </a:prstGeom>
          <a:noFill/>
          <a:ln/>
        </p:spPr>
        <p:txBody>
          <a:bodyPr wrap="square" lIns="0" tIns="0" rIns="0" bIns="0" rtlCol="0" anchor="ctr"/>
          <a:lstStyle/>
          <a:p>
            <a:pPr algn="l" indent="0" marL="0">
              <a:buNone/>
            </a:pPr>
            <a:r>
              <a:rPr lang="en-US" sz="1700" b="1" dirty="0">
                <a:solidFill>
                  <a:srgbClr val="C0CAF5"/>
                </a:solidFill>
                <a:latin typeface="Calibri" pitchFamily="34" charset="0"/>
                <a:ea typeface="Calibri" pitchFamily="34" charset="-122"/>
                <a:cs typeface="Calibri" pitchFamily="34" charset="-120"/>
              </a:rPr>
              <a:t>Embed &amp; store</a:t>
            </a:r>
            <a:endParaRPr lang="en-US" sz="1700" dirty="0"/>
          </a:p>
        </p:txBody>
      </p:sp>
      <p:sp>
        <p:nvSpPr>
          <p:cNvPr id="11" name="Text 9"/>
          <p:cNvSpPr txBox="1"/>
          <p:nvPr/>
        </p:nvSpPr>
        <p:spPr>
          <a:xfrm>
            <a:off x="1325880" y="3575304"/>
            <a:ext cx="10424160" cy="667512"/>
          </a:xfrm>
          <a:prstGeom prst="rect">
            <a:avLst/>
          </a:prstGeom>
          <a:noFill/>
          <a:ln/>
        </p:spPr>
        <p:txBody>
          <a:bodyPr wrap="square" lIns="0" tIns="0" rIns="0" bIns="0" rtlCol="0" anchor="t"/>
          <a:lstStyle/>
          <a:p>
            <a:pPr algn="l" indent="0" marL="0">
              <a:buNone/>
            </a:pPr>
            <a:r>
              <a:rPr lang="en-US" sz="1350" dirty="0">
                <a:solidFill>
                  <a:srgbClr val="A9B1D6"/>
                </a:solidFill>
                <a:latin typeface="Calibri" pitchFamily="34" charset="0"/>
                <a:ea typeface="Calibri" pitchFamily="34" charset="-122"/>
                <a:cs typeface="Calibri" pitchFamily="34" charset="-120"/>
              </a:rPr>
              <a:t>Turn each chunk into a vector and index it for similarity search. Local embeddings keep this offline.</a:t>
            </a:r>
            <a:endParaRPr lang="en-US" sz="1350" dirty="0"/>
          </a:p>
        </p:txBody>
      </p:sp>
      <p:sp>
        <p:nvSpPr>
          <p:cNvPr id="12" name="Shape 10"/>
          <p:cNvSpPr/>
          <p:nvPr/>
        </p:nvSpPr>
        <p:spPr>
          <a:xfrm>
            <a:off x="548640" y="4315968"/>
            <a:ext cx="530352" cy="530352"/>
          </a:xfrm>
          <a:prstGeom prst="ellipse">
            <a:avLst/>
          </a:prstGeom>
          <a:solidFill>
            <a:srgbClr val="FF9E64"/>
          </a:solidFill>
          <a:ln/>
        </p:spPr>
      </p:sp>
      <p:sp>
        <p:nvSpPr>
          <p:cNvPr id="13" name="Text 11"/>
          <p:cNvSpPr txBox="1"/>
          <p:nvPr/>
        </p:nvSpPr>
        <p:spPr>
          <a:xfrm>
            <a:off x="548640" y="4315968"/>
            <a:ext cx="530352" cy="530352"/>
          </a:xfrm>
          <a:prstGeom prst="rect">
            <a:avLst/>
          </a:prstGeom>
          <a:noFill/>
          <a:ln/>
        </p:spPr>
        <p:txBody>
          <a:bodyPr wrap="square" lIns="0" tIns="0" rIns="0" bIns="0" rtlCol="0" anchor="ctr"/>
          <a:lstStyle/>
          <a:p>
            <a:pPr algn="ctr" indent="0" marL="0">
              <a:buNone/>
            </a:pPr>
            <a:r>
              <a:rPr lang="en-US" sz="1800" b="1" dirty="0">
                <a:solidFill>
                  <a:srgbClr val="1A1B26"/>
                </a:solidFill>
                <a:latin typeface="Courier New" pitchFamily="34" charset="0"/>
                <a:ea typeface="Courier New" pitchFamily="34" charset="-122"/>
                <a:cs typeface="Courier New" pitchFamily="34" charset="-120"/>
              </a:rPr>
              <a:t>3</a:t>
            </a:r>
            <a:endParaRPr lang="en-US" sz="1800" dirty="0"/>
          </a:p>
        </p:txBody>
      </p:sp>
      <p:sp>
        <p:nvSpPr>
          <p:cNvPr id="14" name="Text 12"/>
          <p:cNvSpPr txBox="1"/>
          <p:nvPr/>
        </p:nvSpPr>
        <p:spPr>
          <a:xfrm>
            <a:off x="1325880" y="4297680"/>
            <a:ext cx="10424160" cy="411480"/>
          </a:xfrm>
          <a:prstGeom prst="rect">
            <a:avLst/>
          </a:prstGeom>
          <a:noFill/>
          <a:ln/>
        </p:spPr>
        <p:txBody>
          <a:bodyPr wrap="square" lIns="0" tIns="0" rIns="0" bIns="0" rtlCol="0" anchor="ctr"/>
          <a:lstStyle/>
          <a:p>
            <a:pPr algn="l" indent="0" marL="0">
              <a:buNone/>
            </a:pPr>
            <a:r>
              <a:rPr lang="en-US" sz="1700" b="1" dirty="0">
                <a:solidFill>
                  <a:srgbClr val="C0CAF5"/>
                </a:solidFill>
                <a:latin typeface="Calibri" pitchFamily="34" charset="0"/>
                <a:ea typeface="Calibri" pitchFamily="34" charset="-122"/>
                <a:cs typeface="Calibri" pitchFamily="34" charset="-120"/>
              </a:rPr>
              <a:t>Retrieve</a:t>
            </a:r>
            <a:endParaRPr lang="en-US" sz="1700" dirty="0"/>
          </a:p>
        </p:txBody>
      </p:sp>
      <p:sp>
        <p:nvSpPr>
          <p:cNvPr id="15" name="Text 13"/>
          <p:cNvSpPr txBox="1"/>
          <p:nvPr/>
        </p:nvSpPr>
        <p:spPr>
          <a:xfrm>
            <a:off x="1325880" y="4681728"/>
            <a:ext cx="10424160" cy="667512"/>
          </a:xfrm>
          <a:prstGeom prst="rect">
            <a:avLst/>
          </a:prstGeom>
          <a:noFill/>
          <a:ln/>
        </p:spPr>
        <p:txBody>
          <a:bodyPr wrap="square" lIns="0" tIns="0" rIns="0" bIns="0" rtlCol="0" anchor="t"/>
          <a:lstStyle/>
          <a:p>
            <a:pPr algn="l" indent="0" marL="0">
              <a:buNone/>
            </a:pPr>
            <a:r>
              <a:rPr lang="en-US" sz="1350" dirty="0">
                <a:solidFill>
                  <a:srgbClr val="A9B1D6"/>
                </a:solidFill>
                <a:latin typeface="Calibri" pitchFamily="34" charset="0"/>
                <a:ea typeface="Calibri" pitchFamily="34" charset="-122"/>
                <a:cs typeface="Calibri" pitchFamily="34" charset="-120"/>
              </a:rPr>
              <a:t>Embed the question, fetch the top-k most similar chunks. This is nearest-neighbour search, not keyword matching.</a:t>
            </a:r>
            <a:endParaRPr lang="en-US" sz="1350" dirty="0"/>
          </a:p>
        </p:txBody>
      </p:sp>
      <p:sp>
        <p:nvSpPr>
          <p:cNvPr id="16" name="Shape 14"/>
          <p:cNvSpPr/>
          <p:nvPr/>
        </p:nvSpPr>
        <p:spPr>
          <a:xfrm>
            <a:off x="548640" y="5422392"/>
            <a:ext cx="530352" cy="530352"/>
          </a:xfrm>
          <a:prstGeom prst="ellipse">
            <a:avLst/>
          </a:prstGeom>
          <a:solidFill>
            <a:srgbClr val="FF9E64"/>
          </a:solidFill>
          <a:ln/>
        </p:spPr>
      </p:sp>
      <p:sp>
        <p:nvSpPr>
          <p:cNvPr id="17" name="Text 15"/>
          <p:cNvSpPr txBox="1"/>
          <p:nvPr/>
        </p:nvSpPr>
        <p:spPr>
          <a:xfrm>
            <a:off x="548640" y="5422392"/>
            <a:ext cx="530352" cy="530352"/>
          </a:xfrm>
          <a:prstGeom prst="rect">
            <a:avLst/>
          </a:prstGeom>
          <a:noFill/>
          <a:ln/>
        </p:spPr>
        <p:txBody>
          <a:bodyPr wrap="square" lIns="0" tIns="0" rIns="0" bIns="0" rtlCol="0" anchor="ctr"/>
          <a:lstStyle/>
          <a:p>
            <a:pPr algn="ctr" indent="0" marL="0">
              <a:buNone/>
            </a:pPr>
            <a:r>
              <a:rPr lang="en-US" sz="1800" b="1" dirty="0">
                <a:solidFill>
                  <a:srgbClr val="1A1B26"/>
                </a:solidFill>
                <a:latin typeface="Courier New" pitchFamily="34" charset="0"/>
                <a:ea typeface="Courier New" pitchFamily="34" charset="-122"/>
                <a:cs typeface="Courier New" pitchFamily="34" charset="-120"/>
              </a:rPr>
              <a:t>4</a:t>
            </a:r>
            <a:endParaRPr lang="en-US" sz="1800" dirty="0"/>
          </a:p>
        </p:txBody>
      </p:sp>
      <p:sp>
        <p:nvSpPr>
          <p:cNvPr id="18" name="Text 16"/>
          <p:cNvSpPr txBox="1"/>
          <p:nvPr/>
        </p:nvSpPr>
        <p:spPr>
          <a:xfrm>
            <a:off x="1325880" y="5404104"/>
            <a:ext cx="10424160" cy="411480"/>
          </a:xfrm>
          <a:prstGeom prst="rect">
            <a:avLst/>
          </a:prstGeom>
          <a:noFill/>
          <a:ln/>
        </p:spPr>
        <p:txBody>
          <a:bodyPr wrap="square" lIns="0" tIns="0" rIns="0" bIns="0" rtlCol="0" anchor="ctr"/>
          <a:lstStyle/>
          <a:p>
            <a:pPr algn="l" indent="0" marL="0">
              <a:buNone/>
            </a:pPr>
            <a:r>
              <a:rPr lang="en-US" sz="1700" b="1" dirty="0">
                <a:solidFill>
                  <a:srgbClr val="C0CAF5"/>
                </a:solidFill>
                <a:latin typeface="Calibri" pitchFamily="34" charset="0"/>
                <a:ea typeface="Calibri" pitchFamily="34" charset="-122"/>
                <a:cs typeface="Calibri" pitchFamily="34" charset="-120"/>
              </a:rPr>
              <a:t>Assemble</a:t>
            </a:r>
            <a:endParaRPr lang="en-US" sz="1700" dirty="0"/>
          </a:p>
        </p:txBody>
      </p:sp>
      <p:sp>
        <p:nvSpPr>
          <p:cNvPr id="19" name="Text 17"/>
          <p:cNvSpPr txBox="1"/>
          <p:nvPr/>
        </p:nvSpPr>
        <p:spPr>
          <a:xfrm>
            <a:off x="1325880" y="5788152"/>
            <a:ext cx="10424160" cy="667512"/>
          </a:xfrm>
          <a:prstGeom prst="rect">
            <a:avLst/>
          </a:prstGeom>
          <a:noFill/>
          <a:ln/>
        </p:spPr>
        <p:txBody>
          <a:bodyPr wrap="square" lIns="0" tIns="0" rIns="0" bIns="0" rtlCol="0" anchor="t"/>
          <a:lstStyle/>
          <a:p>
            <a:pPr algn="l" indent="0" marL="0">
              <a:buNone/>
            </a:pPr>
            <a:r>
              <a:rPr lang="en-US" sz="1350" dirty="0">
                <a:solidFill>
                  <a:srgbClr val="A9B1D6"/>
                </a:solidFill>
                <a:latin typeface="Calibri" pitchFamily="34" charset="0"/>
                <a:ea typeface="Calibri" pitchFamily="34" charset="-122"/>
                <a:cs typeface="Calibri" pitchFamily="34" charset="-120"/>
              </a:rPr>
              <a:t>Place the retrieved chunks plus the question into the prompt — carefully, because order and volume matter.</a:t>
            </a:r>
            <a:endParaRPr lang="en-US" sz="1350" dirty="0"/>
          </a:p>
        </p:txBody>
      </p:sp>
      <p:sp>
        <p:nvSpPr>
          <p:cNvPr id="20" name="Shape 18"/>
          <p:cNvSpPr/>
          <p:nvPr/>
        </p:nvSpPr>
        <p:spPr>
          <a:xfrm>
            <a:off x="548640" y="6217920"/>
            <a:ext cx="640080" cy="384048"/>
          </a:xfrm>
          <a:prstGeom prst="roundRect">
            <a:avLst>
              <a:gd name="adj" fmla="val 19048"/>
            </a:avLst>
          </a:prstGeom>
          <a:solidFill>
            <a:srgbClr val="FF9E64"/>
          </a:solidFill>
          <a:ln/>
        </p:spPr>
      </p:sp>
      <p:sp>
        <p:nvSpPr>
          <p:cNvPr id="21" name="Text 19"/>
          <p:cNvSpPr txBox="1"/>
          <p:nvPr/>
        </p:nvSpPr>
        <p:spPr>
          <a:xfrm>
            <a:off x="548640" y="6217920"/>
            <a:ext cx="640080" cy="384048"/>
          </a:xfrm>
          <a:prstGeom prst="rect">
            <a:avLst/>
          </a:prstGeom>
          <a:noFill/>
          <a:ln/>
        </p:spPr>
        <p:txBody>
          <a:bodyPr wrap="square" lIns="0" tIns="0" rIns="0" bIns="0" rtlCol="0" anchor="ctr"/>
          <a:lstStyle/>
          <a:p>
            <a:pPr algn="ctr" indent="0" marL="0">
              <a:buNone/>
            </a:pPr>
            <a:r>
              <a:rPr lang="en-US" sz="1300" b="1" dirty="0">
                <a:solidFill>
                  <a:srgbClr val="1A1B26"/>
                </a:solidFill>
                <a:latin typeface="Courier New" pitchFamily="34" charset="0"/>
                <a:ea typeface="Courier New" pitchFamily="34" charset="-122"/>
                <a:cs typeface="Courier New" pitchFamily="34" charset="-120"/>
              </a:rPr>
              <a:t>S5</a:t>
            </a:r>
            <a:endParaRPr lang="en-US" sz="1300" dirty="0"/>
          </a:p>
        </p:txBody>
      </p:sp>
      <p:sp>
        <p:nvSpPr>
          <p:cNvPr id="22" name="Text 20"/>
          <p:cNvSpPr txBox="1"/>
          <p:nvPr/>
        </p:nvSpPr>
        <p:spPr>
          <a:xfrm>
            <a:off x="1325880" y="6254496"/>
            <a:ext cx="8229600" cy="320040"/>
          </a:xfrm>
          <a:prstGeom prst="rect">
            <a:avLst/>
          </a:prstGeom>
          <a:noFill/>
          <a:ln/>
        </p:spPr>
        <p:txBody>
          <a:bodyPr wrap="square" lIns="0" tIns="0" rIns="0" bIns="0" rtlCol="0" anchor="ctr"/>
          <a:lstStyle/>
          <a:p>
            <a:pPr algn="l" indent="0" marL="0">
              <a:buNone/>
            </a:pPr>
            <a:r>
              <a:rPr lang="en-US" sz="1000" dirty="0">
                <a:solidFill>
                  <a:srgbClr val="565F89"/>
                </a:solidFill>
                <a:latin typeface="Calibri" pitchFamily="34" charset="0"/>
                <a:ea typeface="Calibri" pitchFamily="34" charset="-122"/>
                <a:cs typeface="Calibri" pitchFamily="34" charset="-120"/>
              </a:rPr>
              <a:t>Prompt &amp; Context Engineering  ·  Context Engineering I — Retrieval</a:t>
            </a:r>
            <a:endParaRPr lang="en-US" sz="1000" dirty="0"/>
          </a:p>
        </p:txBody>
      </p:sp>
      <p:sp>
        <p:nvSpPr>
          <p:cNvPr id="23" name="Text 21"/>
          <p:cNvSpPr txBox="1"/>
          <p:nvPr/>
        </p:nvSpPr>
        <p:spPr>
          <a:xfrm>
            <a:off x="8897112" y="6254496"/>
            <a:ext cx="2743200" cy="320040"/>
          </a:xfrm>
          <a:prstGeom prst="rect">
            <a:avLst/>
          </a:prstGeom>
          <a:noFill/>
          <a:ln/>
        </p:spPr>
        <p:txBody>
          <a:bodyPr wrap="square" lIns="0" tIns="0" rIns="0" bIns="0" rtlCol="0" anchor="ctr"/>
          <a:lstStyle/>
          <a:p>
            <a:pPr algn="r" indent="0" marL="0">
              <a:buNone/>
            </a:pPr>
            <a:r>
              <a:rPr lang="en-US" sz="1000" dirty="0">
                <a:solidFill>
                  <a:srgbClr val="565F89"/>
                </a:solidFill>
                <a:latin typeface="Calibri" pitchFamily="34" charset="0"/>
                <a:ea typeface="Calibri" pitchFamily="34" charset="-122"/>
                <a:cs typeface="Calibri" pitchFamily="34" charset="-120"/>
              </a:rPr>
              <a:t>23 Sept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B26"/>
        </a:solidFill>
      </p:bgPr>
    </p:bg>
    <p:spTree>
      <p:nvGrpSpPr>
        <p:cNvPr id="1" name=""/>
        <p:cNvGrpSpPr/>
        <p:nvPr/>
      </p:nvGrpSpPr>
      <p:grpSpPr>
        <a:xfrm>
          <a:off x="0" y="0"/>
          <a:ext cx="0" cy="0"/>
          <a:chOff x="0" y="0"/>
          <a:chExt cx="0" cy="0"/>
        </a:xfrm>
      </p:grpSpPr>
      <p:sp>
        <p:nvSpPr>
          <p:cNvPr id="2" name="Text 0"/>
          <p:cNvSpPr txBox="1"/>
          <p:nvPr/>
        </p:nvSpPr>
        <p:spPr>
          <a:xfrm>
            <a:off x="548640" y="502920"/>
            <a:ext cx="7315200" cy="320040"/>
          </a:xfrm>
          <a:prstGeom prst="rect">
            <a:avLst/>
          </a:prstGeom>
          <a:noFill/>
          <a:ln/>
        </p:spPr>
        <p:txBody>
          <a:bodyPr wrap="square" lIns="0" tIns="0" rIns="0" bIns="0" rtlCol="0" anchor="t"/>
          <a:lstStyle/>
          <a:p>
            <a:pPr algn="l" indent="0" marL="0">
              <a:buNone/>
            </a:pPr>
            <a:r>
              <a:rPr lang="en-US" sz="1300" b="1" spc="200" kern="0" dirty="0">
                <a:solidFill>
                  <a:srgbClr val="FF9E64"/>
                </a:solidFill>
                <a:latin typeface="Courier New" pitchFamily="34" charset="0"/>
                <a:ea typeface="Courier New" pitchFamily="34" charset="-122"/>
                <a:cs typeface="Courier New" pitchFamily="34" charset="-120"/>
              </a:rPr>
              <a:t>RETRIEVAL</a:t>
            </a:r>
            <a:endParaRPr lang="en-US" sz="1300" dirty="0"/>
          </a:p>
        </p:txBody>
      </p:sp>
      <p:sp>
        <p:nvSpPr>
          <p:cNvPr id="3" name="Text 1"/>
          <p:cNvSpPr txBox="1"/>
          <p:nvPr/>
        </p:nvSpPr>
        <p:spPr>
          <a:xfrm>
            <a:off x="548640" y="868680"/>
            <a:ext cx="11091672" cy="1005840"/>
          </a:xfrm>
          <a:prstGeom prst="rect">
            <a:avLst/>
          </a:prstGeom>
          <a:noFill/>
          <a:ln/>
        </p:spPr>
        <p:txBody>
          <a:bodyPr wrap="square" lIns="0" tIns="0" rIns="0" bIns="0" rtlCol="0" anchor="t"/>
          <a:lstStyle/>
          <a:p>
            <a:pPr algn="l" indent="0" marL="0">
              <a:buNone/>
            </a:pPr>
            <a:r>
              <a:rPr lang="en-US" sz="3400" b="1" dirty="0">
                <a:solidFill>
                  <a:srgbClr val="C0CAF5"/>
                </a:solidFill>
                <a:latin typeface="Calibri" pitchFamily="34" charset="0"/>
                <a:ea typeface="Calibri" pitchFamily="34" charset="-122"/>
                <a:cs typeface="Calibri" pitchFamily="34" charset="-120"/>
              </a:rPr>
              <a:t>Embeddings &amp; vector search</a:t>
            </a:r>
            <a:endParaRPr lang="en-US" sz="3400" dirty="0"/>
          </a:p>
        </p:txBody>
      </p:sp>
      <p:sp>
        <p:nvSpPr>
          <p:cNvPr id="4" name="Text 2"/>
          <p:cNvSpPr txBox="1"/>
          <p:nvPr/>
        </p:nvSpPr>
        <p:spPr>
          <a:xfrm>
            <a:off x="548640" y="2011680"/>
            <a:ext cx="6126480" cy="3840480"/>
          </a:xfrm>
          <a:prstGeom prst="rect">
            <a:avLst/>
          </a:prstGeom>
          <a:noFill/>
          <a:ln/>
        </p:spPr>
        <p:txBody>
          <a:bodyPr wrap="square" lIns="0" tIns="0" rIns="0" bIns="0" rtlCol="0" anchor="t"/>
          <a:lstStyle/>
          <a:p>
            <a:pPr marL="342900" indent="-342900">
              <a:spcAft>
                <a:spcPts val="300"/>
              </a:spcAft>
              <a:buSzPct val="100000"/>
              <a:buChar char="•"/>
            </a:pPr>
            <a:r>
              <a:rPr lang="en-US" sz="1600" b="1" dirty="0">
                <a:solidFill>
                  <a:srgbClr val="C0CAF5"/>
                </a:solidFill>
                <a:latin typeface="Calibri" pitchFamily="34" charset="0"/>
                <a:ea typeface="Calibri" pitchFamily="34" charset="-122"/>
                <a:cs typeface="Calibri" pitchFamily="34" charset="-120"/>
              </a:rPr>
              <a:t>Embeddings map meaning to vectors</a:t>
            </a:r>
            <a:endParaRPr lang="en-US" sz="1600" dirty="0"/>
          </a:p>
          <a:p>
            <a:pPr lvl="1" indent="0" marL="0">
              <a:spcAft>
                <a:spcPts val="1200"/>
              </a:spcAft>
              <a:buNone/>
            </a:pPr>
            <a:r>
              <a:rPr lang="en-US" sz="1300" dirty="0">
                <a:solidFill>
                  <a:srgbClr val="A9B1D6"/>
                </a:solidFill>
                <a:latin typeface="Calibri" pitchFamily="34" charset="0"/>
                <a:ea typeface="Calibri" pitchFamily="34" charset="-122"/>
                <a:cs typeface="Calibri" pitchFamily="34" charset="-120"/>
              </a:rPr>
              <a:t>Text with similar meaning lands at nearby points. That's what lets us find relevant passages without exact keyword matches.</a:t>
            </a:r>
            <a:endParaRPr lang="en-US" sz="1600" dirty="0"/>
          </a:p>
          <a:p>
            <a:pPr marL="342900" indent="-342900">
              <a:spcAft>
                <a:spcPts val="300"/>
              </a:spcAft>
              <a:buSzPct val="100000"/>
              <a:buChar char="•"/>
            </a:pPr>
            <a:r>
              <a:rPr lang="en-US" sz="1600" b="1" dirty="0">
                <a:solidFill>
                  <a:srgbClr val="C0CAF5"/>
                </a:solidFill>
                <a:latin typeface="Calibri" pitchFamily="34" charset="0"/>
                <a:ea typeface="Calibri" pitchFamily="34" charset="-122"/>
                <a:cs typeface="Calibri" pitchFamily="34" charset="-120"/>
              </a:rPr>
              <a:t>Retrieval is nearest-neighbour search</a:t>
            </a:r>
            <a:endParaRPr lang="en-US" sz="1600" dirty="0"/>
          </a:p>
          <a:p>
            <a:pPr lvl="1" indent="0" marL="0">
              <a:spcAft>
                <a:spcPts val="1200"/>
              </a:spcAft>
              <a:buNone/>
            </a:pPr>
            <a:r>
              <a:rPr lang="en-US" sz="1300" dirty="0">
                <a:solidFill>
                  <a:srgbClr val="A9B1D6"/>
                </a:solidFill>
                <a:latin typeface="Calibri" pitchFamily="34" charset="0"/>
                <a:ea typeface="Calibri" pitchFamily="34" charset="-122"/>
                <a:cs typeface="Calibri" pitchFamily="34" charset="-120"/>
              </a:rPr>
              <a:t>Embed the query, find the closest chunk vectors. Simple, fast, and the backbone of RAG.</a:t>
            </a:r>
            <a:endParaRPr lang="en-US" sz="1600" dirty="0"/>
          </a:p>
          <a:p>
            <a:pPr marL="342900" indent="-342900">
              <a:spcAft>
                <a:spcPts val="300"/>
              </a:spcAft>
              <a:buSzPct val="100000"/>
              <a:buChar char="•"/>
            </a:pPr>
            <a:r>
              <a:rPr lang="en-US" sz="1600" b="1" dirty="0">
                <a:solidFill>
                  <a:srgbClr val="C0CAF5"/>
                </a:solidFill>
                <a:latin typeface="Calibri" pitchFamily="34" charset="0"/>
                <a:ea typeface="Calibri" pitchFamily="34" charset="-122"/>
                <a:cs typeface="Calibri" pitchFamily="34" charset="-120"/>
              </a:rPr>
              <a:t>Chunking is a real lever</a:t>
            </a:r>
            <a:endParaRPr lang="en-US" sz="1600" dirty="0"/>
          </a:p>
          <a:p>
            <a:pPr lvl="1" indent="0" marL="0">
              <a:spcAft>
                <a:spcPts val="1200"/>
              </a:spcAft>
              <a:buNone/>
            </a:pPr>
            <a:r>
              <a:rPr lang="en-US" sz="1300" dirty="0">
                <a:solidFill>
                  <a:srgbClr val="A9B1D6"/>
                </a:solidFill>
                <a:latin typeface="Calibri" pitchFamily="34" charset="0"/>
                <a:ea typeface="Calibri" pitchFamily="34" charset="-122"/>
                <a:cs typeface="Calibri" pitchFamily="34" charset="-120"/>
              </a:rPr>
              <a:t>Chunk size and overlap change what can be retrieved. Too big buries the answer; too small loses context.</a:t>
            </a:r>
            <a:endParaRPr lang="en-US" sz="1600" dirty="0"/>
          </a:p>
        </p:txBody>
      </p:sp>
      <p:sp>
        <p:nvSpPr>
          <p:cNvPr id="5" name="Shape 3"/>
          <p:cNvSpPr/>
          <p:nvPr/>
        </p:nvSpPr>
        <p:spPr>
          <a:xfrm>
            <a:off x="6995160" y="2148840"/>
            <a:ext cx="4645152" cy="3383280"/>
          </a:xfrm>
          <a:prstGeom prst="roundRect">
            <a:avLst>
              <a:gd name="adj" fmla="val 2432"/>
            </a:avLst>
          </a:prstGeom>
          <a:solidFill>
            <a:srgbClr val="24283B"/>
          </a:solidFill>
          <a:ln w="15875">
            <a:solidFill>
              <a:srgbClr val="FF9E64"/>
            </a:solidFill>
            <a:prstDash val="solid"/>
          </a:ln>
        </p:spPr>
      </p:sp>
      <p:sp>
        <p:nvSpPr>
          <p:cNvPr id="6" name="Shape 4"/>
          <p:cNvSpPr/>
          <p:nvPr/>
        </p:nvSpPr>
        <p:spPr>
          <a:xfrm>
            <a:off x="7269480" y="2423160"/>
            <a:ext cx="457200" cy="457200"/>
          </a:xfrm>
          <a:prstGeom prst="ellipse">
            <a:avLst/>
          </a:prstGeom>
          <a:solidFill>
            <a:srgbClr val="FF9E64"/>
          </a:solidFill>
          <a:ln/>
        </p:spPr>
      </p:sp>
      <p:sp>
        <p:nvSpPr>
          <p:cNvPr id="7" name="Text 5"/>
          <p:cNvSpPr txBox="1"/>
          <p:nvPr/>
        </p:nvSpPr>
        <p:spPr>
          <a:xfrm>
            <a:off x="7818120" y="2450592"/>
            <a:ext cx="3657600" cy="411480"/>
          </a:xfrm>
          <a:prstGeom prst="rect">
            <a:avLst/>
          </a:prstGeom>
          <a:noFill/>
          <a:ln/>
        </p:spPr>
        <p:txBody>
          <a:bodyPr wrap="square" lIns="0" tIns="0" rIns="0" bIns="0" rtlCol="0" anchor="ctr"/>
          <a:lstStyle/>
          <a:p>
            <a:pPr algn="l" indent="0" marL="0">
              <a:buNone/>
            </a:pPr>
            <a:r>
              <a:rPr lang="en-US" sz="1300" b="1" spc="100" kern="0" dirty="0">
                <a:solidFill>
                  <a:srgbClr val="FF9E64"/>
                </a:solidFill>
                <a:latin typeface="Courier New" pitchFamily="34" charset="0"/>
                <a:ea typeface="Courier New" pitchFamily="34" charset="-122"/>
                <a:cs typeface="Courier New" pitchFamily="34" charset="-120"/>
              </a:rPr>
              <a:t>WHY</a:t>
            </a:r>
            <a:endParaRPr lang="en-US" sz="1300" dirty="0"/>
          </a:p>
        </p:txBody>
      </p:sp>
      <p:sp>
        <p:nvSpPr>
          <p:cNvPr id="8" name="Text 6"/>
          <p:cNvSpPr txBox="1"/>
          <p:nvPr/>
        </p:nvSpPr>
        <p:spPr>
          <a:xfrm>
            <a:off x="7269480" y="3108960"/>
            <a:ext cx="4160520" cy="2286000"/>
          </a:xfrm>
          <a:prstGeom prst="rect">
            <a:avLst/>
          </a:prstGeom>
          <a:noFill/>
          <a:ln/>
        </p:spPr>
        <p:txBody>
          <a:bodyPr wrap="square" lIns="0" tIns="0" rIns="0" bIns="0" rtlCol="0" anchor="t"/>
          <a:lstStyle/>
          <a:p>
            <a:pPr algn="l" indent="0" marL="0">
              <a:buNone/>
            </a:pPr>
            <a:r>
              <a:rPr lang="en-US" sz="1600" dirty="0">
                <a:solidFill>
                  <a:srgbClr val="C0CAF5"/>
                </a:solidFill>
                <a:latin typeface="Calibri" pitchFamily="34" charset="0"/>
                <a:ea typeface="Calibri" pitchFamily="34" charset="-122"/>
                <a:cs typeface="Calibri" pitchFamily="34" charset="-120"/>
              </a:rPr>
              <a:t>Grounding the model in retrieved text is the single most practical cure for hallucination — give it the facts instead of hoping it remembers them.</a:t>
            </a:r>
            <a:endParaRPr lang="en-US" sz="1600" dirty="0"/>
          </a:p>
        </p:txBody>
      </p:sp>
      <p:sp>
        <p:nvSpPr>
          <p:cNvPr id="9" name="Shape 7"/>
          <p:cNvSpPr/>
          <p:nvPr/>
        </p:nvSpPr>
        <p:spPr>
          <a:xfrm>
            <a:off x="548640" y="6217920"/>
            <a:ext cx="640080" cy="384048"/>
          </a:xfrm>
          <a:prstGeom prst="roundRect">
            <a:avLst>
              <a:gd name="adj" fmla="val 19048"/>
            </a:avLst>
          </a:prstGeom>
          <a:solidFill>
            <a:srgbClr val="FF9E64"/>
          </a:solidFill>
          <a:ln/>
        </p:spPr>
      </p:sp>
      <p:sp>
        <p:nvSpPr>
          <p:cNvPr id="10" name="Text 8"/>
          <p:cNvSpPr txBox="1"/>
          <p:nvPr/>
        </p:nvSpPr>
        <p:spPr>
          <a:xfrm>
            <a:off x="548640" y="6217920"/>
            <a:ext cx="640080" cy="384048"/>
          </a:xfrm>
          <a:prstGeom prst="rect">
            <a:avLst/>
          </a:prstGeom>
          <a:noFill/>
          <a:ln/>
        </p:spPr>
        <p:txBody>
          <a:bodyPr wrap="square" lIns="0" tIns="0" rIns="0" bIns="0" rtlCol="0" anchor="ctr"/>
          <a:lstStyle/>
          <a:p>
            <a:pPr algn="ctr" indent="0" marL="0">
              <a:buNone/>
            </a:pPr>
            <a:r>
              <a:rPr lang="en-US" sz="1300" b="1" dirty="0">
                <a:solidFill>
                  <a:srgbClr val="1A1B26"/>
                </a:solidFill>
                <a:latin typeface="Courier New" pitchFamily="34" charset="0"/>
                <a:ea typeface="Courier New" pitchFamily="34" charset="-122"/>
                <a:cs typeface="Courier New" pitchFamily="34" charset="-120"/>
              </a:rPr>
              <a:t>S5</a:t>
            </a:r>
            <a:endParaRPr lang="en-US" sz="1300" dirty="0"/>
          </a:p>
        </p:txBody>
      </p:sp>
      <p:sp>
        <p:nvSpPr>
          <p:cNvPr id="11" name="Text 9"/>
          <p:cNvSpPr txBox="1"/>
          <p:nvPr/>
        </p:nvSpPr>
        <p:spPr>
          <a:xfrm>
            <a:off x="1325880" y="6254496"/>
            <a:ext cx="8229600" cy="320040"/>
          </a:xfrm>
          <a:prstGeom prst="rect">
            <a:avLst/>
          </a:prstGeom>
          <a:noFill/>
          <a:ln/>
        </p:spPr>
        <p:txBody>
          <a:bodyPr wrap="square" lIns="0" tIns="0" rIns="0" bIns="0" rtlCol="0" anchor="ctr"/>
          <a:lstStyle/>
          <a:p>
            <a:pPr algn="l" indent="0" marL="0">
              <a:buNone/>
            </a:pPr>
            <a:r>
              <a:rPr lang="en-US" sz="1000" dirty="0">
                <a:solidFill>
                  <a:srgbClr val="565F89"/>
                </a:solidFill>
                <a:latin typeface="Calibri" pitchFamily="34" charset="0"/>
                <a:ea typeface="Calibri" pitchFamily="34" charset="-122"/>
                <a:cs typeface="Calibri" pitchFamily="34" charset="-120"/>
              </a:rPr>
              <a:t>Prompt &amp; Context Engineering  ·  Context Engineering I — Retrieval</a:t>
            </a:r>
            <a:endParaRPr lang="en-US" sz="1000" dirty="0"/>
          </a:p>
        </p:txBody>
      </p:sp>
      <p:sp>
        <p:nvSpPr>
          <p:cNvPr id="12" name="Text 10"/>
          <p:cNvSpPr txBox="1"/>
          <p:nvPr/>
        </p:nvSpPr>
        <p:spPr>
          <a:xfrm>
            <a:off x="8897112" y="6254496"/>
            <a:ext cx="2743200" cy="320040"/>
          </a:xfrm>
          <a:prstGeom prst="rect">
            <a:avLst/>
          </a:prstGeom>
          <a:noFill/>
          <a:ln/>
        </p:spPr>
        <p:txBody>
          <a:bodyPr wrap="square" lIns="0" tIns="0" rIns="0" bIns="0" rtlCol="0" anchor="ctr"/>
          <a:lstStyle/>
          <a:p>
            <a:pPr algn="r" indent="0" marL="0">
              <a:buNone/>
            </a:pPr>
            <a:r>
              <a:rPr lang="en-US" sz="1000" dirty="0">
                <a:solidFill>
                  <a:srgbClr val="565F89"/>
                </a:solidFill>
                <a:latin typeface="Calibri" pitchFamily="34" charset="0"/>
                <a:ea typeface="Calibri" pitchFamily="34" charset="-122"/>
                <a:cs typeface="Calibri" pitchFamily="34" charset="-120"/>
              </a:rPr>
              <a:t>23 Sept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B26"/>
        </a:solidFill>
      </p:bgPr>
    </p:bg>
    <p:spTree>
      <p:nvGrpSpPr>
        <p:cNvPr id="1" name=""/>
        <p:cNvGrpSpPr/>
        <p:nvPr/>
      </p:nvGrpSpPr>
      <p:grpSpPr>
        <a:xfrm>
          <a:off x="0" y="0"/>
          <a:ext cx="0" cy="0"/>
          <a:chOff x="0" y="0"/>
          <a:chExt cx="0" cy="0"/>
        </a:xfrm>
      </p:grpSpPr>
      <p:sp>
        <p:nvSpPr>
          <p:cNvPr id="2" name="Text 0"/>
          <p:cNvSpPr txBox="1"/>
          <p:nvPr/>
        </p:nvSpPr>
        <p:spPr>
          <a:xfrm>
            <a:off x="548640" y="502920"/>
            <a:ext cx="7315200" cy="320040"/>
          </a:xfrm>
          <a:prstGeom prst="rect">
            <a:avLst/>
          </a:prstGeom>
          <a:noFill/>
          <a:ln/>
        </p:spPr>
        <p:txBody>
          <a:bodyPr wrap="square" lIns="0" tIns="0" rIns="0" bIns="0" rtlCol="0" anchor="t"/>
          <a:lstStyle/>
          <a:p>
            <a:pPr algn="l" indent="0" marL="0">
              <a:buNone/>
            </a:pPr>
            <a:r>
              <a:rPr lang="en-US" sz="1300" b="1" spc="200" kern="0" dirty="0">
                <a:solidFill>
                  <a:srgbClr val="FF9E64"/>
                </a:solidFill>
                <a:latin typeface="Courier New" pitchFamily="34" charset="0"/>
                <a:ea typeface="Courier New" pitchFamily="34" charset="-122"/>
                <a:cs typeface="Courier New" pitchFamily="34" charset="-120"/>
              </a:rPr>
              <a:t>THE PROMPT</a:t>
            </a:r>
            <a:endParaRPr lang="en-US" sz="1300" dirty="0"/>
          </a:p>
        </p:txBody>
      </p:sp>
      <p:sp>
        <p:nvSpPr>
          <p:cNvPr id="3" name="Text 1"/>
          <p:cNvSpPr txBox="1"/>
          <p:nvPr/>
        </p:nvSpPr>
        <p:spPr>
          <a:xfrm>
            <a:off x="548640" y="868680"/>
            <a:ext cx="11091672" cy="1005840"/>
          </a:xfrm>
          <a:prstGeom prst="rect">
            <a:avLst/>
          </a:prstGeom>
          <a:noFill/>
          <a:ln/>
        </p:spPr>
        <p:txBody>
          <a:bodyPr wrap="square" lIns="0" tIns="0" rIns="0" bIns="0" rtlCol="0" anchor="t"/>
          <a:lstStyle/>
          <a:p>
            <a:pPr algn="l" indent="0" marL="0">
              <a:buNone/>
            </a:pPr>
            <a:r>
              <a:rPr lang="en-US" sz="3400" b="1" dirty="0">
                <a:solidFill>
                  <a:srgbClr val="C0CAF5"/>
                </a:solidFill>
                <a:latin typeface="Calibri" pitchFamily="34" charset="0"/>
                <a:ea typeface="Calibri" pitchFamily="34" charset="-122"/>
                <a:cs typeface="Calibri" pitchFamily="34" charset="-120"/>
              </a:rPr>
              <a:t>Grounding, citation, refusal</a:t>
            </a:r>
            <a:endParaRPr lang="en-US" sz="3400" dirty="0"/>
          </a:p>
        </p:txBody>
      </p:sp>
      <p:sp>
        <p:nvSpPr>
          <p:cNvPr id="4" name="Text 2"/>
          <p:cNvSpPr txBox="1"/>
          <p:nvPr/>
        </p:nvSpPr>
        <p:spPr>
          <a:xfrm>
            <a:off x="548640" y="2057400"/>
            <a:ext cx="4709160" cy="3749040"/>
          </a:xfrm>
          <a:prstGeom prst="rect">
            <a:avLst/>
          </a:prstGeom>
          <a:noFill/>
          <a:ln/>
        </p:spPr>
        <p:txBody>
          <a:bodyPr wrap="square" lIns="0" tIns="0" rIns="0" bIns="0" rtlCol="0" anchor="t"/>
          <a:lstStyle/>
          <a:p>
            <a:pPr marL="342900" indent="-342900">
              <a:spcAft>
                <a:spcPts val="300"/>
              </a:spcAft>
              <a:buSzPct val="100000"/>
              <a:buChar char="•"/>
            </a:pPr>
            <a:r>
              <a:rPr lang="en-US" sz="1500" b="1" dirty="0">
                <a:solidFill>
                  <a:srgbClr val="C0CAF5"/>
                </a:solidFill>
                <a:latin typeface="Calibri" pitchFamily="34" charset="0"/>
                <a:ea typeface="Calibri" pitchFamily="34" charset="-122"/>
                <a:cs typeface="Calibri" pitchFamily="34" charset="-120"/>
              </a:rPr>
              <a:t>Answer only from the context</a:t>
            </a:r>
            <a:endParaRPr lang="en-US" sz="1500" dirty="0"/>
          </a:p>
          <a:p>
            <a:pPr lvl="1" indent="0" marL="0">
              <a:spcAft>
                <a:spcPts val="1200"/>
              </a:spcAft>
              <a:buNone/>
            </a:pPr>
            <a:r>
              <a:rPr lang="en-US" sz="1300" dirty="0">
                <a:solidFill>
                  <a:srgbClr val="A9B1D6"/>
                </a:solidFill>
                <a:latin typeface="Calibri" pitchFamily="34" charset="0"/>
                <a:ea typeface="Calibri" pitchFamily="34" charset="-122"/>
                <a:cs typeface="Calibri" pitchFamily="34" charset="-120"/>
              </a:rPr>
              <a:t>Instruct the model to use the retrieved chunks and nothing else. This is what makes the answer traceable.</a:t>
            </a:r>
            <a:endParaRPr lang="en-US" sz="1500" dirty="0"/>
          </a:p>
          <a:p>
            <a:pPr marL="342900" indent="-342900">
              <a:spcAft>
                <a:spcPts val="300"/>
              </a:spcAft>
              <a:buSzPct val="100000"/>
              <a:buChar char="•"/>
            </a:pPr>
            <a:r>
              <a:rPr lang="en-US" sz="1500" b="1" dirty="0">
                <a:solidFill>
                  <a:srgbClr val="C0CAF5"/>
                </a:solidFill>
                <a:latin typeface="Calibri" pitchFamily="34" charset="0"/>
                <a:ea typeface="Calibri" pitchFamily="34" charset="-122"/>
                <a:cs typeface="Calibri" pitchFamily="34" charset="-120"/>
              </a:rPr>
              <a:t>Require citations</a:t>
            </a:r>
            <a:endParaRPr lang="en-US" sz="1500" dirty="0"/>
          </a:p>
          <a:p>
            <a:pPr lvl="1" indent="0" marL="0">
              <a:spcAft>
                <a:spcPts val="1200"/>
              </a:spcAft>
              <a:buNone/>
            </a:pPr>
            <a:r>
              <a:rPr lang="en-US" sz="1300" dirty="0">
                <a:solidFill>
                  <a:srgbClr val="A9B1D6"/>
                </a:solidFill>
                <a:latin typeface="Calibri" pitchFamily="34" charset="0"/>
                <a:ea typeface="Calibri" pitchFamily="34" charset="-122"/>
                <a:cs typeface="Calibri" pitchFamily="34" charset="-120"/>
              </a:rPr>
              <a:t>Ask for [1], [2] references to the chunks. Citations let users verify and make the model stay grounded.</a:t>
            </a:r>
            <a:endParaRPr lang="en-US" sz="1500" dirty="0"/>
          </a:p>
          <a:p>
            <a:pPr marL="342900" indent="-342900">
              <a:spcAft>
                <a:spcPts val="300"/>
              </a:spcAft>
              <a:buSzPct val="100000"/>
              <a:buChar char="•"/>
            </a:pPr>
            <a:r>
              <a:rPr lang="en-US" sz="1500" b="1" dirty="0">
                <a:solidFill>
                  <a:srgbClr val="C0CAF5"/>
                </a:solidFill>
                <a:latin typeface="Calibri" pitchFamily="34" charset="0"/>
                <a:ea typeface="Calibri" pitchFamily="34" charset="-122"/>
                <a:cs typeface="Calibri" pitchFamily="34" charset="-120"/>
              </a:rPr>
              <a:t>Permit 'I don't know'</a:t>
            </a:r>
            <a:endParaRPr lang="en-US" sz="1500" dirty="0"/>
          </a:p>
          <a:p>
            <a:pPr lvl="1" indent="0" marL="0">
              <a:spcAft>
                <a:spcPts val="1200"/>
              </a:spcAft>
              <a:buNone/>
            </a:pPr>
            <a:r>
              <a:rPr lang="en-US" sz="1300" dirty="0">
                <a:solidFill>
                  <a:srgbClr val="A9B1D6"/>
                </a:solidFill>
                <a:latin typeface="Calibri" pitchFamily="34" charset="0"/>
                <a:ea typeface="Calibri" pitchFamily="34" charset="-122"/>
                <a:cs typeface="Calibri" pitchFamily="34" charset="-120"/>
              </a:rPr>
              <a:t>Explicitly allow refusal when the answer isn't in the context. This clause is the strongest anti-hallucination lever you have.</a:t>
            </a:r>
            <a:endParaRPr lang="en-US" sz="1500" dirty="0"/>
          </a:p>
        </p:txBody>
      </p:sp>
      <p:sp>
        <p:nvSpPr>
          <p:cNvPr id="5" name="Shape 3"/>
          <p:cNvSpPr/>
          <p:nvPr/>
        </p:nvSpPr>
        <p:spPr>
          <a:xfrm>
            <a:off x="5532120" y="2057400"/>
            <a:ext cx="6108192" cy="3794760"/>
          </a:xfrm>
          <a:prstGeom prst="roundRect">
            <a:avLst>
              <a:gd name="adj" fmla="val 1446"/>
            </a:avLst>
          </a:prstGeom>
          <a:solidFill>
            <a:srgbClr val="16161E"/>
          </a:solidFill>
          <a:ln w="12700">
            <a:solidFill>
              <a:srgbClr val="2A2E42"/>
            </a:solidFill>
            <a:prstDash val="solid"/>
          </a:ln>
        </p:spPr>
      </p:sp>
      <p:sp>
        <p:nvSpPr>
          <p:cNvPr id="6" name="Text 4"/>
          <p:cNvSpPr txBox="1"/>
          <p:nvPr/>
        </p:nvSpPr>
        <p:spPr>
          <a:xfrm>
            <a:off x="5760720" y="2194560"/>
            <a:ext cx="5650992" cy="320040"/>
          </a:xfrm>
          <a:prstGeom prst="rect">
            <a:avLst/>
          </a:prstGeom>
          <a:noFill/>
          <a:ln/>
        </p:spPr>
        <p:txBody>
          <a:bodyPr wrap="square" lIns="0" tIns="0" rIns="0" bIns="0" rtlCol="0" anchor="t"/>
          <a:lstStyle/>
          <a:p>
            <a:pPr algn="l" indent="0" marL="0">
              <a:buNone/>
            </a:pPr>
            <a:r>
              <a:rPr lang="en-US" sz="1100" dirty="0">
                <a:solidFill>
                  <a:srgbClr val="565F89"/>
                </a:solidFill>
                <a:latin typeface="Courier New" pitchFamily="34" charset="0"/>
                <a:ea typeface="Courier New" pitchFamily="34" charset="-122"/>
                <a:cs typeface="Courier New" pitchFamily="34" charset="-120"/>
              </a:rPr>
              <a:t>grounded QA prompt</a:t>
            </a:r>
            <a:endParaRPr lang="en-US" sz="1100" dirty="0"/>
          </a:p>
        </p:txBody>
      </p:sp>
      <p:sp>
        <p:nvSpPr>
          <p:cNvPr id="7" name="Text 5"/>
          <p:cNvSpPr txBox="1"/>
          <p:nvPr/>
        </p:nvSpPr>
        <p:spPr>
          <a:xfrm>
            <a:off x="5788152" y="2560320"/>
            <a:ext cx="5596128" cy="3108960"/>
          </a:xfrm>
          <a:prstGeom prst="rect">
            <a:avLst/>
          </a:prstGeom>
          <a:noFill/>
          <a:ln/>
        </p:spPr>
        <p:txBody>
          <a:bodyPr wrap="square" lIns="0" tIns="0" rIns="0" bIns="0" rtlCol="0" anchor="t"/>
          <a:lstStyle/>
          <a:p>
            <a:pPr indent="0" marL="0">
              <a:spcAft>
                <a:spcPts val="200"/>
              </a:spcAft>
              <a:buNone/>
            </a:pPr>
            <a:r>
              <a:rPr lang="en-US" sz="1250" dirty="0">
                <a:solidFill>
                  <a:srgbClr val="C0CAF5"/>
                </a:solidFill>
                <a:latin typeface="Courier New" pitchFamily="34" charset="0"/>
                <a:ea typeface="Courier New" pitchFamily="34" charset="-122"/>
                <a:cs typeface="Courier New" pitchFamily="34" charset="-120"/>
              </a:rPr>
              <a:t>Answer using ONLY the context.</a:t>
            </a:r>
            <a:endParaRPr lang="en-US" sz="1250" dirty="0"/>
          </a:p>
          <a:p>
            <a:pPr indent="0" marL="0">
              <a:spcAft>
                <a:spcPts val="200"/>
              </a:spcAft>
              <a:buNone/>
            </a:pPr>
            <a:r>
              <a:rPr lang="en-US" sz="1250" dirty="0">
                <a:solidFill>
                  <a:srgbClr val="C0CAF5"/>
                </a:solidFill>
                <a:latin typeface="Courier New" pitchFamily="34" charset="0"/>
                <a:ea typeface="Courier New" pitchFamily="34" charset="-122"/>
                <a:cs typeface="Courier New" pitchFamily="34" charset="-120"/>
              </a:rPr>
              <a:t>Cite sources as [1], [2].</a:t>
            </a:r>
            <a:endParaRPr lang="en-US" sz="1250" dirty="0"/>
          </a:p>
          <a:p>
            <a:pPr indent="0" marL="0">
              <a:spcAft>
                <a:spcPts val="200"/>
              </a:spcAft>
              <a:buNone/>
            </a:pPr>
            <a:r>
              <a:rPr lang="en-US" sz="1250" dirty="0">
                <a:solidFill>
                  <a:srgbClr val="C0CAF5"/>
                </a:solidFill>
                <a:latin typeface="Courier New" pitchFamily="34" charset="0"/>
                <a:ea typeface="Courier New" pitchFamily="34" charset="-122"/>
                <a:cs typeface="Courier New" pitchFamily="34" charset="-120"/>
              </a:rPr>
              <a:t>If the answer isn't there, say</a:t>
            </a:r>
            <a:endParaRPr lang="en-US" sz="1250" dirty="0"/>
          </a:p>
          <a:p>
            <a:pPr indent="0" marL="0">
              <a:spcAft>
                <a:spcPts val="200"/>
              </a:spcAft>
              <a:buNone/>
            </a:pPr>
            <a:r>
              <a:rPr lang="en-US" sz="1250" dirty="0">
                <a:solidFill>
                  <a:srgbClr val="9ECE6A"/>
                </a:solidFill>
                <a:latin typeface="Courier New" pitchFamily="34" charset="0"/>
                <a:ea typeface="Courier New" pitchFamily="34" charset="-122"/>
                <a:cs typeface="Courier New" pitchFamily="34" charset="-120"/>
              </a:rPr>
              <a:t>"I do not know."</a:t>
            </a:r>
            <a:endParaRPr lang="en-US" sz="1250" dirty="0"/>
          </a:p>
          <a:p>
            <a:pPr indent="0" marL="0">
              <a:spcAft>
                <a:spcPts val="200"/>
              </a:spcAft>
              <a:buNone/>
            </a:pPr>
            <a:r>
              <a:rPr lang="en-US" sz="1250" dirty="0">
                <a:solidFill>
                  <a:srgbClr val="C0CAF5"/>
                </a:solidFill>
                <a:latin typeface="Courier New" pitchFamily="34" charset="0"/>
                <a:ea typeface="Courier New" pitchFamily="34" charset="-122"/>
                <a:cs typeface="Courier New" pitchFamily="34" charset="-120"/>
              </a:rPr>
              <a:t> </a:t>
            </a:r>
            <a:endParaRPr lang="en-US" sz="1250" dirty="0"/>
          </a:p>
          <a:p>
            <a:pPr indent="0" marL="0">
              <a:spcAft>
                <a:spcPts val="200"/>
              </a:spcAft>
              <a:buNone/>
            </a:pPr>
            <a:r>
              <a:rPr lang="en-US" sz="1250" dirty="0">
                <a:solidFill>
                  <a:srgbClr val="FF9E64"/>
                </a:solidFill>
                <a:latin typeface="Courier New" pitchFamily="34" charset="0"/>
                <a:ea typeface="Courier New" pitchFamily="34" charset="-122"/>
                <a:cs typeface="Courier New" pitchFamily="34" charset="-120"/>
              </a:rPr>
              <a:t>Context: {chunks}</a:t>
            </a:r>
            <a:endParaRPr lang="en-US" sz="1250" dirty="0"/>
          </a:p>
          <a:p>
            <a:pPr indent="0" marL="0">
              <a:spcAft>
                <a:spcPts val="200"/>
              </a:spcAft>
              <a:buNone/>
            </a:pPr>
            <a:r>
              <a:rPr lang="en-US" sz="1250" dirty="0">
                <a:solidFill>
                  <a:srgbClr val="FF9E64"/>
                </a:solidFill>
                <a:latin typeface="Courier New" pitchFamily="34" charset="0"/>
                <a:ea typeface="Courier New" pitchFamily="34" charset="-122"/>
                <a:cs typeface="Courier New" pitchFamily="34" charset="-120"/>
              </a:rPr>
              <a:t>Question: {q}</a:t>
            </a:r>
            <a:endParaRPr lang="en-US" sz="1250" dirty="0"/>
          </a:p>
        </p:txBody>
      </p:sp>
      <p:sp>
        <p:nvSpPr>
          <p:cNvPr id="8" name="Shape 6"/>
          <p:cNvSpPr/>
          <p:nvPr/>
        </p:nvSpPr>
        <p:spPr>
          <a:xfrm>
            <a:off x="548640" y="6217920"/>
            <a:ext cx="640080" cy="384048"/>
          </a:xfrm>
          <a:prstGeom prst="roundRect">
            <a:avLst>
              <a:gd name="adj" fmla="val 19048"/>
            </a:avLst>
          </a:prstGeom>
          <a:solidFill>
            <a:srgbClr val="FF9E64"/>
          </a:solidFill>
          <a:ln/>
        </p:spPr>
      </p:sp>
      <p:sp>
        <p:nvSpPr>
          <p:cNvPr id="9" name="Text 7"/>
          <p:cNvSpPr txBox="1"/>
          <p:nvPr/>
        </p:nvSpPr>
        <p:spPr>
          <a:xfrm>
            <a:off x="548640" y="6217920"/>
            <a:ext cx="640080" cy="384048"/>
          </a:xfrm>
          <a:prstGeom prst="rect">
            <a:avLst/>
          </a:prstGeom>
          <a:noFill/>
          <a:ln/>
        </p:spPr>
        <p:txBody>
          <a:bodyPr wrap="square" lIns="0" tIns="0" rIns="0" bIns="0" rtlCol="0" anchor="ctr"/>
          <a:lstStyle/>
          <a:p>
            <a:pPr algn="ctr" indent="0" marL="0">
              <a:buNone/>
            </a:pPr>
            <a:r>
              <a:rPr lang="en-US" sz="1300" b="1" dirty="0">
                <a:solidFill>
                  <a:srgbClr val="1A1B26"/>
                </a:solidFill>
                <a:latin typeface="Courier New" pitchFamily="34" charset="0"/>
                <a:ea typeface="Courier New" pitchFamily="34" charset="-122"/>
                <a:cs typeface="Courier New" pitchFamily="34" charset="-120"/>
              </a:rPr>
              <a:t>S5</a:t>
            </a:r>
            <a:endParaRPr lang="en-US" sz="1300" dirty="0"/>
          </a:p>
        </p:txBody>
      </p:sp>
      <p:sp>
        <p:nvSpPr>
          <p:cNvPr id="10" name="Text 8"/>
          <p:cNvSpPr txBox="1"/>
          <p:nvPr/>
        </p:nvSpPr>
        <p:spPr>
          <a:xfrm>
            <a:off x="1325880" y="6254496"/>
            <a:ext cx="8229600" cy="320040"/>
          </a:xfrm>
          <a:prstGeom prst="rect">
            <a:avLst/>
          </a:prstGeom>
          <a:noFill/>
          <a:ln/>
        </p:spPr>
        <p:txBody>
          <a:bodyPr wrap="square" lIns="0" tIns="0" rIns="0" bIns="0" rtlCol="0" anchor="ctr"/>
          <a:lstStyle/>
          <a:p>
            <a:pPr algn="l" indent="0" marL="0">
              <a:buNone/>
            </a:pPr>
            <a:r>
              <a:rPr lang="en-US" sz="1000" dirty="0">
                <a:solidFill>
                  <a:srgbClr val="565F89"/>
                </a:solidFill>
                <a:latin typeface="Calibri" pitchFamily="34" charset="0"/>
                <a:ea typeface="Calibri" pitchFamily="34" charset="-122"/>
                <a:cs typeface="Calibri" pitchFamily="34" charset="-120"/>
              </a:rPr>
              <a:t>Prompt &amp; Context Engineering  ·  Context Engineering I — Retrieval</a:t>
            </a:r>
            <a:endParaRPr lang="en-US" sz="1000" dirty="0"/>
          </a:p>
        </p:txBody>
      </p:sp>
      <p:sp>
        <p:nvSpPr>
          <p:cNvPr id="11" name="Text 9"/>
          <p:cNvSpPr txBox="1"/>
          <p:nvPr/>
        </p:nvSpPr>
        <p:spPr>
          <a:xfrm>
            <a:off x="8897112" y="6254496"/>
            <a:ext cx="2743200" cy="320040"/>
          </a:xfrm>
          <a:prstGeom prst="rect">
            <a:avLst/>
          </a:prstGeom>
          <a:noFill/>
          <a:ln/>
        </p:spPr>
        <p:txBody>
          <a:bodyPr wrap="square" lIns="0" tIns="0" rIns="0" bIns="0" rtlCol="0" anchor="ctr"/>
          <a:lstStyle/>
          <a:p>
            <a:pPr algn="r" indent="0" marL="0">
              <a:buNone/>
            </a:pPr>
            <a:r>
              <a:rPr lang="en-US" sz="1000" dirty="0">
                <a:solidFill>
                  <a:srgbClr val="565F89"/>
                </a:solidFill>
                <a:latin typeface="Calibri" pitchFamily="34" charset="0"/>
                <a:ea typeface="Calibri" pitchFamily="34" charset="-122"/>
                <a:cs typeface="Calibri" pitchFamily="34" charset="-120"/>
              </a:rPr>
              <a:t>23 Sept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B26"/>
        </a:solidFill>
      </p:bgPr>
    </p:bg>
    <p:spTree>
      <p:nvGrpSpPr>
        <p:cNvPr id="1" name=""/>
        <p:cNvGrpSpPr/>
        <p:nvPr/>
      </p:nvGrpSpPr>
      <p:grpSpPr>
        <a:xfrm>
          <a:off x="0" y="0"/>
          <a:ext cx="0" cy="0"/>
          <a:chOff x="0" y="0"/>
          <a:chExt cx="0" cy="0"/>
        </a:xfrm>
      </p:grpSpPr>
      <p:sp>
        <p:nvSpPr>
          <p:cNvPr id="2" name="Text 0"/>
          <p:cNvSpPr txBox="1"/>
          <p:nvPr/>
        </p:nvSpPr>
        <p:spPr>
          <a:xfrm>
            <a:off x="548640" y="502920"/>
            <a:ext cx="7315200" cy="320040"/>
          </a:xfrm>
          <a:prstGeom prst="rect">
            <a:avLst/>
          </a:prstGeom>
          <a:noFill/>
          <a:ln/>
        </p:spPr>
        <p:txBody>
          <a:bodyPr wrap="square" lIns="0" tIns="0" rIns="0" bIns="0" rtlCol="0" anchor="t"/>
          <a:lstStyle/>
          <a:p>
            <a:pPr algn="l" indent="0" marL="0">
              <a:buNone/>
            </a:pPr>
            <a:r>
              <a:rPr lang="en-US" sz="1300" b="1" spc="200" kern="0" dirty="0">
                <a:solidFill>
                  <a:srgbClr val="FF9E64"/>
                </a:solidFill>
                <a:latin typeface="Courier New" pitchFamily="34" charset="0"/>
                <a:ea typeface="Courier New" pitchFamily="34" charset="-122"/>
                <a:cs typeface="Courier New" pitchFamily="34" charset="-120"/>
              </a:rPr>
              <a:t>THE CATCH</a:t>
            </a:r>
            <a:endParaRPr lang="en-US" sz="1300" dirty="0"/>
          </a:p>
        </p:txBody>
      </p:sp>
      <p:sp>
        <p:nvSpPr>
          <p:cNvPr id="3" name="Text 1"/>
          <p:cNvSpPr txBox="1"/>
          <p:nvPr/>
        </p:nvSpPr>
        <p:spPr>
          <a:xfrm>
            <a:off x="548640" y="868680"/>
            <a:ext cx="11091672" cy="1005840"/>
          </a:xfrm>
          <a:prstGeom prst="rect">
            <a:avLst/>
          </a:prstGeom>
          <a:noFill/>
          <a:ln/>
        </p:spPr>
        <p:txBody>
          <a:bodyPr wrap="square" lIns="0" tIns="0" rIns="0" bIns="0" rtlCol="0" anchor="t"/>
          <a:lstStyle/>
          <a:p>
            <a:pPr algn="l" indent="0" marL="0">
              <a:buNone/>
            </a:pPr>
            <a:r>
              <a:rPr lang="en-US" sz="3400" b="1" dirty="0">
                <a:solidFill>
                  <a:srgbClr val="C0CAF5"/>
                </a:solidFill>
                <a:latin typeface="Calibri" pitchFamily="34" charset="0"/>
                <a:ea typeface="Calibri" pitchFamily="34" charset="-122"/>
                <a:cs typeface="Calibri" pitchFamily="34" charset="-120"/>
              </a:rPr>
              <a:t>Context rot &amp; lost-in-the-middle</a:t>
            </a:r>
            <a:endParaRPr lang="en-US" sz="3400" dirty="0"/>
          </a:p>
        </p:txBody>
      </p:sp>
      <p:sp>
        <p:nvSpPr>
          <p:cNvPr id="4" name="Text 2"/>
          <p:cNvSpPr txBox="1"/>
          <p:nvPr/>
        </p:nvSpPr>
        <p:spPr>
          <a:xfrm>
            <a:off x="548640" y="2011680"/>
            <a:ext cx="6126480" cy="3840480"/>
          </a:xfrm>
          <a:prstGeom prst="rect">
            <a:avLst/>
          </a:prstGeom>
          <a:noFill/>
          <a:ln/>
        </p:spPr>
        <p:txBody>
          <a:bodyPr wrap="square" lIns="0" tIns="0" rIns="0" bIns="0" rtlCol="0" anchor="t"/>
          <a:lstStyle/>
          <a:p>
            <a:pPr marL="342900" indent="-342900">
              <a:spcAft>
                <a:spcPts val="300"/>
              </a:spcAft>
              <a:buSzPct val="100000"/>
              <a:buChar char="•"/>
            </a:pPr>
            <a:r>
              <a:rPr lang="en-US" sz="1600" b="1" dirty="0">
                <a:solidFill>
                  <a:srgbClr val="C0CAF5"/>
                </a:solidFill>
                <a:latin typeface="Calibri" pitchFamily="34" charset="0"/>
                <a:ea typeface="Calibri" pitchFamily="34" charset="-122"/>
                <a:cs typeface="Calibri" pitchFamily="34" charset="-120"/>
              </a:rPr>
              <a:t>More context is not always better</a:t>
            </a:r>
            <a:endParaRPr lang="en-US" sz="1600" dirty="0"/>
          </a:p>
          <a:p>
            <a:pPr lvl="1" indent="0" marL="0">
              <a:spcAft>
                <a:spcPts val="1200"/>
              </a:spcAft>
              <a:buNone/>
            </a:pPr>
            <a:r>
              <a:rPr lang="en-US" sz="1300" dirty="0">
                <a:solidFill>
                  <a:srgbClr val="A9B1D6"/>
                </a:solidFill>
                <a:latin typeface="Calibri" pitchFamily="34" charset="0"/>
                <a:ea typeface="Calibri" pitchFamily="34" charset="-122"/>
                <a:cs typeface="Calibri" pitchFamily="34" charset="-120"/>
              </a:rPr>
              <a:t>Dumping everything in dilutes the signal and can lower answer quality. Retrieval is about relevance, not volume.</a:t>
            </a:r>
            <a:endParaRPr lang="en-US" sz="1600" dirty="0"/>
          </a:p>
          <a:p>
            <a:pPr marL="342900" indent="-342900">
              <a:spcAft>
                <a:spcPts val="300"/>
              </a:spcAft>
              <a:buSzPct val="100000"/>
              <a:buChar char="•"/>
            </a:pPr>
            <a:r>
              <a:rPr lang="en-US" sz="1600" b="1" dirty="0">
                <a:solidFill>
                  <a:srgbClr val="C0CAF5"/>
                </a:solidFill>
                <a:latin typeface="Calibri" pitchFamily="34" charset="0"/>
                <a:ea typeface="Calibri" pitchFamily="34" charset="-122"/>
                <a:cs typeface="Calibri" pitchFamily="34" charset="-120"/>
              </a:rPr>
              <a:t>The middle gets ignored</a:t>
            </a:r>
            <a:endParaRPr lang="en-US" sz="1600" dirty="0"/>
          </a:p>
          <a:p>
            <a:pPr lvl="1" indent="0" marL="0">
              <a:spcAft>
                <a:spcPts val="1200"/>
              </a:spcAft>
              <a:buNone/>
            </a:pPr>
            <a:r>
              <a:rPr lang="en-US" sz="1300" dirty="0">
                <a:solidFill>
                  <a:srgbClr val="A9B1D6"/>
                </a:solidFill>
                <a:latin typeface="Calibri" pitchFamily="34" charset="0"/>
                <a:ea typeface="Calibri" pitchFamily="34" charset="-122"/>
                <a:cs typeface="Calibri" pitchFamily="34" charset="-120"/>
              </a:rPr>
              <a:t>Models attend most to the start and end of a long context; facts buried in the middle are often missed.</a:t>
            </a:r>
            <a:endParaRPr lang="en-US" sz="1600" dirty="0"/>
          </a:p>
          <a:p>
            <a:pPr marL="342900" indent="-342900">
              <a:spcAft>
                <a:spcPts val="300"/>
              </a:spcAft>
              <a:buSzPct val="100000"/>
              <a:buChar char="•"/>
            </a:pPr>
            <a:r>
              <a:rPr lang="en-US" sz="1600" b="1" dirty="0">
                <a:solidFill>
                  <a:srgbClr val="C0CAF5"/>
                </a:solidFill>
                <a:latin typeface="Calibri" pitchFamily="34" charset="0"/>
                <a:ea typeface="Calibri" pitchFamily="34" charset="-122"/>
                <a:cs typeface="Calibri" pitchFamily="34" charset="-120"/>
              </a:rPr>
              <a:t>Irrelevant chunks actively distract</a:t>
            </a:r>
            <a:endParaRPr lang="en-US" sz="1600" dirty="0"/>
          </a:p>
          <a:p>
            <a:pPr lvl="1" indent="0" marL="0">
              <a:spcAft>
                <a:spcPts val="1200"/>
              </a:spcAft>
              <a:buNone/>
            </a:pPr>
            <a:r>
              <a:rPr lang="en-US" sz="1300" dirty="0">
                <a:solidFill>
                  <a:srgbClr val="A9B1D6"/>
                </a:solidFill>
                <a:latin typeface="Calibri" pitchFamily="34" charset="0"/>
                <a:ea typeface="Calibri" pitchFamily="34" charset="-122"/>
                <a:cs typeface="Calibri" pitchFamily="34" charset="-120"/>
              </a:rPr>
              <a:t>A wrong-but-plausible retrieved passage can pull the answer off course. Precision beats recall here.</a:t>
            </a:r>
            <a:endParaRPr lang="en-US" sz="1600" dirty="0"/>
          </a:p>
        </p:txBody>
      </p:sp>
      <p:sp>
        <p:nvSpPr>
          <p:cNvPr id="5" name="Shape 3"/>
          <p:cNvSpPr/>
          <p:nvPr/>
        </p:nvSpPr>
        <p:spPr>
          <a:xfrm>
            <a:off x="6995160" y="2148840"/>
            <a:ext cx="4645152" cy="3383280"/>
          </a:xfrm>
          <a:prstGeom prst="roundRect">
            <a:avLst>
              <a:gd name="adj" fmla="val 2432"/>
            </a:avLst>
          </a:prstGeom>
          <a:solidFill>
            <a:srgbClr val="24283B"/>
          </a:solidFill>
          <a:ln w="15875">
            <a:solidFill>
              <a:srgbClr val="FF9E64"/>
            </a:solidFill>
            <a:prstDash val="solid"/>
          </a:ln>
        </p:spPr>
      </p:sp>
      <p:sp>
        <p:nvSpPr>
          <p:cNvPr id="6" name="Shape 4"/>
          <p:cNvSpPr/>
          <p:nvPr/>
        </p:nvSpPr>
        <p:spPr>
          <a:xfrm>
            <a:off x="7269480" y="2423160"/>
            <a:ext cx="457200" cy="457200"/>
          </a:xfrm>
          <a:prstGeom prst="ellipse">
            <a:avLst/>
          </a:prstGeom>
          <a:solidFill>
            <a:srgbClr val="FF9E64"/>
          </a:solidFill>
          <a:ln/>
        </p:spPr>
      </p:sp>
      <p:sp>
        <p:nvSpPr>
          <p:cNvPr id="7" name="Text 5"/>
          <p:cNvSpPr txBox="1"/>
          <p:nvPr/>
        </p:nvSpPr>
        <p:spPr>
          <a:xfrm>
            <a:off x="7818120" y="2450592"/>
            <a:ext cx="3657600" cy="411480"/>
          </a:xfrm>
          <a:prstGeom prst="rect">
            <a:avLst/>
          </a:prstGeom>
          <a:noFill/>
          <a:ln/>
        </p:spPr>
        <p:txBody>
          <a:bodyPr wrap="square" lIns="0" tIns="0" rIns="0" bIns="0" rtlCol="0" anchor="ctr"/>
          <a:lstStyle/>
          <a:p>
            <a:pPr algn="l" indent="0" marL="0">
              <a:buNone/>
            </a:pPr>
            <a:r>
              <a:rPr lang="en-US" sz="1300" b="1" spc="100" kern="0" dirty="0">
                <a:solidFill>
                  <a:srgbClr val="FF9E64"/>
                </a:solidFill>
                <a:latin typeface="Courier New" pitchFamily="34" charset="0"/>
                <a:ea typeface="Courier New" pitchFamily="34" charset="-122"/>
                <a:cs typeface="Courier New" pitchFamily="34" charset="-120"/>
              </a:rPr>
              <a:t>MEASURE IT</a:t>
            </a:r>
            <a:endParaRPr lang="en-US" sz="1300" dirty="0"/>
          </a:p>
        </p:txBody>
      </p:sp>
      <p:sp>
        <p:nvSpPr>
          <p:cNvPr id="8" name="Text 6"/>
          <p:cNvSpPr txBox="1"/>
          <p:nvPr/>
        </p:nvSpPr>
        <p:spPr>
          <a:xfrm>
            <a:off x="7269480" y="3108960"/>
            <a:ext cx="4160520" cy="2286000"/>
          </a:xfrm>
          <a:prstGeom prst="rect">
            <a:avLst/>
          </a:prstGeom>
          <a:noFill/>
          <a:ln/>
        </p:spPr>
        <p:txBody>
          <a:bodyPr wrap="square" lIns="0" tIns="0" rIns="0" bIns="0" rtlCol="0" anchor="t"/>
          <a:lstStyle/>
          <a:p>
            <a:pPr algn="l" indent="0" marL="0">
              <a:buNone/>
            </a:pPr>
            <a:r>
              <a:rPr lang="en-US" sz="1600" dirty="0">
                <a:solidFill>
                  <a:srgbClr val="C0CAF5"/>
                </a:solidFill>
                <a:latin typeface="Calibri" pitchFamily="34" charset="0"/>
                <a:ea typeface="Calibri" pitchFamily="34" charset="-122"/>
                <a:cs typeface="Calibri" pitchFamily="34" charset="-120"/>
              </a:rPr>
              <a:t>Retrieval quality is an eval problem too — score grounding and refusal with your S3 harness instead of eyeballing a few answers.</a:t>
            </a:r>
            <a:endParaRPr lang="en-US" sz="1600" dirty="0"/>
          </a:p>
        </p:txBody>
      </p:sp>
      <p:sp>
        <p:nvSpPr>
          <p:cNvPr id="9" name="Shape 7"/>
          <p:cNvSpPr/>
          <p:nvPr/>
        </p:nvSpPr>
        <p:spPr>
          <a:xfrm>
            <a:off x="548640" y="6217920"/>
            <a:ext cx="640080" cy="384048"/>
          </a:xfrm>
          <a:prstGeom prst="roundRect">
            <a:avLst>
              <a:gd name="adj" fmla="val 19048"/>
            </a:avLst>
          </a:prstGeom>
          <a:solidFill>
            <a:srgbClr val="FF9E64"/>
          </a:solidFill>
          <a:ln/>
        </p:spPr>
      </p:sp>
      <p:sp>
        <p:nvSpPr>
          <p:cNvPr id="10" name="Text 8"/>
          <p:cNvSpPr txBox="1"/>
          <p:nvPr/>
        </p:nvSpPr>
        <p:spPr>
          <a:xfrm>
            <a:off x="548640" y="6217920"/>
            <a:ext cx="640080" cy="384048"/>
          </a:xfrm>
          <a:prstGeom prst="rect">
            <a:avLst/>
          </a:prstGeom>
          <a:noFill/>
          <a:ln/>
        </p:spPr>
        <p:txBody>
          <a:bodyPr wrap="square" lIns="0" tIns="0" rIns="0" bIns="0" rtlCol="0" anchor="ctr"/>
          <a:lstStyle/>
          <a:p>
            <a:pPr algn="ctr" indent="0" marL="0">
              <a:buNone/>
            </a:pPr>
            <a:r>
              <a:rPr lang="en-US" sz="1300" b="1" dirty="0">
                <a:solidFill>
                  <a:srgbClr val="1A1B26"/>
                </a:solidFill>
                <a:latin typeface="Courier New" pitchFamily="34" charset="0"/>
                <a:ea typeface="Courier New" pitchFamily="34" charset="-122"/>
                <a:cs typeface="Courier New" pitchFamily="34" charset="-120"/>
              </a:rPr>
              <a:t>S5</a:t>
            </a:r>
            <a:endParaRPr lang="en-US" sz="1300" dirty="0"/>
          </a:p>
        </p:txBody>
      </p:sp>
      <p:sp>
        <p:nvSpPr>
          <p:cNvPr id="11" name="Text 9"/>
          <p:cNvSpPr txBox="1"/>
          <p:nvPr/>
        </p:nvSpPr>
        <p:spPr>
          <a:xfrm>
            <a:off x="1325880" y="6254496"/>
            <a:ext cx="8229600" cy="320040"/>
          </a:xfrm>
          <a:prstGeom prst="rect">
            <a:avLst/>
          </a:prstGeom>
          <a:noFill/>
          <a:ln/>
        </p:spPr>
        <p:txBody>
          <a:bodyPr wrap="square" lIns="0" tIns="0" rIns="0" bIns="0" rtlCol="0" anchor="ctr"/>
          <a:lstStyle/>
          <a:p>
            <a:pPr algn="l" indent="0" marL="0">
              <a:buNone/>
            </a:pPr>
            <a:r>
              <a:rPr lang="en-US" sz="1000" dirty="0">
                <a:solidFill>
                  <a:srgbClr val="565F89"/>
                </a:solidFill>
                <a:latin typeface="Calibri" pitchFamily="34" charset="0"/>
                <a:ea typeface="Calibri" pitchFamily="34" charset="-122"/>
                <a:cs typeface="Calibri" pitchFamily="34" charset="-120"/>
              </a:rPr>
              <a:t>Prompt &amp; Context Engineering  ·  Context Engineering I — Retrieval</a:t>
            </a:r>
            <a:endParaRPr lang="en-US" sz="1000" dirty="0"/>
          </a:p>
        </p:txBody>
      </p:sp>
      <p:sp>
        <p:nvSpPr>
          <p:cNvPr id="12" name="Text 10"/>
          <p:cNvSpPr txBox="1"/>
          <p:nvPr/>
        </p:nvSpPr>
        <p:spPr>
          <a:xfrm>
            <a:off x="8897112" y="6254496"/>
            <a:ext cx="2743200" cy="320040"/>
          </a:xfrm>
          <a:prstGeom prst="rect">
            <a:avLst/>
          </a:prstGeom>
          <a:noFill/>
          <a:ln/>
        </p:spPr>
        <p:txBody>
          <a:bodyPr wrap="square" lIns="0" tIns="0" rIns="0" bIns="0" rtlCol="0" anchor="ctr"/>
          <a:lstStyle/>
          <a:p>
            <a:pPr algn="r" indent="0" marL="0">
              <a:buNone/>
            </a:pPr>
            <a:r>
              <a:rPr lang="en-US" sz="1000" dirty="0">
                <a:solidFill>
                  <a:srgbClr val="565F89"/>
                </a:solidFill>
                <a:latin typeface="Calibri" pitchFamily="34" charset="0"/>
                <a:ea typeface="Calibri" pitchFamily="34" charset="-122"/>
                <a:cs typeface="Calibri" pitchFamily="34" charset="-120"/>
              </a:rPr>
              <a:t>23 Sept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B26"/>
        </a:solidFill>
      </p:bgPr>
    </p:bg>
    <p:spTree>
      <p:nvGrpSpPr>
        <p:cNvPr id="1" name=""/>
        <p:cNvGrpSpPr/>
        <p:nvPr/>
      </p:nvGrpSpPr>
      <p:grpSpPr>
        <a:xfrm>
          <a:off x="0" y="0"/>
          <a:ext cx="0" cy="0"/>
          <a:chOff x="0" y="0"/>
          <a:chExt cx="0" cy="0"/>
        </a:xfrm>
      </p:grpSpPr>
      <p:sp>
        <p:nvSpPr>
          <p:cNvPr id="2" name="Text 0"/>
          <p:cNvSpPr txBox="1"/>
          <p:nvPr/>
        </p:nvSpPr>
        <p:spPr>
          <a:xfrm>
            <a:off x="548640" y="502920"/>
            <a:ext cx="7315200" cy="320040"/>
          </a:xfrm>
          <a:prstGeom prst="rect">
            <a:avLst/>
          </a:prstGeom>
          <a:noFill/>
          <a:ln/>
        </p:spPr>
        <p:txBody>
          <a:bodyPr wrap="square" lIns="0" tIns="0" rIns="0" bIns="0" rtlCol="0" anchor="t"/>
          <a:lstStyle/>
          <a:p>
            <a:pPr algn="l" indent="0" marL="0">
              <a:buNone/>
            </a:pPr>
            <a:r>
              <a:rPr lang="en-US" sz="1300" b="1" spc="200" kern="0" dirty="0">
                <a:solidFill>
                  <a:srgbClr val="FF9E64"/>
                </a:solidFill>
                <a:latin typeface="Courier New" pitchFamily="34" charset="0"/>
                <a:ea typeface="Courier New" pitchFamily="34" charset="-122"/>
                <a:cs typeface="Courier New" pitchFamily="34" charset="-120"/>
              </a:rPr>
              <a:t>QUALITY</a:t>
            </a:r>
            <a:endParaRPr lang="en-US" sz="1300" dirty="0"/>
          </a:p>
        </p:txBody>
      </p:sp>
      <p:sp>
        <p:nvSpPr>
          <p:cNvPr id="3" name="Text 1"/>
          <p:cNvSpPr txBox="1"/>
          <p:nvPr/>
        </p:nvSpPr>
        <p:spPr>
          <a:xfrm>
            <a:off x="548640" y="868680"/>
            <a:ext cx="11091672" cy="1005840"/>
          </a:xfrm>
          <a:prstGeom prst="rect">
            <a:avLst/>
          </a:prstGeom>
          <a:noFill/>
          <a:ln/>
        </p:spPr>
        <p:txBody>
          <a:bodyPr wrap="square" lIns="0" tIns="0" rIns="0" bIns="0" rtlCol="0" anchor="t"/>
          <a:lstStyle/>
          <a:p>
            <a:pPr algn="l" indent="0" marL="0">
              <a:buNone/>
            </a:pPr>
            <a:r>
              <a:rPr lang="en-US" sz="3400" b="1" dirty="0">
                <a:solidFill>
                  <a:srgbClr val="C0CAF5"/>
                </a:solidFill>
                <a:latin typeface="Calibri" pitchFamily="34" charset="0"/>
                <a:ea typeface="Calibri" pitchFamily="34" charset="-122"/>
                <a:cs typeface="Calibri" pitchFamily="34" charset="-120"/>
              </a:rPr>
              <a:t>RAG failure modes &amp; fixes</a:t>
            </a:r>
            <a:endParaRPr lang="en-US" sz="3400" dirty="0"/>
          </a:p>
        </p:txBody>
      </p:sp>
      <p:sp>
        <p:nvSpPr>
          <p:cNvPr id="4" name="Shape 2"/>
          <p:cNvSpPr/>
          <p:nvPr/>
        </p:nvSpPr>
        <p:spPr>
          <a:xfrm>
            <a:off x="548640" y="2103120"/>
            <a:ext cx="5394960" cy="1810512"/>
          </a:xfrm>
          <a:prstGeom prst="roundRect">
            <a:avLst>
              <a:gd name="adj" fmla="val 4545"/>
            </a:avLst>
          </a:prstGeom>
          <a:solidFill>
            <a:srgbClr val="24283B"/>
          </a:solidFill>
          <a:ln w="12700">
            <a:solidFill>
              <a:srgbClr val="2A2E42"/>
            </a:solidFill>
            <a:prstDash val="solid"/>
          </a:ln>
        </p:spPr>
      </p:sp>
      <p:sp>
        <p:nvSpPr>
          <p:cNvPr id="5" name="Shape 3"/>
          <p:cNvSpPr/>
          <p:nvPr/>
        </p:nvSpPr>
        <p:spPr>
          <a:xfrm>
            <a:off x="822960" y="2395728"/>
            <a:ext cx="548640" cy="548640"/>
          </a:xfrm>
          <a:prstGeom prst="ellipse">
            <a:avLst/>
          </a:prstGeom>
          <a:solidFill>
            <a:srgbClr val="FF9E64"/>
          </a:solidFill>
          <a:ln/>
        </p:spPr>
      </p:sp>
      <p:sp>
        <p:nvSpPr>
          <p:cNvPr id="6" name="Text 4"/>
          <p:cNvSpPr txBox="1"/>
          <p:nvPr/>
        </p:nvSpPr>
        <p:spPr>
          <a:xfrm>
            <a:off x="822960" y="2395728"/>
            <a:ext cx="548640" cy="548640"/>
          </a:xfrm>
          <a:prstGeom prst="rect">
            <a:avLst/>
          </a:prstGeom>
          <a:noFill/>
          <a:ln/>
        </p:spPr>
        <p:txBody>
          <a:bodyPr wrap="square" lIns="0" tIns="0" rIns="0" bIns="0" rtlCol="0" anchor="ctr"/>
          <a:lstStyle/>
          <a:p>
            <a:pPr algn="ctr" indent="0" marL="0">
              <a:buNone/>
            </a:pPr>
            <a:r>
              <a:rPr lang="en-US" sz="1900" b="1" dirty="0">
                <a:solidFill>
                  <a:srgbClr val="1A1B26"/>
                </a:solidFill>
                <a:latin typeface="Courier New" pitchFamily="34" charset="0"/>
                <a:ea typeface="Courier New" pitchFamily="34" charset="-122"/>
                <a:cs typeface="Courier New" pitchFamily="34" charset="-120"/>
              </a:rPr>
              <a:t>✂</a:t>
            </a:r>
            <a:endParaRPr lang="en-US" sz="1900" dirty="0"/>
          </a:p>
        </p:txBody>
      </p:sp>
      <p:sp>
        <p:nvSpPr>
          <p:cNvPr id="7" name="Text 5"/>
          <p:cNvSpPr txBox="1"/>
          <p:nvPr/>
        </p:nvSpPr>
        <p:spPr>
          <a:xfrm>
            <a:off x="1508760" y="2359152"/>
            <a:ext cx="4206240" cy="548640"/>
          </a:xfrm>
          <a:prstGeom prst="rect">
            <a:avLst/>
          </a:prstGeom>
          <a:noFill/>
          <a:ln/>
        </p:spPr>
        <p:txBody>
          <a:bodyPr wrap="square" lIns="0" tIns="0" rIns="0" bIns="0" rtlCol="0" anchor="ctr"/>
          <a:lstStyle/>
          <a:p>
            <a:pPr algn="l" indent="0" marL="0">
              <a:buNone/>
            </a:pPr>
            <a:r>
              <a:rPr lang="en-US" sz="1700" b="1" dirty="0">
                <a:solidFill>
                  <a:srgbClr val="C0CAF5"/>
                </a:solidFill>
                <a:latin typeface="Calibri" pitchFamily="34" charset="0"/>
                <a:ea typeface="Calibri" pitchFamily="34" charset="-122"/>
                <a:cs typeface="Calibri" pitchFamily="34" charset="-120"/>
              </a:rPr>
              <a:t>Bad chunks</a:t>
            </a:r>
            <a:endParaRPr lang="en-US" sz="1700" dirty="0"/>
          </a:p>
        </p:txBody>
      </p:sp>
      <p:sp>
        <p:nvSpPr>
          <p:cNvPr id="8" name="Text 6"/>
          <p:cNvSpPr txBox="1"/>
          <p:nvPr/>
        </p:nvSpPr>
        <p:spPr>
          <a:xfrm>
            <a:off x="822960" y="3017520"/>
            <a:ext cx="4846320" cy="822960"/>
          </a:xfrm>
          <a:prstGeom prst="rect">
            <a:avLst/>
          </a:prstGeom>
          <a:noFill/>
          <a:ln/>
        </p:spPr>
        <p:txBody>
          <a:bodyPr wrap="square" lIns="0" tIns="0" rIns="0" bIns="0" rtlCol="0" anchor="t"/>
          <a:lstStyle/>
          <a:p>
            <a:pPr algn="l" indent="0" marL="0">
              <a:buNone/>
            </a:pPr>
            <a:r>
              <a:rPr lang="en-US" sz="1300" dirty="0">
                <a:solidFill>
                  <a:srgbClr val="A9B1D6"/>
                </a:solidFill>
                <a:latin typeface="Calibri" pitchFamily="34" charset="0"/>
                <a:ea typeface="Calibri" pitchFamily="34" charset="-122"/>
                <a:cs typeface="Calibri" pitchFamily="34" charset="-120"/>
              </a:rPr>
              <a:t>Answers split across chunk boundaries. Fix by tuning size/overlap and splitting on structure, not fixed length.</a:t>
            </a:r>
            <a:endParaRPr lang="en-US" sz="1300" dirty="0"/>
          </a:p>
        </p:txBody>
      </p:sp>
      <p:sp>
        <p:nvSpPr>
          <p:cNvPr id="9" name="Shape 7"/>
          <p:cNvSpPr/>
          <p:nvPr/>
        </p:nvSpPr>
        <p:spPr>
          <a:xfrm>
            <a:off x="6245352" y="2103120"/>
            <a:ext cx="5394960" cy="1810512"/>
          </a:xfrm>
          <a:prstGeom prst="roundRect">
            <a:avLst>
              <a:gd name="adj" fmla="val 4545"/>
            </a:avLst>
          </a:prstGeom>
          <a:solidFill>
            <a:srgbClr val="24283B"/>
          </a:solidFill>
          <a:ln w="12700">
            <a:solidFill>
              <a:srgbClr val="2A2E42"/>
            </a:solidFill>
            <a:prstDash val="solid"/>
          </a:ln>
        </p:spPr>
      </p:sp>
      <p:sp>
        <p:nvSpPr>
          <p:cNvPr id="10" name="Shape 8"/>
          <p:cNvSpPr/>
          <p:nvPr/>
        </p:nvSpPr>
        <p:spPr>
          <a:xfrm>
            <a:off x="6519672" y="2395728"/>
            <a:ext cx="548640" cy="548640"/>
          </a:xfrm>
          <a:prstGeom prst="ellipse">
            <a:avLst/>
          </a:prstGeom>
          <a:solidFill>
            <a:srgbClr val="9ECE6A"/>
          </a:solidFill>
          <a:ln/>
        </p:spPr>
      </p:sp>
      <p:sp>
        <p:nvSpPr>
          <p:cNvPr id="11" name="Text 9"/>
          <p:cNvSpPr txBox="1"/>
          <p:nvPr/>
        </p:nvSpPr>
        <p:spPr>
          <a:xfrm>
            <a:off x="6519672" y="2395728"/>
            <a:ext cx="548640" cy="548640"/>
          </a:xfrm>
          <a:prstGeom prst="rect">
            <a:avLst/>
          </a:prstGeom>
          <a:noFill/>
          <a:ln/>
        </p:spPr>
        <p:txBody>
          <a:bodyPr wrap="square" lIns="0" tIns="0" rIns="0" bIns="0" rtlCol="0" anchor="ctr"/>
          <a:lstStyle/>
          <a:p>
            <a:pPr algn="ctr" indent="0" marL="0">
              <a:buNone/>
            </a:pPr>
            <a:r>
              <a:rPr lang="en-US" sz="1900" b="1" dirty="0">
                <a:solidFill>
                  <a:srgbClr val="1A1B26"/>
                </a:solidFill>
                <a:latin typeface="Courier New" pitchFamily="34" charset="0"/>
                <a:ea typeface="Courier New" pitchFamily="34" charset="-122"/>
                <a:cs typeface="Courier New" pitchFamily="34" charset="-120"/>
              </a:rPr>
              <a:t>?</a:t>
            </a:r>
            <a:endParaRPr lang="en-US" sz="1900" dirty="0"/>
          </a:p>
        </p:txBody>
      </p:sp>
      <p:sp>
        <p:nvSpPr>
          <p:cNvPr id="12" name="Text 10"/>
          <p:cNvSpPr txBox="1"/>
          <p:nvPr/>
        </p:nvSpPr>
        <p:spPr>
          <a:xfrm>
            <a:off x="7205472" y="2359152"/>
            <a:ext cx="4206240" cy="548640"/>
          </a:xfrm>
          <a:prstGeom prst="rect">
            <a:avLst/>
          </a:prstGeom>
          <a:noFill/>
          <a:ln/>
        </p:spPr>
        <p:txBody>
          <a:bodyPr wrap="square" lIns="0" tIns="0" rIns="0" bIns="0" rtlCol="0" anchor="ctr"/>
          <a:lstStyle/>
          <a:p>
            <a:pPr algn="l" indent="0" marL="0">
              <a:buNone/>
            </a:pPr>
            <a:r>
              <a:rPr lang="en-US" sz="1700" b="1" dirty="0">
                <a:solidFill>
                  <a:srgbClr val="C0CAF5"/>
                </a:solidFill>
                <a:latin typeface="Calibri" pitchFamily="34" charset="0"/>
                <a:ea typeface="Calibri" pitchFamily="34" charset="-122"/>
                <a:cs typeface="Calibri" pitchFamily="34" charset="-120"/>
              </a:rPr>
              <a:t>Wrong retrieval</a:t>
            </a:r>
            <a:endParaRPr lang="en-US" sz="1700" dirty="0"/>
          </a:p>
        </p:txBody>
      </p:sp>
      <p:sp>
        <p:nvSpPr>
          <p:cNvPr id="13" name="Text 11"/>
          <p:cNvSpPr txBox="1"/>
          <p:nvPr/>
        </p:nvSpPr>
        <p:spPr>
          <a:xfrm>
            <a:off x="6519672" y="3017520"/>
            <a:ext cx="4846320" cy="822960"/>
          </a:xfrm>
          <a:prstGeom prst="rect">
            <a:avLst/>
          </a:prstGeom>
          <a:noFill/>
          <a:ln/>
        </p:spPr>
        <p:txBody>
          <a:bodyPr wrap="square" lIns="0" tIns="0" rIns="0" bIns="0" rtlCol="0" anchor="t"/>
          <a:lstStyle/>
          <a:p>
            <a:pPr algn="l" indent="0" marL="0">
              <a:buNone/>
            </a:pPr>
            <a:r>
              <a:rPr lang="en-US" sz="1300" dirty="0">
                <a:solidFill>
                  <a:srgbClr val="A9B1D6"/>
                </a:solidFill>
                <a:latin typeface="Calibri" pitchFamily="34" charset="0"/>
                <a:ea typeface="Calibri" pitchFamily="34" charset="-122"/>
                <a:cs typeface="Calibri" pitchFamily="34" charset="-120"/>
              </a:rPr>
              <a:t>The right passage never gets fetched. Try query rewriting or hybrid keyword + vector search.</a:t>
            </a:r>
            <a:endParaRPr lang="en-US" sz="1300" dirty="0"/>
          </a:p>
        </p:txBody>
      </p:sp>
      <p:sp>
        <p:nvSpPr>
          <p:cNvPr id="14" name="Shape 12"/>
          <p:cNvSpPr/>
          <p:nvPr/>
        </p:nvSpPr>
        <p:spPr>
          <a:xfrm>
            <a:off x="548640" y="4114800"/>
            <a:ext cx="5394960" cy="1810512"/>
          </a:xfrm>
          <a:prstGeom prst="roundRect">
            <a:avLst>
              <a:gd name="adj" fmla="val 4545"/>
            </a:avLst>
          </a:prstGeom>
          <a:solidFill>
            <a:srgbClr val="24283B"/>
          </a:solidFill>
          <a:ln w="12700">
            <a:solidFill>
              <a:srgbClr val="2A2E42"/>
            </a:solidFill>
            <a:prstDash val="solid"/>
          </a:ln>
        </p:spPr>
      </p:sp>
      <p:sp>
        <p:nvSpPr>
          <p:cNvPr id="15" name="Shape 13"/>
          <p:cNvSpPr/>
          <p:nvPr/>
        </p:nvSpPr>
        <p:spPr>
          <a:xfrm>
            <a:off x="822960" y="4407408"/>
            <a:ext cx="548640" cy="548640"/>
          </a:xfrm>
          <a:prstGeom prst="ellipse">
            <a:avLst/>
          </a:prstGeom>
          <a:solidFill>
            <a:srgbClr val="FF9E64"/>
          </a:solidFill>
          <a:ln/>
        </p:spPr>
      </p:sp>
      <p:sp>
        <p:nvSpPr>
          <p:cNvPr id="16" name="Text 14"/>
          <p:cNvSpPr txBox="1"/>
          <p:nvPr/>
        </p:nvSpPr>
        <p:spPr>
          <a:xfrm>
            <a:off x="822960" y="4407408"/>
            <a:ext cx="548640" cy="548640"/>
          </a:xfrm>
          <a:prstGeom prst="rect">
            <a:avLst/>
          </a:prstGeom>
          <a:noFill/>
          <a:ln/>
        </p:spPr>
        <p:txBody>
          <a:bodyPr wrap="square" lIns="0" tIns="0" rIns="0" bIns="0" rtlCol="0" anchor="ctr"/>
          <a:lstStyle/>
          <a:p>
            <a:pPr algn="ctr" indent="0" marL="0">
              <a:buNone/>
            </a:pPr>
            <a:r>
              <a:rPr lang="en-US" sz="1900" b="1" dirty="0">
                <a:solidFill>
                  <a:srgbClr val="1A1B26"/>
                </a:solidFill>
                <a:latin typeface="Courier New" pitchFamily="34" charset="0"/>
                <a:ea typeface="Courier New" pitchFamily="34" charset="-122"/>
                <a:cs typeface="Courier New" pitchFamily="34" charset="-120"/>
              </a:rPr>
              <a:t>✎</a:t>
            </a:r>
            <a:endParaRPr lang="en-US" sz="1900" dirty="0"/>
          </a:p>
        </p:txBody>
      </p:sp>
      <p:sp>
        <p:nvSpPr>
          <p:cNvPr id="17" name="Text 15"/>
          <p:cNvSpPr txBox="1"/>
          <p:nvPr/>
        </p:nvSpPr>
        <p:spPr>
          <a:xfrm>
            <a:off x="1508760" y="4370832"/>
            <a:ext cx="4206240" cy="548640"/>
          </a:xfrm>
          <a:prstGeom prst="rect">
            <a:avLst/>
          </a:prstGeom>
          <a:noFill/>
          <a:ln/>
        </p:spPr>
        <p:txBody>
          <a:bodyPr wrap="square" lIns="0" tIns="0" rIns="0" bIns="0" rtlCol="0" anchor="ctr"/>
          <a:lstStyle/>
          <a:p>
            <a:pPr algn="l" indent="0" marL="0">
              <a:buNone/>
            </a:pPr>
            <a:r>
              <a:rPr lang="en-US" sz="1700" b="1" dirty="0">
                <a:solidFill>
                  <a:srgbClr val="C0CAF5"/>
                </a:solidFill>
                <a:latin typeface="Calibri" pitchFamily="34" charset="0"/>
                <a:ea typeface="Calibri" pitchFamily="34" charset="-122"/>
                <a:cs typeface="Calibri" pitchFamily="34" charset="-120"/>
              </a:rPr>
              <a:t>Ignored context</a:t>
            </a:r>
            <a:endParaRPr lang="en-US" sz="1700" dirty="0"/>
          </a:p>
        </p:txBody>
      </p:sp>
      <p:sp>
        <p:nvSpPr>
          <p:cNvPr id="18" name="Text 16"/>
          <p:cNvSpPr txBox="1"/>
          <p:nvPr/>
        </p:nvSpPr>
        <p:spPr>
          <a:xfrm>
            <a:off x="822960" y="5029200"/>
            <a:ext cx="4846320" cy="822960"/>
          </a:xfrm>
          <a:prstGeom prst="rect">
            <a:avLst/>
          </a:prstGeom>
          <a:noFill/>
          <a:ln/>
        </p:spPr>
        <p:txBody>
          <a:bodyPr wrap="square" lIns="0" tIns="0" rIns="0" bIns="0" rtlCol="0" anchor="t"/>
          <a:lstStyle/>
          <a:p>
            <a:pPr algn="l" indent="0" marL="0">
              <a:buNone/>
            </a:pPr>
            <a:r>
              <a:rPr lang="en-US" sz="1300" dirty="0">
                <a:solidFill>
                  <a:srgbClr val="A9B1D6"/>
                </a:solidFill>
                <a:latin typeface="Calibri" pitchFamily="34" charset="0"/>
                <a:ea typeface="Calibri" pitchFamily="34" charset="-122"/>
                <a:cs typeface="Calibri" pitchFamily="34" charset="-120"/>
              </a:rPr>
              <a:t>The model answers from priors, not the chunks. Restate the grounding rule and place context near the question.</a:t>
            </a:r>
            <a:endParaRPr lang="en-US" sz="1300" dirty="0"/>
          </a:p>
        </p:txBody>
      </p:sp>
      <p:sp>
        <p:nvSpPr>
          <p:cNvPr id="19" name="Shape 17"/>
          <p:cNvSpPr/>
          <p:nvPr/>
        </p:nvSpPr>
        <p:spPr>
          <a:xfrm>
            <a:off x="6245352" y="4114800"/>
            <a:ext cx="5394960" cy="1810512"/>
          </a:xfrm>
          <a:prstGeom prst="roundRect">
            <a:avLst>
              <a:gd name="adj" fmla="val 4545"/>
            </a:avLst>
          </a:prstGeom>
          <a:solidFill>
            <a:srgbClr val="24283B"/>
          </a:solidFill>
          <a:ln w="12700">
            <a:solidFill>
              <a:srgbClr val="2A2E42"/>
            </a:solidFill>
            <a:prstDash val="solid"/>
          </a:ln>
        </p:spPr>
      </p:sp>
      <p:sp>
        <p:nvSpPr>
          <p:cNvPr id="20" name="Shape 18"/>
          <p:cNvSpPr/>
          <p:nvPr/>
        </p:nvSpPr>
        <p:spPr>
          <a:xfrm>
            <a:off x="6519672" y="4407408"/>
            <a:ext cx="548640" cy="548640"/>
          </a:xfrm>
          <a:prstGeom prst="ellipse">
            <a:avLst/>
          </a:prstGeom>
          <a:solidFill>
            <a:srgbClr val="7DCFFF"/>
          </a:solidFill>
          <a:ln/>
        </p:spPr>
      </p:sp>
      <p:sp>
        <p:nvSpPr>
          <p:cNvPr id="21" name="Text 19"/>
          <p:cNvSpPr txBox="1"/>
          <p:nvPr/>
        </p:nvSpPr>
        <p:spPr>
          <a:xfrm>
            <a:off x="6519672" y="4407408"/>
            <a:ext cx="548640" cy="548640"/>
          </a:xfrm>
          <a:prstGeom prst="rect">
            <a:avLst/>
          </a:prstGeom>
          <a:noFill/>
          <a:ln/>
        </p:spPr>
        <p:txBody>
          <a:bodyPr wrap="square" lIns="0" tIns="0" rIns="0" bIns="0" rtlCol="0" anchor="ctr"/>
          <a:lstStyle/>
          <a:p>
            <a:pPr algn="ctr" indent="0" marL="0">
              <a:buNone/>
            </a:pPr>
            <a:r>
              <a:rPr lang="en-US" sz="1900" b="1" dirty="0">
                <a:solidFill>
                  <a:srgbClr val="1A1B26"/>
                </a:solidFill>
                <a:latin typeface="Courier New" pitchFamily="34" charset="0"/>
                <a:ea typeface="Courier New" pitchFamily="34" charset="-122"/>
                <a:cs typeface="Courier New" pitchFamily="34" charset="-120"/>
              </a:rPr>
              <a:t>◎</a:t>
            </a:r>
            <a:endParaRPr lang="en-US" sz="1900" dirty="0"/>
          </a:p>
        </p:txBody>
      </p:sp>
      <p:sp>
        <p:nvSpPr>
          <p:cNvPr id="22" name="Text 20"/>
          <p:cNvSpPr txBox="1"/>
          <p:nvPr/>
        </p:nvSpPr>
        <p:spPr>
          <a:xfrm>
            <a:off x="7205472" y="4370832"/>
            <a:ext cx="4206240" cy="548640"/>
          </a:xfrm>
          <a:prstGeom prst="rect">
            <a:avLst/>
          </a:prstGeom>
          <a:noFill/>
          <a:ln/>
        </p:spPr>
        <p:txBody>
          <a:bodyPr wrap="square" lIns="0" tIns="0" rIns="0" bIns="0" rtlCol="0" anchor="ctr"/>
          <a:lstStyle/>
          <a:p>
            <a:pPr algn="l" indent="0" marL="0">
              <a:buNone/>
            </a:pPr>
            <a:r>
              <a:rPr lang="en-US" sz="1700" b="1" dirty="0">
                <a:solidFill>
                  <a:srgbClr val="C0CAF5"/>
                </a:solidFill>
                <a:latin typeface="Calibri" pitchFamily="34" charset="0"/>
                <a:ea typeface="Calibri" pitchFamily="34" charset="-122"/>
                <a:cs typeface="Calibri" pitchFamily="34" charset="-120"/>
              </a:rPr>
              <a:t>No citations</a:t>
            </a:r>
            <a:endParaRPr lang="en-US" sz="1700" dirty="0"/>
          </a:p>
        </p:txBody>
      </p:sp>
      <p:sp>
        <p:nvSpPr>
          <p:cNvPr id="23" name="Text 21"/>
          <p:cNvSpPr txBox="1"/>
          <p:nvPr/>
        </p:nvSpPr>
        <p:spPr>
          <a:xfrm>
            <a:off x="6519672" y="5029200"/>
            <a:ext cx="4846320" cy="822960"/>
          </a:xfrm>
          <a:prstGeom prst="rect">
            <a:avLst/>
          </a:prstGeom>
          <a:noFill/>
          <a:ln/>
        </p:spPr>
        <p:txBody>
          <a:bodyPr wrap="square" lIns="0" tIns="0" rIns="0" bIns="0" rtlCol="0" anchor="t"/>
          <a:lstStyle/>
          <a:p>
            <a:pPr algn="l" indent="0" marL="0">
              <a:buNone/>
            </a:pPr>
            <a:r>
              <a:rPr lang="en-US" sz="1300" dirty="0">
                <a:solidFill>
                  <a:srgbClr val="A9B1D6"/>
                </a:solidFill>
                <a:latin typeface="Calibri" pitchFamily="34" charset="0"/>
                <a:ea typeface="Calibri" pitchFamily="34" charset="-122"/>
                <a:cs typeface="Calibri" pitchFamily="34" charset="-120"/>
              </a:rPr>
              <a:t>Unverifiable answers. Number the chunks and require inline [n] references in the output.</a:t>
            </a:r>
            <a:endParaRPr lang="en-US" sz="1300" dirty="0"/>
          </a:p>
        </p:txBody>
      </p:sp>
      <p:sp>
        <p:nvSpPr>
          <p:cNvPr id="24" name="Shape 22"/>
          <p:cNvSpPr/>
          <p:nvPr/>
        </p:nvSpPr>
        <p:spPr>
          <a:xfrm>
            <a:off x="548640" y="6217920"/>
            <a:ext cx="640080" cy="384048"/>
          </a:xfrm>
          <a:prstGeom prst="roundRect">
            <a:avLst>
              <a:gd name="adj" fmla="val 19048"/>
            </a:avLst>
          </a:prstGeom>
          <a:solidFill>
            <a:srgbClr val="FF9E64"/>
          </a:solidFill>
          <a:ln/>
        </p:spPr>
      </p:sp>
      <p:sp>
        <p:nvSpPr>
          <p:cNvPr id="25" name="Text 23"/>
          <p:cNvSpPr txBox="1"/>
          <p:nvPr/>
        </p:nvSpPr>
        <p:spPr>
          <a:xfrm>
            <a:off x="548640" y="6217920"/>
            <a:ext cx="640080" cy="384048"/>
          </a:xfrm>
          <a:prstGeom prst="rect">
            <a:avLst/>
          </a:prstGeom>
          <a:noFill/>
          <a:ln/>
        </p:spPr>
        <p:txBody>
          <a:bodyPr wrap="square" lIns="0" tIns="0" rIns="0" bIns="0" rtlCol="0" anchor="ctr"/>
          <a:lstStyle/>
          <a:p>
            <a:pPr algn="ctr" indent="0" marL="0">
              <a:buNone/>
            </a:pPr>
            <a:r>
              <a:rPr lang="en-US" sz="1300" b="1" dirty="0">
                <a:solidFill>
                  <a:srgbClr val="1A1B26"/>
                </a:solidFill>
                <a:latin typeface="Courier New" pitchFamily="34" charset="0"/>
                <a:ea typeface="Courier New" pitchFamily="34" charset="-122"/>
                <a:cs typeface="Courier New" pitchFamily="34" charset="-120"/>
              </a:rPr>
              <a:t>S5</a:t>
            </a:r>
            <a:endParaRPr lang="en-US" sz="1300" dirty="0"/>
          </a:p>
        </p:txBody>
      </p:sp>
      <p:sp>
        <p:nvSpPr>
          <p:cNvPr id="26" name="Text 24"/>
          <p:cNvSpPr txBox="1"/>
          <p:nvPr/>
        </p:nvSpPr>
        <p:spPr>
          <a:xfrm>
            <a:off x="1325880" y="6254496"/>
            <a:ext cx="8229600" cy="320040"/>
          </a:xfrm>
          <a:prstGeom prst="rect">
            <a:avLst/>
          </a:prstGeom>
          <a:noFill/>
          <a:ln/>
        </p:spPr>
        <p:txBody>
          <a:bodyPr wrap="square" lIns="0" tIns="0" rIns="0" bIns="0" rtlCol="0" anchor="ctr"/>
          <a:lstStyle/>
          <a:p>
            <a:pPr algn="l" indent="0" marL="0">
              <a:buNone/>
            </a:pPr>
            <a:r>
              <a:rPr lang="en-US" sz="1000" dirty="0">
                <a:solidFill>
                  <a:srgbClr val="565F89"/>
                </a:solidFill>
                <a:latin typeface="Calibri" pitchFamily="34" charset="0"/>
                <a:ea typeface="Calibri" pitchFamily="34" charset="-122"/>
                <a:cs typeface="Calibri" pitchFamily="34" charset="-120"/>
              </a:rPr>
              <a:t>Prompt &amp; Context Engineering  ·  Context Engineering I — Retrieval</a:t>
            </a:r>
            <a:endParaRPr lang="en-US" sz="1000" dirty="0"/>
          </a:p>
        </p:txBody>
      </p:sp>
      <p:sp>
        <p:nvSpPr>
          <p:cNvPr id="27" name="Text 25"/>
          <p:cNvSpPr txBox="1"/>
          <p:nvPr/>
        </p:nvSpPr>
        <p:spPr>
          <a:xfrm>
            <a:off x="8897112" y="6254496"/>
            <a:ext cx="2743200" cy="320040"/>
          </a:xfrm>
          <a:prstGeom prst="rect">
            <a:avLst/>
          </a:prstGeom>
          <a:noFill/>
          <a:ln/>
        </p:spPr>
        <p:txBody>
          <a:bodyPr wrap="square" lIns="0" tIns="0" rIns="0" bIns="0" rtlCol="0" anchor="ctr"/>
          <a:lstStyle/>
          <a:p>
            <a:pPr algn="r" indent="0" marL="0">
              <a:buNone/>
            </a:pPr>
            <a:r>
              <a:rPr lang="en-US" sz="1000" dirty="0">
                <a:solidFill>
                  <a:srgbClr val="565F89"/>
                </a:solidFill>
                <a:latin typeface="Calibri" pitchFamily="34" charset="0"/>
                <a:ea typeface="Calibri" pitchFamily="34" charset="-122"/>
                <a:cs typeface="Calibri" pitchFamily="34" charset="-120"/>
              </a:rPr>
              <a:t>23 Sept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B26"/>
        </a:solidFill>
      </p:bgPr>
    </p:bg>
    <p:spTree>
      <p:nvGrpSpPr>
        <p:cNvPr id="1" name=""/>
        <p:cNvGrpSpPr/>
        <p:nvPr/>
      </p:nvGrpSpPr>
      <p:grpSpPr>
        <a:xfrm>
          <a:off x="0" y="0"/>
          <a:ext cx="0" cy="0"/>
          <a:chOff x="0" y="0"/>
          <a:chExt cx="0" cy="0"/>
        </a:xfrm>
      </p:grpSpPr>
      <p:sp>
        <p:nvSpPr>
          <p:cNvPr id="2" name="Text 0"/>
          <p:cNvSpPr txBox="1"/>
          <p:nvPr/>
        </p:nvSpPr>
        <p:spPr>
          <a:xfrm>
            <a:off x="548640" y="502920"/>
            <a:ext cx="7315200" cy="320040"/>
          </a:xfrm>
          <a:prstGeom prst="rect">
            <a:avLst/>
          </a:prstGeom>
          <a:noFill/>
          <a:ln/>
        </p:spPr>
        <p:txBody>
          <a:bodyPr wrap="square" lIns="0" tIns="0" rIns="0" bIns="0" rtlCol="0" anchor="t"/>
          <a:lstStyle/>
          <a:p>
            <a:pPr algn="l" indent="0" marL="0">
              <a:buNone/>
            </a:pPr>
            <a:r>
              <a:rPr lang="en-US" sz="1300" b="1" spc="200" kern="0" dirty="0">
                <a:solidFill>
                  <a:srgbClr val="FF9E64"/>
                </a:solidFill>
                <a:latin typeface="Courier New" pitchFamily="34" charset="0"/>
                <a:ea typeface="Courier New" pitchFamily="34" charset="-122"/>
                <a:cs typeface="Courier New" pitchFamily="34" charset="-120"/>
              </a:rPr>
              <a:t>HANDS-ON LAB</a:t>
            </a:r>
            <a:endParaRPr lang="en-US" sz="1300" dirty="0"/>
          </a:p>
        </p:txBody>
      </p:sp>
      <p:sp>
        <p:nvSpPr>
          <p:cNvPr id="3" name="Text 1"/>
          <p:cNvSpPr txBox="1"/>
          <p:nvPr/>
        </p:nvSpPr>
        <p:spPr>
          <a:xfrm>
            <a:off x="548640" y="868680"/>
            <a:ext cx="11091672" cy="1005840"/>
          </a:xfrm>
          <a:prstGeom prst="rect">
            <a:avLst/>
          </a:prstGeom>
          <a:noFill/>
          <a:ln/>
        </p:spPr>
        <p:txBody>
          <a:bodyPr wrap="square" lIns="0" tIns="0" rIns="0" bIns="0" rtlCol="0" anchor="t"/>
          <a:lstStyle/>
          <a:p>
            <a:pPr algn="l" indent="0" marL="0">
              <a:buNone/>
            </a:pPr>
            <a:r>
              <a:rPr lang="en-US" sz="3400" b="1" dirty="0">
                <a:solidFill>
                  <a:srgbClr val="C0CAF5"/>
                </a:solidFill>
                <a:latin typeface="Calibri" pitchFamily="34" charset="0"/>
                <a:ea typeface="Calibri" pitchFamily="34" charset="-122"/>
                <a:cs typeface="Calibri" pitchFamily="34" charset="-120"/>
              </a:rPr>
              <a:t>Lab — Grounded, measured RAG</a:t>
            </a:r>
            <a:endParaRPr lang="en-US" sz="3400" dirty="0"/>
          </a:p>
        </p:txBody>
      </p:sp>
      <p:sp>
        <p:nvSpPr>
          <p:cNvPr id="4" name="Shape 2"/>
          <p:cNvSpPr/>
          <p:nvPr/>
        </p:nvSpPr>
        <p:spPr>
          <a:xfrm>
            <a:off x="548640" y="1554480"/>
            <a:ext cx="2377440" cy="384048"/>
          </a:xfrm>
          <a:prstGeom prst="roundRect">
            <a:avLst>
              <a:gd name="adj" fmla="val 19048"/>
            </a:avLst>
          </a:prstGeom>
          <a:solidFill>
            <a:srgbClr val="FF9E64"/>
          </a:solidFill>
          <a:ln/>
        </p:spPr>
      </p:sp>
      <p:sp>
        <p:nvSpPr>
          <p:cNvPr id="5" name="Text 3"/>
          <p:cNvSpPr txBox="1"/>
          <p:nvPr/>
        </p:nvSpPr>
        <p:spPr>
          <a:xfrm>
            <a:off x="548640" y="1554480"/>
            <a:ext cx="2377440" cy="384048"/>
          </a:xfrm>
          <a:prstGeom prst="rect">
            <a:avLst/>
          </a:prstGeom>
          <a:noFill/>
          <a:ln/>
        </p:spPr>
        <p:txBody>
          <a:bodyPr wrap="square" lIns="0" tIns="0" rIns="0" bIns="0" rtlCol="0" anchor="ctr"/>
          <a:lstStyle/>
          <a:p>
            <a:pPr algn="ctr" indent="0" marL="0">
              <a:buNone/>
            </a:pPr>
            <a:r>
              <a:rPr lang="en-US" sz="1300" b="1" dirty="0">
                <a:solidFill>
                  <a:srgbClr val="1A1B26"/>
                </a:solidFill>
                <a:latin typeface="Courier New" pitchFamily="34" charset="0"/>
                <a:ea typeface="Courier New" pitchFamily="34" charset="-122"/>
                <a:cs typeface="Courier New" pitchFamily="34" charset="-120"/>
              </a:rPr>
              <a:t>LOCAL · OLLAMA</a:t>
            </a:r>
            <a:endParaRPr lang="en-US" sz="1300" dirty="0"/>
          </a:p>
        </p:txBody>
      </p:sp>
      <p:sp>
        <p:nvSpPr>
          <p:cNvPr id="6" name="Text 4"/>
          <p:cNvSpPr txBox="1"/>
          <p:nvPr/>
        </p:nvSpPr>
        <p:spPr>
          <a:xfrm>
            <a:off x="3108960" y="1572768"/>
            <a:ext cx="8229600" cy="384048"/>
          </a:xfrm>
          <a:prstGeom prst="rect">
            <a:avLst/>
          </a:prstGeom>
          <a:noFill/>
          <a:ln/>
        </p:spPr>
        <p:txBody>
          <a:bodyPr wrap="square" lIns="0" tIns="0" rIns="0" bIns="0" rtlCol="0" anchor="ctr"/>
          <a:lstStyle/>
          <a:p>
            <a:pPr algn="l" indent="0" marL="0">
              <a:buNone/>
            </a:pPr>
            <a:r>
              <a:rPr lang="en-US" sz="1300" dirty="0">
                <a:solidFill>
                  <a:srgbClr val="565F89"/>
                </a:solidFill>
                <a:latin typeface="Courier New" pitchFamily="34" charset="0"/>
                <a:ea typeface="Courier New" pitchFamily="34" charset="-122"/>
                <a:cs typeface="Courier New" pitchFamily="34" charset="-120"/>
              </a:rPr>
              <a:t>prompt-engineering-course/05_context_engineering</a:t>
            </a:r>
            <a:endParaRPr lang="en-US" sz="1300" dirty="0"/>
          </a:p>
        </p:txBody>
      </p:sp>
      <p:sp>
        <p:nvSpPr>
          <p:cNvPr id="7" name="Shape 5"/>
          <p:cNvSpPr/>
          <p:nvPr/>
        </p:nvSpPr>
        <p:spPr>
          <a:xfrm>
            <a:off x="548640" y="2194560"/>
            <a:ext cx="7040880" cy="3657600"/>
          </a:xfrm>
          <a:prstGeom prst="roundRect">
            <a:avLst>
              <a:gd name="adj" fmla="val 2250"/>
            </a:avLst>
          </a:prstGeom>
          <a:solidFill>
            <a:srgbClr val="24283B"/>
          </a:solidFill>
          <a:ln w="12700">
            <a:solidFill>
              <a:srgbClr val="2A2E42"/>
            </a:solidFill>
            <a:prstDash val="solid"/>
          </a:ln>
        </p:spPr>
      </p:sp>
      <p:sp>
        <p:nvSpPr>
          <p:cNvPr id="8" name="Text 6"/>
          <p:cNvSpPr txBox="1"/>
          <p:nvPr/>
        </p:nvSpPr>
        <p:spPr>
          <a:xfrm>
            <a:off x="868680" y="2395728"/>
            <a:ext cx="5486400" cy="320040"/>
          </a:xfrm>
          <a:prstGeom prst="rect">
            <a:avLst/>
          </a:prstGeom>
          <a:noFill/>
          <a:ln/>
        </p:spPr>
        <p:txBody>
          <a:bodyPr wrap="square" lIns="0" tIns="0" rIns="0" bIns="0" rtlCol="0" anchor="t"/>
          <a:lstStyle/>
          <a:p>
            <a:pPr algn="l" indent="0" marL="0">
              <a:buNone/>
            </a:pPr>
            <a:r>
              <a:rPr lang="en-US" sz="1200" b="1" spc="200" kern="0" dirty="0">
                <a:solidFill>
                  <a:srgbClr val="565F89"/>
                </a:solidFill>
                <a:latin typeface="Courier New" pitchFamily="34" charset="0"/>
                <a:ea typeface="Courier New" pitchFamily="34" charset="-122"/>
                <a:cs typeface="Courier New" pitchFamily="34" charset="-120"/>
              </a:rPr>
              <a:t>TASKS</a:t>
            </a:r>
            <a:endParaRPr lang="en-US" sz="1200" dirty="0"/>
          </a:p>
        </p:txBody>
      </p:sp>
      <p:sp>
        <p:nvSpPr>
          <p:cNvPr id="9" name="Text 7"/>
          <p:cNvSpPr txBox="1"/>
          <p:nvPr/>
        </p:nvSpPr>
        <p:spPr>
          <a:xfrm>
            <a:off x="868680" y="2788920"/>
            <a:ext cx="6400800" cy="2926080"/>
          </a:xfrm>
          <a:prstGeom prst="rect">
            <a:avLst/>
          </a:prstGeom>
          <a:noFill/>
          <a:ln/>
        </p:spPr>
        <p:txBody>
          <a:bodyPr wrap="square" lIns="0" tIns="0" rIns="0" bIns="0" rtlCol="0" anchor="t"/>
          <a:lstStyle/>
          <a:p>
            <a:pPr marL="342900" indent="-342900">
              <a:spcAft>
                <a:spcPts val="1100"/>
              </a:spcAft>
              <a:buSzPct val="100000"/>
              <a:buFont typeface="+mj-lt"/>
              <a:buAutoNum type="arabicPeriod" startAt="1"/>
            </a:pPr>
            <a:r>
              <a:rPr lang="en-US" sz="1500" dirty="0">
                <a:solidFill>
                  <a:srgbClr val="A9B1D6"/>
                </a:solidFill>
                <a:latin typeface="Calibri" pitchFamily="34" charset="0"/>
                <a:ea typeface="Calibri" pitchFamily="34" charset="-122"/>
                <a:cs typeface="Calibri" pitchFamily="34" charset="-120"/>
              </a:rPr>
              <a:t>Keep API keys in .env, never commit them (the Git touch-in)</a:t>
            </a:r>
            <a:endParaRPr lang="en-US" sz="1500" dirty="0"/>
          </a:p>
          <a:p>
            <a:pPr marL="342900" indent="-342900">
              <a:spcAft>
                <a:spcPts val="1100"/>
              </a:spcAft>
              <a:buSzPct val="100000"/>
              <a:buFont typeface="+mj-lt"/>
              <a:buAutoNum type="arabicPeriod" startAt="1"/>
            </a:pPr>
            <a:r>
              <a:rPr lang="en-US" sz="1500" dirty="0">
                <a:solidFill>
                  <a:srgbClr val="A9B1D6"/>
                </a:solidFill>
                <a:latin typeface="Calibri" pitchFamily="34" charset="0"/>
                <a:ea typeface="Calibri" pitchFamily="34" charset="-122"/>
                <a:cs typeface="Calibri" pitchFamily="34" charset="-120"/>
              </a:rPr>
              <a:t>Index a small document set with local embeddings</a:t>
            </a:r>
            <a:endParaRPr lang="en-US" sz="1500" dirty="0"/>
          </a:p>
          <a:p>
            <a:pPr marL="342900" indent="-342900">
              <a:spcAft>
                <a:spcPts val="1100"/>
              </a:spcAft>
              <a:buSzPct val="100000"/>
              <a:buFont typeface="+mj-lt"/>
              <a:buAutoNum type="arabicPeriod" startAt="1"/>
            </a:pPr>
            <a:r>
              <a:rPr lang="en-US" sz="1500" dirty="0">
                <a:solidFill>
                  <a:srgbClr val="A9B1D6"/>
                </a:solidFill>
                <a:latin typeface="Calibri" pitchFamily="34" charset="0"/>
                <a:ea typeface="Calibri" pitchFamily="34" charset="-122"/>
                <a:cs typeface="Calibri" pitchFamily="34" charset="-120"/>
              </a:rPr>
              <a:t>Write a grounded prompt that cites sources and can refuse</a:t>
            </a:r>
            <a:endParaRPr lang="en-US" sz="1500" dirty="0"/>
          </a:p>
          <a:p>
            <a:pPr marL="342900" indent="-342900">
              <a:spcAft>
                <a:spcPts val="1100"/>
              </a:spcAft>
              <a:buSzPct val="100000"/>
              <a:buFont typeface="+mj-lt"/>
              <a:buAutoNum type="arabicPeriod" startAt="1"/>
            </a:pPr>
            <a:r>
              <a:rPr lang="en-US" sz="1500" dirty="0">
                <a:solidFill>
                  <a:srgbClr val="A9B1D6"/>
                </a:solidFill>
                <a:latin typeface="Calibri" pitchFamily="34" charset="0"/>
                <a:ea typeface="Calibri" pitchFamily="34" charset="-122"/>
                <a:cs typeface="Calibri" pitchFamily="34" charset="-120"/>
              </a:rPr>
              <a:t>Score grounding and refusal on a small eval set</a:t>
            </a:r>
            <a:endParaRPr lang="en-US" sz="1500" dirty="0"/>
          </a:p>
        </p:txBody>
      </p:sp>
      <p:sp>
        <p:nvSpPr>
          <p:cNvPr id="10" name="Shape 8"/>
          <p:cNvSpPr/>
          <p:nvPr/>
        </p:nvSpPr>
        <p:spPr>
          <a:xfrm>
            <a:off x="7818120" y="2194560"/>
            <a:ext cx="3822192" cy="3657600"/>
          </a:xfrm>
          <a:prstGeom prst="roundRect">
            <a:avLst>
              <a:gd name="adj" fmla="val 2250"/>
            </a:avLst>
          </a:prstGeom>
          <a:solidFill>
            <a:srgbClr val="24283B"/>
          </a:solidFill>
          <a:ln w="15875">
            <a:solidFill>
              <a:srgbClr val="FF9E64"/>
            </a:solidFill>
            <a:prstDash val="solid"/>
          </a:ln>
        </p:spPr>
      </p:sp>
      <p:sp>
        <p:nvSpPr>
          <p:cNvPr id="11" name="Shape 9"/>
          <p:cNvSpPr/>
          <p:nvPr/>
        </p:nvSpPr>
        <p:spPr>
          <a:xfrm>
            <a:off x="8092440" y="2468880"/>
            <a:ext cx="457200" cy="457200"/>
          </a:xfrm>
          <a:prstGeom prst="ellipse">
            <a:avLst/>
          </a:prstGeom>
          <a:solidFill>
            <a:srgbClr val="FF9E64"/>
          </a:solidFill>
          <a:ln/>
        </p:spPr>
      </p:sp>
      <p:sp>
        <p:nvSpPr>
          <p:cNvPr id="12" name="Text 10"/>
          <p:cNvSpPr txBox="1"/>
          <p:nvPr/>
        </p:nvSpPr>
        <p:spPr>
          <a:xfrm>
            <a:off x="8092440" y="2468880"/>
            <a:ext cx="457200" cy="457200"/>
          </a:xfrm>
          <a:prstGeom prst="rect">
            <a:avLst/>
          </a:prstGeom>
          <a:noFill/>
          <a:ln/>
        </p:spPr>
        <p:txBody>
          <a:bodyPr wrap="square" lIns="0" tIns="0" rIns="0" bIns="0" rtlCol="0" anchor="ctr"/>
          <a:lstStyle/>
          <a:p>
            <a:pPr algn="ctr" indent="0" marL="0">
              <a:buNone/>
            </a:pPr>
            <a:r>
              <a:rPr lang="en-US" sz="2000" b="1" dirty="0">
                <a:solidFill>
                  <a:srgbClr val="1A1B26"/>
                </a:solidFill>
                <a:latin typeface="Calibri" pitchFamily="34" charset="0"/>
                <a:ea typeface="Calibri" pitchFamily="34" charset="-122"/>
                <a:cs typeface="Calibri" pitchFamily="34" charset="-120"/>
              </a:rPr>
              <a:t>↳</a:t>
            </a:r>
            <a:endParaRPr lang="en-US" sz="2000" dirty="0"/>
          </a:p>
        </p:txBody>
      </p:sp>
      <p:sp>
        <p:nvSpPr>
          <p:cNvPr id="13" name="Text 11"/>
          <p:cNvSpPr txBox="1"/>
          <p:nvPr/>
        </p:nvSpPr>
        <p:spPr>
          <a:xfrm>
            <a:off x="8686800" y="2487168"/>
            <a:ext cx="2743200" cy="411480"/>
          </a:xfrm>
          <a:prstGeom prst="rect">
            <a:avLst/>
          </a:prstGeom>
          <a:noFill/>
          <a:ln/>
        </p:spPr>
        <p:txBody>
          <a:bodyPr wrap="square" lIns="0" tIns="0" rIns="0" bIns="0" rtlCol="0" anchor="ctr"/>
          <a:lstStyle/>
          <a:p>
            <a:pPr algn="l" indent="0" marL="0">
              <a:buNone/>
            </a:pPr>
            <a:r>
              <a:rPr lang="en-US" sz="1200" b="1" dirty="0">
                <a:solidFill>
                  <a:srgbClr val="FF9E64"/>
                </a:solidFill>
                <a:latin typeface="Courier New" pitchFamily="34" charset="0"/>
                <a:ea typeface="Courier New" pitchFamily="34" charset="-122"/>
                <a:cs typeface="Courier New" pitchFamily="34" charset="-120"/>
              </a:rPr>
              <a:t>DELIVERABLE</a:t>
            </a:r>
            <a:endParaRPr lang="en-US" sz="1200" dirty="0"/>
          </a:p>
        </p:txBody>
      </p:sp>
      <p:sp>
        <p:nvSpPr>
          <p:cNvPr id="14" name="Text 12"/>
          <p:cNvSpPr txBox="1"/>
          <p:nvPr/>
        </p:nvSpPr>
        <p:spPr>
          <a:xfrm>
            <a:off x="8092440" y="3154680"/>
            <a:ext cx="3291840" cy="2560320"/>
          </a:xfrm>
          <a:prstGeom prst="rect">
            <a:avLst/>
          </a:prstGeom>
          <a:noFill/>
          <a:ln/>
        </p:spPr>
        <p:txBody>
          <a:bodyPr wrap="square" lIns="0" tIns="0" rIns="0" bIns="0" rtlCol="0" anchor="t"/>
          <a:lstStyle/>
          <a:p>
            <a:pPr algn="l" indent="0" marL="0">
              <a:buNone/>
            </a:pPr>
            <a:r>
              <a:rPr lang="en-US" sz="1500" dirty="0">
                <a:solidFill>
                  <a:srgbClr val="C0CAF5"/>
                </a:solidFill>
                <a:latin typeface="Calibri" pitchFamily="34" charset="0"/>
                <a:ea typeface="Calibri" pitchFamily="34" charset="-122"/>
                <a:cs typeface="Calibri" pitchFamily="34" charset="-120"/>
              </a:rPr>
              <a:t>An offline RAG notebook that cites its sources, refuses when the answer is absent, and reports a grounding score.</a:t>
            </a:r>
            <a:endParaRPr lang="en-US" sz="1500" dirty="0"/>
          </a:p>
        </p:txBody>
      </p:sp>
      <p:sp>
        <p:nvSpPr>
          <p:cNvPr id="15" name="Shape 13"/>
          <p:cNvSpPr/>
          <p:nvPr/>
        </p:nvSpPr>
        <p:spPr>
          <a:xfrm>
            <a:off x="548640" y="6217920"/>
            <a:ext cx="640080" cy="384048"/>
          </a:xfrm>
          <a:prstGeom prst="roundRect">
            <a:avLst>
              <a:gd name="adj" fmla="val 19048"/>
            </a:avLst>
          </a:prstGeom>
          <a:solidFill>
            <a:srgbClr val="FF9E64"/>
          </a:solidFill>
          <a:ln/>
        </p:spPr>
      </p:sp>
      <p:sp>
        <p:nvSpPr>
          <p:cNvPr id="16" name="Text 14"/>
          <p:cNvSpPr txBox="1"/>
          <p:nvPr/>
        </p:nvSpPr>
        <p:spPr>
          <a:xfrm>
            <a:off x="548640" y="6217920"/>
            <a:ext cx="640080" cy="384048"/>
          </a:xfrm>
          <a:prstGeom prst="rect">
            <a:avLst/>
          </a:prstGeom>
          <a:noFill/>
          <a:ln/>
        </p:spPr>
        <p:txBody>
          <a:bodyPr wrap="square" lIns="0" tIns="0" rIns="0" bIns="0" rtlCol="0" anchor="ctr"/>
          <a:lstStyle/>
          <a:p>
            <a:pPr algn="ctr" indent="0" marL="0">
              <a:buNone/>
            </a:pPr>
            <a:r>
              <a:rPr lang="en-US" sz="1300" b="1" dirty="0">
                <a:solidFill>
                  <a:srgbClr val="1A1B26"/>
                </a:solidFill>
                <a:latin typeface="Courier New" pitchFamily="34" charset="0"/>
                <a:ea typeface="Courier New" pitchFamily="34" charset="-122"/>
                <a:cs typeface="Courier New" pitchFamily="34" charset="-120"/>
              </a:rPr>
              <a:t>S5</a:t>
            </a:r>
            <a:endParaRPr lang="en-US" sz="1300" dirty="0"/>
          </a:p>
        </p:txBody>
      </p:sp>
      <p:sp>
        <p:nvSpPr>
          <p:cNvPr id="17" name="Text 15"/>
          <p:cNvSpPr txBox="1"/>
          <p:nvPr/>
        </p:nvSpPr>
        <p:spPr>
          <a:xfrm>
            <a:off x="1325880" y="6254496"/>
            <a:ext cx="8229600" cy="320040"/>
          </a:xfrm>
          <a:prstGeom prst="rect">
            <a:avLst/>
          </a:prstGeom>
          <a:noFill/>
          <a:ln/>
        </p:spPr>
        <p:txBody>
          <a:bodyPr wrap="square" lIns="0" tIns="0" rIns="0" bIns="0" rtlCol="0" anchor="ctr"/>
          <a:lstStyle/>
          <a:p>
            <a:pPr algn="l" indent="0" marL="0">
              <a:buNone/>
            </a:pPr>
            <a:r>
              <a:rPr lang="en-US" sz="1000" dirty="0">
                <a:solidFill>
                  <a:srgbClr val="565F89"/>
                </a:solidFill>
                <a:latin typeface="Calibri" pitchFamily="34" charset="0"/>
                <a:ea typeface="Calibri" pitchFamily="34" charset="-122"/>
                <a:cs typeface="Calibri" pitchFamily="34" charset="-120"/>
              </a:rPr>
              <a:t>Prompt &amp; Context Engineering  ·  Context Engineering I — Retrieval</a:t>
            </a:r>
            <a:endParaRPr lang="en-US" sz="1000" dirty="0"/>
          </a:p>
        </p:txBody>
      </p:sp>
      <p:sp>
        <p:nvSpPr>
          <p:cNvPr id="18" name="Text 16"/>
          <p:cNvSpPr txBox="1"/>
          <p:nvPr/>
        </p:nvSpPr>
        <p:spPr>
          <a:xfrm>
            <a:off x="8897112" y="6254496"/>
            <a:ext cx="2743200" cy="320040"/>
          </a:xfrm>
          <a:prstGeom prst="rect">
            <a:avLst/>
          </a:prstGeom>
          <a:noFill/>
          <a:ln/>
        </p:spPr>
        <p:txBody>
          <a:bodyPr wrap="square" lIns="0" tIns="0" rIns="0" bIns="0" rtlCol="0" anchor="ctr"/>
          <a:lstStyle/>
          <a:p>
            <a:pPr algn="r" indent="0" marL="0">
              <a:buNone/>
            </a:pPr>
            <a:r>
              <a:rPr lang="en-US" sz="1000" dirty="0">
                <a:solidFill>
                  <a:srgbClr val="565F89"/>
                </a:solidFill>
                <a:latin typeface="Calibri" pitchFamily="34" charset="0"/>
                <a:ea typeface="Calibri" pitchFamily="34" charset="-122"/>
                <a:cs typeface="Calibri" pitchFamily="34" charset="-120"/>
              </a:rPr>
              <a:t>23 Sept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B26"/>
        </a:solidFill>
      </p:bgPr>
    </p:bg>
    <p:spTree>
      <p:nvGrpSpPr>
        <p:cNvPr id="1" name=""/>
        <p:cNvGrpSpPr/>
        <p:nvPr/>
      </p:nvGrpSpPr>
      <p:grpSpPr>
        <a:xfrm>
          <a:off x="0" y="0"/>
          <a:ext cx="0" cy="0"/>
          <a:chOff x="0" y="0"/>
          <a:chExt cx="0" cy="0"/>
        </a:xfrm>
      </p:grpSpPr>
      <p:sp>
        <p:nvSpPr>
          <p:cNvPr id="2" name="Text 0"/>
          <p:cNvSpPr txBox="1"/>
          <p:nvPr/>
        </p:nvSpPr>
        <p:spPr>
          <a:xfrm>
            <a:off x="548640" y="502920"/>
            <a:ext cx="7315200" cy="320040"/>
          </a:xfrm>
          <a:prstGeom prst="rect">
            <a:avLst/>
          </a:prstGeom>
          <a:noFill/>
          <a:ln/>
        </p:spPr>
        <p:txBody>
          <a:bodyPr wrap="square" lIns="0" tIns="0" rIns="0" bIns="0" rtlCol="0" anchor="t"/>
          <a:lstStyle/>
          <a:p>
            <a:pPr algn="l" indent="0" marL="0">
              <a:buNone/>
            </a:pPr>
            <a:r>
              <a:rPr lang="en-US" sz="1300" b="1" spc="200" kern="0" dirty="0">
                <a:solidFill>
                  <a:srgbClr val="FF9E64"/>
                </a:solidFill>
                <a:latin typeface="Courier New" pitchFamily="34" charset="0"/>
                <a:ea typeface="Courier New" pitchFamily="34" charset="-122"/>
                <a:cs typeface="Courier New" pitchFamily="34" charset="-120"/>
              </a:rPr>
              <a:t>WRAP-UP</a:t>
            </a:r>
            <a:endParaRPr lang="en-US" sz="1300" dirty="0"/>
          </a:p>
        </p:txBody>
      </p:sp>
      <p:sp>
        <p:nvSpPr>
          <p:cNvPr id="3" name="Text 1"/>
          <p:cNvSpPr txBox="1"/>
          <p:nvPr/>
        </p:nvSpPr>
        <p:spPr>
          <a:xfrm>
            <a:off x="548640" y="868680"/>
            <a:ext cx="11091672" cy="1005840"/>
          </a:xfrm>
          <a:prstGeom prst="rect">
            <a:avLst/>
          </a:prstGeom>
          <a:noFill/>
          <a:ln/>
        </p:spPr>
        <p:txBody>
          <a:bodyPr wrap="square" lIns="0" tIns="0" rIns="0" bIns="0" rtlCol="0" anchor="t"/>
          <a:lstStyle/>
          <a:p>
            <a:pPr algn="l" indent="0" marL="0">
              <a:buNone/>
            </a:pPr>
            <a:r>
              <a:rPr lang="en-US" sz="3400" b="1" dirty="0">
                <a:solidFill>
                  <a:srgbClr val="C0CAF5"/>
                </a:solidFill>
                <a:latin typeface="Calibri" pitchFamily="34" charset="0"/>
                <a:ea typeface="Calibri" pitchFamily="34" charset="-122"/>
                <a:cs typeface="Calibri" pitchFamily="34" charset="-120"/>
              </a:rPr>
              <a:t>Recap — Session 5</a:t>
            </a:r>
            <a:endParaRPr lang="en-US" sz="3400" dirty="0"/>
          </a:p>
        </p:txBody>
      </p:sp>
      <p:sp>
        <p:nvSpPr>
          <p:cNvPr id="4" name="Shape 2"/>
          <p:cNvSpPr/>
          <p:nvPr/>
        </p:nvSpPr>
        <p:spPr>
          <a:xfrm>
            <a:off x="548640" y="2194560"/>
            <a:ext cx="457200" cy="457200"/>
          </a:xfrm>
          <a:prstGeom prst="ellipse">
            <a:avLst/>
          </a:prstGeom>
          <a:solidFill>
            <a:srgbClr val="FF9E64"/>
          </a:solidFill>
          <a:ln/>
        </p:spPr>
      </p:sp>
      <p:sp>
        <p:nvSpPr>
          <p:cNvPr id="5" name="Text 3"/>
          <p:cNvSpPr txBox="1"/>
          <p:nvPr/>
        </p:nvSpPr>
        <p:spPr>
          <a:xfrm>
            <a:off x="548640" y="2194560"/>
            <a:ext cx="457200" cy="457200"/>
          </a:xfrm>
          <a:prstGeom prst="rect">
            <a:avLst/>
          </a:prstGeom>
          <a:noFill/>
          <a:ln/>
        </p:spPr>
        <p:txBody>
          <a:bodyPr wrap="square" lIns="0" tIns="0" rIns="0" bIns="0" rtlCol="0" anchor="ctr"/>
          <a:lstStyle/>
          <a:p>
            <a:pPr algn="ctr" indent="0" marL="0">
              <a:buNone/>
            </a:pPr>
            <a:r>
              <a:rPr lang="en-US" sz="1700" b="1" dirty="0">
                <a:solidFill>
                  <a:srgbClr val="1A1B26"/>
                </a:solidFill>
                <a:latin typeface="Calibri" pitchFamily="34" charset="0"/>
                <a:ea typeface="Calibri" pitchFamily="34" charset="-122"/>
                <a:cs typeface="Calibri" pitchFamily="34" charset="-120"/>
              </a:rPr>
              <a:t>✓</a:t>
            </a:r>
            <a:endParaRPr lang="en-US" sz="1700" dirty="0"/>
          </a:p>
        </p:txBody>
      </p:sp>
      <p:sp>
        <p:nvSpPr>
          <p:cNvPr id="6" name="Text 4"/>
          <p:cNvSpPr txBox="1"/>
          <p:nvPr/>
        </p:nvSpPr>
        <p:spPr>
          <a:xfrm>
            <a:off x="1234440" y="2148840"/>
            <a:ext cx="6126480" cy="822960"/>
          </a:xfrm>
          <a:prstGeom prst="rect">
            <a:avLst/>
          </a:prstGeom>
          <a:noFill/>
          <a:ln/>
        </p:spPr>
        <p:txBody>
          <a:bodyPr wrap="square" lIns="0" tIns="0" rIns="0" bIns="0" rtlCol="0" anchor="ctr"/>
          <a:lstStyle/>
          <a:p>
            <a:pPr algn="l" indent="0" marL="0">
              <a:buNone/>
            </a:pPr>
            <a:r>
              <a:rPr lang="en-US" sz="1600" dirty="0">
                <a:solidFill>
                  <a:srgbClr val="C0CAF5"/>
                </a:solidFill>
                <a:latin typeface="Calibri" pitchFamily="34" charset="0"/>
                <a:ea typeface="Calibri" pitchFamily="34" charset="-122"/>
                <a:cs typeface="Calibri" pitchFamily="34" charset="-120"/>
              </a:rPr>
              <a:t>Prompting is really context engineering</a:t>
            </a:r>
            <a:endParaRPr lang="en-US" sz="1600" dirty="0"/>
          </a:p>
        </p:txBody>
      </p:sp>
      <p:sp>
        <p:nvSpPr>
          <p:cNvPr id="7" name="Shape 5"/>
          <p:cNvSpPr/>
          <p:nvPr/>
        </p:nvSpPr>
        <p:spPr>
          <a:xfrm>
            <a:off x="548640" y="3154680"/>
            <a:ext cx="457200" cy="457200"/>
          </a:xfrm>
          <a:prstGeom prst="ellipse">
            <a:avLst/>
          </a:prstGeom>
          <a:solidFill>
            <a:srgbClr val="FF9E64"/>
          </a:solidFill>
          <a:ln/>
        </p:spPr>
      </p:sp>
      <p:sp>
        <p:nvSpPr>
          <p:cNvPr id="8" name="Text 6"/>
          <p:cNvSpPr txBox="1"/>
          <p:nvPr/>
        </p:nvSpPr>
        <p:spPr>
          <a:xfrm>
            <a:off x="548640" y="3154680"/>
            <a:ext cx="457200" cy="457200"/>
          </a:xfrm>
          <a:prstGeom prst="rect">
            <a:avLst/>
          </a:prstGeom>
          <a:noFill/>
          <a:ln/>
        </p:spPr>
        <p:txBody>
          <a:bodyPr wrap="square" lIns="0" tIns="0" rIns="0" bIns="0" rtlCol="0" anchor="ctr"/>
          <a:lstStyle/>
          <a:p>
            <a:pPr algn="ctr" indent="0" marL="0">
              <a:buNone/>
            </a:pPr>
            <a:r>
              <a:rPr lang="en-US" sz="1700" b="1" dirty="0">
                <a:solidFill>
                  <a:srgbClr val="1A1B26"/>
                </a:solidFill>
                <a:latin typeface="Calibri" pitchFamily="34" charset="0"/>
                <a:ea typeface="Calibri" pitchFamily="34" charset="-122"/>
                <a:cs typeface="Calibri" pitchFamily="34" charset="-120"/>
              </a:rPr>
              <a:t>✓</a:t>
            </a:r>
            <a:endParaRPr lang="en-US" sz="1700" dirty="0"/>
          </a:p>
        </p:txBody>
      </p:sp>
      <p:sp>
        <p:nvSpPr>
          <p:cNvPr id="9" name="Text 7"/>
          <p:cNvSpPr txBox="1"/>
          <p:nvPr/>
        </p:nvSpPr>
        <p:spPr>
          <a:xfrm>
            <a:off x="1234440" y="3108960"/>
            <a:ext cx="6126480" cy="822960"/>
          </a:xfrm>
          <a:prstGeom prst="rect">
            <a:avLst/>
          </a:prstGeom>
          <a:noFill/>
          <a:ln/>
        </p:spPr>
        <p:txBody>
          <a:bodyPr wrap="square" lIns="0" tIns="0" rIns="0" bIns="0" rtlCol="0" anchor="ctr"/>
          <a:lstStyle/>
          <a:p>
            <a:pPr algn="l" indent="0" marL="0">
              <a:buNone/>
            </a:pPr>
            <a:r>
              <a:rPr lang="en-US" sz="1600" dirty="0">
                <a:solidFill>
                  <a:srgbClr val="C0CAF5"/>
                </a:solidFill>
                <a:latin typeface="Calibri" pitchFamily="34" charset="0"/>
                <a:ea typeface="Calibri" pitchFamily="34" charset="-122"/>
                <a:cs typeface="Calibri" pitchFamily="34" charset="-120"/>
              </a:rPr>
              <a:t>Grounding + citation + refusal fight hallucination</a:t>
            </a:r>
            <a:endParaRPr lang="en-US" sz="1600" dirty="0"/>
          </a:p>
        </p:txBody>
      </p:sp>
      <p:sp>
        <p:nvSpPr>
          <p:cNvPr id="10" name="Shape 8"/>
          <p:cNvSpPr/>
          <p:nvPr/>
        </p:nvSpPr>
        <p:spPr>
          <a:xfrm>
            <a:off x="548640" y="4114800"/>
            <a:ext cx="457200" cy="457200"/>
          </a:xfrm>
          <a:prstGeom prst="ellipse">
            <a:avLst/>
          </a:prstGeom>
          <a:solidFill>
            <a:srgbClr val="FF9E64"/>
          </a:solidFill>
          <a:ln/>
        </p:spPr>
      </p:sp>
      <p:sp>
        <p:nvSpPr>
          <p:cNvPr id="11" name="Text 9"/>
          <p:cNvSpPr txBox="1"/>
          <p:nvPr/>
        </p:nvSpPr>
        <p:spPr>
          <a:xfrm>
            <a:off x="548640" y="4114800"/>
            <a:ext cx="457200" cy="457200"/>
          </a:xfrm>
          <a:prstGeom prst="rect">
            <a:avLst/>
          </a:prstGeom>
          <a:noFill/>
          <a:ln/>
        </p:spPr>
        <p:txBody>
          <a:bodyPr wrap="square" lIns="0" tIns="0" rIns="0" bIns="0" rtlCol="0" anchor="ctr"/>
          <a:lstStyle/>
          <a:p>
            <a:pPr algn="ctr" indent="0" marL="0">
              <a:buNone/>
            </a:pPr>
            <a:r>
              <a:rPr lang="en-US" sz="1700" b="1" dirty="0">
                <a:solidFill>
                  <a:srgbClr val="1A1B26"/>
                </a:solidFill>
                <a:latin typeface="Calibri" pitchFamily="34" charset="0"/>
                <a:ea typeface="Calibri" pitchFamily="34" charset="-122"/>
                <a:cs typeface="Calibri" pitchFamily="34" charset="-120"/>
              </a:rPr>
              <a:t>✓</a:t>
            </a:r>
            <a:endParaRPr lang="en-US" sz="1700" dirty="0"/>
          </a:p>
        </p:txBody>
      </p:sp>
      <p:sp>
        <p:nvSpPr>
          <p:cNvPr id="12" name="Text 10"/>
          <p:cNvSpPr txBox="1"/>
          <p:nvPr/>
        </p:nvSpPr>
        <p:spPr>
          <a:xfrm>
            <a:off x="1234440" y="4069080"/>
            <a:ext cx="6126480" cy="822960"/>
          </a:xfrm>
          <a:prstGeom prst="rect">
            <a:avLst/>
          </a:prstGeom>
          <a:noFill/>
          <a:ln/>
        </p:spPr>
        <p:txBody>
          <a:bodyPr wrap="square" lIns="0" tIns="0" rIns="0" bIns="0" rtlCol="0" anchor="ctr"/>
          <a:lstStyle/>
          <a:p>
            <a:pPr algn="l" indent="0" marL="0">
              <a:buNone/>
            </a:pPr>
            <a:r>
              <a:rPr lang="en-US" sz="1600" dirty="0">
                <a:solidFill>
                  <a:srgbClr val="C0CAF5"/>
                </a:solidFill>
                <a:latin typeface="Calibri" pitchFamily="34" charset="0"/>
                <a:ea typeface="Calibri" pitchFamily="34" charset="-122"/>
                <a:cs typeface="Calibri" pitchFamily="34" charset="-120"/>
              </a:rPr>
              <a:t>More context can hurt — mind context rot</a:t>
            </a:r>
            <a:endParaRPr lang="en-US" sz="1600" dirty="0"/>
          </a:p>
        </p:txBody>
      </p:sp>
      <p:sp>
        <p:nvSpPr>
          <p:cNvPr id="13" name="Shape 11"/>
          <p:cNvSpPr/>
          <p:nvPr/>
        </p:nvSpPr>
        <p:spPr>
          <a:xfrm>
            <a:off x="548640" y="5074920"/>
            <a:ext cx="457200" cy="457200"/>
          </a:xfrm>
          <a:prstGeom prst="ellipse">
            <a:avLst/>
          </a:prstGeom>
          <a:solidFill>
            <a:srgbClr val="FF9E64"/>
          </a:solidFill>
          <a:ln/>
        </p:spPr>
      </p:sp>
      <p:sp>
        <p:nvSpPr>
          <p:cNvPr id="14" name="Text 12"/>
          <p:cNvSpPr txBox="1"/>
          <p:nvPr/>
        </p:nvSpPr>
        <p:spPr>
          <a:xfrm>
            <a:off x="548640" y="5074920"/>
            <a:ext cx="457200" cy="457200"/>
          </a:xfrm>
          <a:prstGeom prst="rect">
            <a:avLst/>
          </a:prstGeom>
          <a:noFill/>
          <a:ln/>
        </p:spPr>
        <p:txBody>
          <a:bodyPr wrap="square" lIns="0" tIns="0" rIns="0" bIns="0" rtlCol="0" anchor="ctr"/>
          <a:lstStyle/>
          <a:p>
            <a:pPr algn="ctr" indent="0" marL="0">
              <a:buNone/>
            </a:pPr>
            <a:r>
              <a:rPr lang="en-US" sz="1700" b="1" dirty="0">
                <a:solidFill>
                  <a:srgbClr val="1A1B26"/>
                </a:solidFill>
                <a:latin typeface="Calibri" pitchFamily="34" charset="0"/>
                <a:ea typeface="Calibri" pitchFamily="34" charset="-122"/>
                <a:cs typeface="Calibri" pitchFamily="34" charset="-120"/>
              </a:rPr>
              <a:t>✓</a:t>
            </a:r>
            <a:endParaRPr lang="en-US" sz="1700" dirty="0"/>
          </a:p>
        </p:txBody>
      </p:sp>
      <p:sp>
        <p:nvSpPr>
          <p:cNvPr id="15" name="Text 13"/>
          <p:cNvSpPr txBox="1"/>
          <p:nvPr/>
        </p:nvSpPr>
        <p:spPr>
          <a:xfrm>
            <a:off x="1234440" y="5029200"/>
            <a:ext cx="6126480" cy="822960"/>
          </a:xfrm>
          <a:prstGeom prst="rect">
            <a:avLst/>
          </a:prstGeom>
          <a:noFill/>
          <a:ln/>
        </p:spPr>
        <p:txBody>
          <a:bodyPr wrap="square" lIns="0" tIns="0" rIns="0" bIns="0" rtlCol="0" anchor="ctr"/>
          <a:lstStyle/>
          <a:p>
            <a:pPr algn="l" indent="0" marL="0">
              <a:buNone/>
            </a:pPr>
            <a:r>
              <a:rPr lang="en-US" sz="1600" dirty="0">
                <a:solidFill>
                  <a:srgbClr val="C0CAF5"/>
                </a:solidFill>
                <a:latin typeface="Calibri" pitchFamily="34" charset="0"/>
                <a:ea typeface="Calibri" pitchFamily="34" charset="-122"/>
                <a:cs typeface="Calibri" pitchFamily="34" charset="-120"/>
              </a:rPr>
              <a:t>Score retrieval quality; don't eyeball it</a:t>
            </a:r>
            <a:endParaRPr lang="en-US" sz="1600" dirty="0"/>
          </a:p>
        </p:txBody>
      </p:sp>
      <p:sp>
        <p:nvSpPr>
          <p:cNvPr id="16" name="Shape 14"/>
          <p:cNvSpPr/>
          <p:nvPr/>
        </p:nvSpPr>
        <p:spPr>
          <a:xfrm>
            <a:off x="7315200" y="2194560"/>
            <a:ext cx="4325112" cy="3566160"/>
          </a:xfrm>
          <a:prstGeom prst="roundRect">
            <a:avLst>
              <a:gd name="adj" fmla="val 2308"/>
            </a:avLst>
          </a:prstGeom>
          <a:solidFill>
            <a:srgbClr val="24283B"/>
          </a:solidFill>
          <a:ln w="12700">
            <a:solidFill>
              <a:srgbClr val="2A2E42"/>
            </a:solidFill>
            <a:prstDash val="solid"/>
          </a:ln>
        </p:spPr>
      </p:sp>
      <p:sp>
        <p:nvSpPr>
          <p:cNvPr id="17" name="Text 15"/>
          <p:cNvSpPr txBox="1"/>
          <p:nvPr/>
        </p:nvSpPr>
        <p:spPr>
          <a:xfrm>
            <a:off x="7589520" y="2423160"/>
            <a:ext cx="3657600" cy="320040"/>
          </a:xfrm>
          <a:prstGeom prst="rect">
            <a:avLst/>
          </a:prstGeom>
          <a:noFill/>
          <a:ln/>
        </p:spPr>
        <p:txBody>
          <a:bodyPr wrap="square" lIns="0" tIns="0" rIns="0" bIns="0" rtlCol="0" anchor="t"/>
          <a:lstStyle/>
          <a:p>
            <a:pPr algn="l" indent="0" marL="0">
              <a:buNone/>
            </a:pPr>
            <a:r>
              <a:rPr lang="en-US" sz="1200" b="1" spc="200" kern="0" dirty="0">
                <a:solidFill>
                  <a:srgbClr val="565F89"/>
                </a:solidFill>
                <a:latin typeface="Courier New" pitchFamily="34" charset="0"/>
                <a:ea typeface="Courier New" pitchFamily="34" charset="-122"/>
                <a:cs typeface="Courier New" pitchFamily="34" charset="-120"/>
              </a:rPr>
              <a:t>NEXT SESSION</a:t>
            </a:r>
            <a:endParaRPr lang="en-US" sz="1200" dirty="0"/>
          </a:p>
        </p:txBody>
      </p:sp>
      <p:sp>
        <p:nvSpPr>
          <p:cNvPr id="18" name="Text 16"/>
          <p:cNvSpPr txBox="1"/>
          <p:nvPr/>
        </p:nvSpPr>
        <p:spPr>
          <a:xfrm>
            <a:off x="7589520" y="2834640"/>
            <a:ext cx="3749040" cy="1097280"/>
          </a:xfrm>
          <a:prstGeom prst="rect">
            <a:avLst/>
          </a:prstGeom>
          <a:noFill/>
          <a:ln/>
        </p:spPr>
        <p:txBody>
          <a:bodyPr wrap="square" lIns="0" tIns="0" rIns="0" bIns="0" rtlCol="0" anchor="t"/>
          <a:lstStyle/>
          <a:p>
            <a:pPr algn="l" indent="0" marL="0">
              <a:buNone/>
            </a:pPr>
            <a:r>
              <a:rPr lang="en-US" sz="2000" b="1" dirty="0">
                <a:solidFill>
                  <a:srgbClr val="FF9E64"/>
                </a:solidFill>
                <a:latin typeface="Calibri" pitchFamily="34" charset="0"/>
                <a:ea typeface="Calibri" pitchFamily="34" charset="-122"/>
                <a:cs typeface="Calibri" pitchFamily="34" charset="-120"/>
              </a:rPr>
              <a:t>Context engineering II</a:t>
            </a:r>
            <a:endParaRPr lang="en-US" sz="2000" dirty="0"/>
          </a:p>
        </p:txBody>
      </p:sp>
      <p:sp>
        <p:nvSpPr>
          <p:cNvPr id="19" name="Text 17"/>
          <p:cNvSpPr txBox="1"/>
          <p:nvPr/>
        </p:nvSpPr>
        <p:spPr>
          <a:xfrm>
            <a:off x="7589520" y="3977640"/>
            <a:ext cx="3749040" cy="1645920"/>
          </a:xfrm>
          <a:prstGeom prst="rect">
            <a:avLst/>
          </a:prstGeom>
          <a:noFill/>
          <a:ln/>
        </p:spPr>
        <p:txBody>
          <a:bodyPr wrap="square" lIns="0" tIns="0" rIns="0" bIns="0" rtlCol="0" anchor="t"/>
          <a:lstStyle/>
          <a:p>
            <a:pPr algn="l" indent="0" marL="0">
              <a:buNone/>
            </a:pPr>
            <a:r>
              <a:rPr lang="en-US" sz="1400" dirty="0">
                <a:solidFill>
                  <a:srgbClr val="A9B1D6"/>
                </a:solidFill>
                <a:latin typeface="Calibri" pitchFamily="34" charset="0"/>
                <a:ea typeface="Calibri" pitchFamily="34" charset="-122"/>
                <a:cs typeface="Calibri" pitchFamily="34" charset="-120"/>
              </a:rPr>
              <a:t>Tools and memory are context too. Tool schemas as prompts, memory as curated context, prompting inside agents.</a:t>
            </a:r>
            <a:endParaRPr lang="en-US" sz="1400" dirty="0"/>
          </a:p>
        </p:txBody>
      </p:sp>
      <p:sp>
        <p:nvSpPr>
          <p:cNvPr id="20" name="Shape 18"/>
          <p:cNvSpPr/>
          <p:nvPr/>
        </p:nvSpPr>
        <p:spPr>
          <a:xfrm>
            <a:off x="548640" y="6217920"/>
            <a:ext cx="640080" cy="384048"/>
          </a:xfrm>
          <a:prstGeom prst="roundRect">
            <a:avLst>
              <a:gd name="adj" fmla="val 19048"/>
            </a:avLst>
          </a:prstGeom>
          <a:solidFill>
            <a:srgbClr val="FF9E64"/>
          </a:solidFill>
          <a:ln/>
        </p:spPr>
      </p:sp>
      <p:sp>
        <p:nvSpPr>
          <p:cNvPr id="21" name="Text 19"/>
          <p:cNvSpPr txBox="1"/>
          <p:nvPr/>
        </p:nvSpPr>
        <p:spPr>
          <a:xfrm>
            <a:off x="548640" y="6217920"/>
            <a:ext cx="640080" cy="384048"/>
          </a:xfrm>
          <a:prstGeom prst="rect">
            <a:avLst/>
          </a:prstGeom>
          <a:noFill/>
          <a:ln/>
        </p:spPr>
        <p:txBody>
          <a:bodyPr wrap="square" lIns="0" tIns="0" rIns="0" bIns="0" rtlCol="0" anchor="ctr"/>
          <a:lstStyle/>
          <a:p>
            <a:pPr algn="ctr" indent="0" marL="0">
              <a:buNone/>
            </a:pPr>
            <a:r>
              <a:rPr lang="en-US" sz="1300" b="1" dirty="0">
                <a:solidFill>
                  <a:srgbClr val="1A1B26"/>
                </a:solidFill>
                <a:latin typeface="Courier New" pitchFamily="34" charset="0"/>
                <a:ea typeface="Courier New" pitchFamily="34" charset="-122"/>
                <a:cs typeface="Courier New" pitchFamily="34" charset="-120"/>
              </a:rPr>
              <a:t>S5</a:t>
            </a:r>
            <a:endParaRPr lang="en-US" sz="1300" dirty="0"/>
          </a:p>
        </p:txBody>
      </p:sp>
      <p:sp>
        <p:nvSpPr>
          <p:cNvPr id="22" name="Text 20"/>
          <p:cNvSpPr txBox="1"/>
          <p:nvPr/>
        </p:nvSpPr>
        <p:spPr>
          <a:xfrm>
            <a:off x="1325880" y="6254496"/>
            <a:ext cx="8229600" cy="320040"/>
          </a:xfrm>
          <a:prstGeom prst="rect">
            <a:avLst/>
          </a:prstGeom>
          <a:noFill/>
          <a:ln/>
        </p:spPr>
        <p:txBody>
          <a:bodyPr wrap="square" lIns="0" tIns="0" rIns="0" bIns="0" rtlCol="0" anchor="ctr"/>
          <a:lstStyle/>
          <a:p>
            <a:pPr algn="l" indent="0" marL="0">
              <a:buNone/>
            </a:pPr>
            <a:r>
              <a:rPr lang="en-US" sz="1000" dirty="0">
                <a:solidFill>
                  <a:srgbClr val="565F89"/>
                </a:solidFill>
                <a:latin typeface="Calibri" pitchFamily="34" charset="0"/>
                <a:ea typeface="Calibri" pitchFamily="34" charset="-122"/>
                <a:cs typeface="Calibri" pitchFamily="34" charset="-120"/>
              </a:rPr>
              <a:t>Prompt &amp; Context Engineering  ·  Context Engineering I — Retrieval</a:t>
            </a:r>
            <a:endParaRPr lang="en-US" sz="1000" dirty="0"/>
          </a:p>
        </p:txBody>
      </p:sp>
      <p:sp>
        <p:nvSpPr>
          <p:cNvPr id="23" name="Text 21"/>
          <p:cNvSpPr txBox="1"/>
          <p:nvPr/>
        </p:nvSpPr>
        <p:spPr>
          <a:xfrm>
            <a:off x="8897112" y="6254496"/>
            <a:ext cx="2743200" cy="320040"/>
          </a:xfrm>
          <a:prstGeom prst="rect">
            <a:avLst/>
          </a:prstGeom>
          <a:noFill/>
          <a:ln/>
        </p:spPr>
        <p:txBody>
          <a:bodyPr wrap="square" lIns="0" tIns="0" rIns="0" bIns="0" rtlCol="0" anchor="ctr"/>
          <a:lstStyle/>
          <a:p>
            <a:pPr algn="r" indent="0" marL="0">
              <a:buNone/>
            </a:pPr>
            <a:r>
              <a:rPr lang="en-US" sz="1000" dirty="0">
                <a:solidFill>
                  <a:srgbClr val="565F89"/>
                </a:solidFill>
                <a:latin typeface="Calibri" pitchFamily="34" charset="0"/>
                <a:ea typeface="Calibri" pitchFamily="34" charset="-122"/>
                <a:cs typeface="Calibri" pitchFamily="34" charset="-120"/>
              </a:rPr>
              <a:t>23 Sept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Prompt &amp; Context Engineering — Session 5</dc:title>
  <dc:subject>PptxGenJS Presentation</dc:subject>
  <dc:creator>Stefan Duprey</dc:creator>
  <cp:lastModifiedBy>Stefan Duprey</cp:lastModifiedBy>
  <cp:revision>1</cp:revision>
  <dcterms:created xsi:type="dcterms:W3CDTF">2026-09-07T10:15:35Z</dcterms:created>
  <dcterms:modified xsi:type="dcterms:W3CDTF">2026-09-07T10:15:35Z</dcterms:modified>
</cp:coreProperties>
</file>