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notesMasterIdLst>
    <p:notesMasterId r:id="rId15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notesMaster" Target="notesMasters/notesMaster1.xml"/><Relationship Id="rId16" Type="http://schemas.openxmlformats.org/officeDocument/2006/relationships/presProps" Target="presProps.xml"/><Relationship Id="rId17" Type="http://schemas.openxmlformats.org/officeDocument/2006/relationships/viewProps" Target="viewProps.xml"/><Relationship Id="rId18" Type="http://schemas.openxmlformats.org/officeDocument/2006/relationships/theme" Target="theme/theme1.xml"/><Relationship Id="rId1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Second half of context engineering, and the longest content session. Two ideas: tools let the model act, memory lets it persist — and both are governed by how you describe them in the prompt. Reserve the last ~30 min for the capstone brief and team setup.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Git (supporting workflow): Pull requests &amp; code review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Git (supporting workflow): Collaborating on the capstone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Keep hammering the through-line: it's all context engineering. Students tend to think tools/memory are 'infrastructure'. The point of today is that they're mostly prompt-design problems wearing an engineering costume.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Make the point land: the schema's description field IS a prompt, and it's the highest-leverage text in an agent. Most 'the agent is broken' problems are 'the description is bad' problems. Show a good vs vague description side by side if time.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Clear up the biggest misconception: the model does not execute anything. It asks; your code acts and reports back. This matters enormously for security (S8) — the model proposing an action is not the same as it being allowed to happen.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is the actionable core of the session. In the lab they'll deliberately break a description and watch selection fail. It rewires how they'll debug agents for the rest of their careers: read the description first.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Memory sounds advanced but it's just 'what do I choose to persist and re-inject?'. The failure mode students won't anticipate: too much memory is worse than none — it clutters the window and confuses the model. Curation is the skill.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Don't turn this into a LangGraph lecture — that's the companion course. Keep it at the level of 'an agent is a loop steered by prompts and tool descriptions'. The engineering lesson is the same one all course: the words are the program.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Track B (needs a key). The 'break it on purpose' step is the one that teaches — students remember failures they caused. Keep scope to one tool; the lesson is about the description, not building a big agent.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Spend real time here — this frames the 50% assessment. Point them at capstone/README.md in the repo for the rubric. Set teams and repos today so they can start. Emphasise the eval + injection requirements now so they design for them, not bolt them 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Teams should leave with a repo and a capstone idea. Next session shifts to production reality: what all this costs and how to make it cheap enough to ship.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A1B2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589520" y="182880"/>
            <a:ext cx="4572000" cy="6400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40000" b="1" dirty="0">
                <a:solidFill>
                  <a:srgbClr val="2327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40000" dirty="0"/>
          </a:p>
        </p:txBody>
      </p:sp>
      <p:sp>
        <p:nvSpPr>
          <p:cNvPr id="3" name="Shape 1"/>
          <p:cNvSpPr/>
          <p:nvPr/>
        </p:nvSpPr>
        <p:spPr>
          <a:xfrm>
            <a:off x="548640" y="1371600"/>
            <a:ext cx="1920240" cy="384048"/>
          </a:xfrm>
          <a:prstGeom prst="roundRect">
            <a:avLst>
              <a:gd name="adj" fmla="val 19048"/>
            </a:avLst>
          </a:prstGeom>
          <a:solidFill>
            <a:srgbClr val="F7768E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48640" y="1371600"/>
            <a:ext cx="19202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A1B2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SESSION 6</a:t>
            </a:r>
            <a:endParaRPr lang="en-US" sz="13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1965960"/>
            <a:ext cx="768096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600" b="1" dirty="0">
                <a:solidFill>
                  <a:srgbClr val="C0CA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Context Engineering II — Tools &amp; Memory</a:t>
            </a:r>
            <a:endParaRPr lang="en-US" sz="46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4160520"/>
            <a:ext cx="74980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>
                <a:solidFill>
                  <a:srgbClr val="A9B1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Everything the model can act on or recall is context you design. Plus: the capstone.</a:t>
            </a:r>
            <a:endParaRPr lang="en-US" sz="18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521208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565F8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Jeudi 24 septembre   ·   11h00–13h30   ·   2h30</a:t>
            </a:r>
            <a:endParaRPr lang="en-US" sz="1300" dirty="0"/>
          </a:p>
        </p:txBody>
      </p:sp>
      <p:sp>
        <p:nvSpPr>
          <p:cNvPr id="8" name="Text 6"/>
          <p:cNvSpPr txBox="1"/>
          <p:nvPr/>
        </p:nvSpPr>
        <p:spPr>
          <a:xfrm>
            <a:off x="548640" y="562356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565F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Prompt &amp; Context Engineering  —  Stefan Duprey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1A1B2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50292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b="1" spc="200" kern="0" dirty="0">
                <a:solidFill>
                  <a:srgbClr val="F7768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TODAY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868680"/>
            <a:ext cx="1109167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C0CA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Session 6 — plan &amp; goals</a:t>
            </a:r>
            <a:endParaRPr lang="en-US" sz="34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965960"/>
            <a:ext cx="5852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F7768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 will be able to</a:t>
            </a:r>
            <a:endParaRPr lang="en-US" sz="14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2377440"/>
            <a:ext cx="585216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A9B1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 and review pull requests</a:t>
            </a:r>
            <a:endParaRPr lang="en-US" sz="15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A9B1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Treat tools &amp; memory as context</a:t>
            </a:r>
            <a:endParaRPr lang="en-US" sz="15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A9B1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tool descriptions as prompts</a:t>
            </a:r>
            <a:endParaRPr lang="en-US" sz="15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A9B1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 up a team repo &amp; start the capstone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6903720" y="1965960"/>
            <a:ext cx="4736592" cy="3886200"/>
          </a:xfrm>
          <a:prstGeom prst="roundRect">
            <a:avLst>
              <a:gd name="adj" fmla="val 2118"/>
            </a:avLst>
          </a:prstGeom>
          <a:solidFill>
            <a:srgbClr val="24283B"/>
          </a:solidFill>
          <a:ln w="12700">
            <a:solidFill>
              <a:srgbClr val="2A2E42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7178040" y="2194560"/>
            <a:ext cx="4206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spc="200" kern="0" dirty="0">
                <a:solidFill>
                  <a:srgbClr val="565F8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RUN OF SHOW</a:t>
            </a:r>
            <a:endParaRPr lang="en-US" sz="1200" dirty="0"/>
          </a:p>
        </p:txBody>
      </p:sp>
      <p:sp>
        <p:nvSpPr>
          <p:cNvPr id="8" name="Text 6"/>
          <p:cNvSpPr txBox="1"/>
          <p:nvPr/>
        </p:nvSpPr>
        <p:spPr>
          <a:xfrm>
            <a:off x="7178040" y="2651760"/>
            <a:ext cx="1371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F0562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0:00</a:t>
            </a:r>
            <a:endParaRPr lang="en-US" sz="1200" dirty="0"/>
          </a:p>
        </p:txBody>
      </p:sp>
      <p:sp>
        <p:nvSpPr>
          <p:cNvPr id="9" name="Text 7"/>
          <p:cNvSpPr txBox="1"/>
          <p:nvPr/>
        </p:nvSpPr>
        <p:spPr>
          <a:xfrm>
            <a:off x="8595360" y="2651760"/>
            <a:ext cx="2880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F056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 — pull requests &amp; code review</a:t>
            </a:r>
            <a:endParaRPr lang="en-US" sz="1300" dirty="0"/>
          </a:p>
        </p:txBody>
      </p:sp>
      <p:sp>
        <p:nvSpPr>
          <p:cNvPr id="10" name="Text 8"/>
          <p:cNvSpPr txBox="1"/>
          <p:nvPr/>
        </p:nvSpPr>
        <p:spPr>
          <a:xfrm>
            <a:off x="7178040" y="3310128"/>
            <a:ext cx="1371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F7768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0:30</a:t>
            </a:r>
            <a:endParaRPr lang="en-US" sz="1200" dirty="0"/>
          </a:p>
        </p:txBody>
      </p:sp>
      <p:sp>
        <p:nvSpPr>
          <p:cNvPr id="11" name="Text 9"/>
          <p:cNvSpPr txBox="1"/>
          <p:nvPr/>
        </p:nvSpPr>
        <p:spPr>
          <a:xfrm>
            <a:off x="8595360" y="3310128"/>
            <a:ext cx="2880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A9B1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Tools &amp; memory as context + lab</a:t>
            </a:r>
            <a:endParaRPr lang="en-US" sz="1300" dirty="0"/>
          </a:p>
        </p:txBody>
      </p:sp>
      <p:sp>
        <p:nvSpPr>
          <p:cNvPr id="12" name="Text 10"/>
          <p:cNvSpPr txBox="1"/>
          <p:nvPr/>
        </p:nvSpPr>
        <p:spPr>
          <a:xfrm>
            <a:off x="7178040" y="3968496"/>
            <a:ext cx="1371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F7768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1:50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8595360" y="3968496"/>
            <a:ext cx="2880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A9B1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Capstone brief + team repos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548640" y="6217920"/>
            <a:ext cx="640080" cy="384048"/>
          </a:xfrm>
          <a:prstGeom prst="roundRect">
            <a:avLst>
              <a:gd name="adj" fmla="val 19048"/>
            </a:avLst>
          </a:prstGeom>
          <a:solidFill>
            <a:srgbClr val="F7768E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548640" y="6217920"/>
            <a:ext cx="6400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A1B2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S6</a:t>
            </a:r>
            <a:endParaRPr lang="en-US" sz="1300" dirty="0"/>
          </a:p>
        </p:txBody>
      </p:sp>
      <p:sp>
        <p:nvSpPr>
          <p:cNvPr id="16" name="Text 14"/>
          <p:cNvSpPr txBox="1"/>
          <p:nvPr/>
        </p:nvSpPr>
        <p:spPr>
          <a:xfrm>
            <a:off x="1325880" y="6254496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565F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Prompt &amp; Context Engineering  ·  Context Engineering II — Tools &amp; Memory</a:t>
            </a:r>
            <a:endParaRPr lang="en-US" sz="1000" dirty="0"/>
          </a:p>
        </p:txBody>
      </p:sp>
      <p:sp>
        <p:nvSpPr>
          <p:cNvPr id="17" name="Text 15"/>
          <p:cNvSpPr txBox="1"/>
          <p:nvPr/>
        </p:nvSpPr>
        <p:spPr>
          <a:xfrm>
            <a:off x="8897112" y="6254496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65F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24 Sept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301A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405872" y="457200"/>
            <a:ext cx="1234440" cy="457200"/>
          </a:xfrm>
          <a:prstGeom prst="roundRect">
            <a:avLst>
              <a:gd name="adj" fmla="val 20000"/>
            </a:avLst>
          </a:prstGeom>
          <a:solidFill>
            <a:srgbClr val="F0562D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10405872" y="457200"/>
            <a:ext cx="1234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spc="200" kern="0" dirty="0">
                <a:solidFill>
                  <a:srgbClr val="301A1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● GIT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50292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b="1" spc="200" kern="0" dirty="0">
                <a:solidFill>
                  <a:srgbClr val="F0562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GIT · COLLABORATION</a:t>
            </a:r>
            <a:endParaRPr lang="en-US" sz="13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868680"/>
            <a:ext cx="1109167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F6E6D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Pull requests &amp; code review</a:t>
            </a:r>
            <a:endParaRPr lang="en-US" sz="3400" dirty="0"/>
          </a:p>
        </p:txBody>
      </p:sp>
      <p:sp>
        <p:nvSpPr>
          <p:cNvPr id="6" name="Shape 4"/>
          <p:cNvSpPr/>
          <p:nvPr/>
        </p:nvSpPr>
        <p:spPr>
          <a:xfrm>
            <a:off x="548640" y="2103120"/>
            <a:ext cx="530352" cy="530352"/>
          </a:xfrm>
          <a:prstGeom prst="ellipse">
            <a:avLst/>
          </a:prstGeom>
          <a:solidFill>
            <a:srgbClr val="F0562D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548640" y="2103120"/>
            <a:ext cx="53035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301A1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800" dirty="0"/>
          </a:p>
        </p:txBody>
      </p:sp>
      <p:sp>
        <p:nvSpPr>
          <p:cNvPr id="8" name="Text 6"/>
          <p:cNvSpPr txBox="1"/>
          <p:nvPr/>
        </p:nvSpPr>
        <p:spPr>
          <a:xfrm>
            <a:off x="1325880" y="2084832"/>
            <a:ext cx="10424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F6E6D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Push a branch</a:t>
            </a:r>
            <a:endParaRPr lang="en-US" sz="1700" dirty="0"/>
          </a:p>
        </p:txBody>
      </p:sp>
      <p:sp>
        <p:nvSpPr>
          <p:cNvPr id="9" name="Text 7"/>
          <p:cNvSpPr txBox="1"/>
          <p:nvPr/>
        </p:nvSpPr>
        <p:spPr>
          <a:xfrm>
            <a:off x="1325880" y="2468880"/>
            <a:ext cx="10424160" cy="6675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50" dirty="0">
                <a:solidFill>
                  <a:srgbClr val="E0C6B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Send your feature branch to the remote / your fork.</a:t>
            </a:r>
            <a:endParaRPr lang="en-US" sz="1350" dirty="0"/>
          </a:p>
        </p:txBody>
      </p:sp>
      <p:sp>
        <p:nvSpPr>
          <p:cNvPr id="10" name="Shape 8"/>
          <p:cNvSpPr/>
          <p:nvPr/>
        </p:nvSpPr>
        <p:spPr>
          <a:xfrm>
            <a:off x="548640" y="3209544"/>
            <a:ext cx="530352" cy="530352"/>
          </a:xfrm>
          <a:prstGeom prst="ellipse">
            <a:avLst/>
          </a:prstGeom>
          <a:solidFill>
            <a:srgbClr val="F0562D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548640" y="3209544"/>
            <a:ext cx="53035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301A1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800" dirty="0"/>
          </a:p>
        </p:txBody>
      </p:sp>
      <p:sp>
        <p:nvSpPr>
          <p:cNvPr id="12" name="Text 10"/>
          <p:cNvSpPr txBox="1"/>
          <p:nvPr/>
        </p:nvSpPr>
        <p:spPr>
          <a:xfrm>
            <a:off x="1325880" y="3191256"/>
            <a:ext cx="10424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F6E6D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 a PR</a:t>
            </a:r>
            <a:endParaRPr lang="en-US" sz="1700" dirty="0"/>
          </a:p>
        </p:txBody>
      </p:sp>
      <p:sp>
        <p:nvSpPr>
          <p:cNvPr id="13" name="Text 11"/>
          <p:cNvSpPr txBox="1"/>
          <p:nvPr/>
        </p:nvSpPr>
        <p:spPr>
          <a:xfrm>
            <a:off x="1325880" y="3575304"/>
            <a:ext cx="10424160" cy="6675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50" dirty="0">
                <a:solidFill>
                  <a:srgbClr val="E0C6B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Describe what changed and why; link the task.</a:t>
            </a:r>
            <a:endParaRPr lang="en-US" sz="1350" dirty="0"/>
          </a:p>
        </p:txBody>
      </p:sp>
      <p:sp>
        <p:nvSpPr>
          <p:cNvPr id="14" name="Shape 12"/>
          <p:cNvSpPr/>
          <p:nvPr/>
        </p:nvSpPr>
        <p:spPr>
          <a:xfrm>
            <a:off x="548640" y="4315968"/>
            <a:ext cx="530352" cy="530352"/>
          </a:xfrm>
          <a:prstGeom prst="ellipse">
            <a:avLst/>
          </a:prstGeom>
          <a:solidFill>
            <a:srgbClr val="F0562D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548640" y="4315968"/>
            <a:ext cx="53035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301A1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800" dirty="0"/>
          </a:p>
        </p:txBody>
      </p:sp>
      <p:sp>
        <p:nvSpPr>
          <p:cNvPr id="16" name="Text 14"/>
          <p:cNvSpPr txBox="1"/>
          <p:nvPr/>
        </p:nvSpPr>
        <p:spPr>
          <a:xfrm>
            <a:off x="1325880" y="4297680"/>
            <a:ext cx="10424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F6E6D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Review</a:t>
            </a:r>
            <a:endParaRPr lang="en-US" sz="1700" dirty="0"/>
          </a:p>
        </p:txBody>
      </p:sp>
      <p:sp>
        <p:nvSpPr>
          <p:cNvPr id="17" name="Text 15"/>
          <p:cNvSpPr txBox="1"/>
          <p:nvPr/>
        </p:nvSpPr>
        <p:spPr>
          <a:xfrm>
            <a:off x="1325880" y="4681728"/>
            <a:ext cx="10424160" cy="6675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50" dirty="0">
                <a:solidFill>
                  <a:srgbClr val="E0C6B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Teammates comment, request changes, approve.</a:t>
            </a:r>
            <a:endParaRPr lang="en-US" sz="1350" dirty="0"/>
          </a:p>
        </p:txBody>
      </p:sp>
      <p:sp>
        <p:nvSpPr>
          <p:cNvPr id="18" name="Shape 16"/>
          <p:cNvSpPr/>
          <p:nvPr/>
        </p:nvSpPr>
        <p:spPr>
          <a:xfrm>
            <a:off x="548640" y="5422392"/>
            <a:ext cx="530352" cy="530352"/>
          </a:xfrm>
          <a:prstGeom prst="ellipse">
            <a:avLst/>
          </a:prstGeom>
          <a:solidFill>
            <a:srgbClr val="F0562D"/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548640" y="5422392"/>
            <a:ext cx="53035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301A1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</a:t>
            </a:r>
            <a:endParaRPr lang="en-US" sz="1800" dirty="0"/>
          </a:p>
        </p:txBody>
      </p:sp>
      <p:sp>
        <p:nvSpPr>
          <p:cNvPr id="20" name="Text 18"/>
          <p:cNvSpPr txBox="1"/>
          <p:nvPr/>
        </p:nvSpPr>
        <p:spPr>
          <a:xfrm>
            <a:off x="1325880" y="5404104"/>
            <a:ext cx="10424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F6E6D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Merge</a:t>
            </a:r>
            <a:endParaRPr lang="en-US" sz="1700" dirty="0"/>
          </a:p>
        </p:txBody>
      </p:sp>
      <p:sp>
        <p:nvSpPr>
          <p:cNvPr id="21" name="Text 19"/>
          <p:cNvSpPr txBox="1"/>
          <p:nvPr/>
        </p:nvSpPr>
        <p:spPr>
          <a:xfrm>
            <a:off x="1325880" y="5788152"/>
            <a:ext cx="10424160" cy="6675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50" dirty="0">
                <a:solidFill>
                  <a:srgbClr val="E0C6B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Squash or merge once approved — main stays healthy.</a:t>
            </a:r>
            <a:endParaRPr lang="en-US" sz="1350" dirty="0"/>
          </a:p>
        </p:txBody>
      </p:sp>
      <p:sp>
        <p:nvSpPr>
          <p:cNvPr id="22" name="Shape 20"/>
          <p:cNvSpPr/>
          <p:nvPr/>
        </p:nvSpPr>
        <p:spPr>
          <a:xfrm>
            <a:off x="548640" y="6217920"/>
            <a:ext cx="640080" cy="384048"/>
          </a:xfrm>
          <a:prstGeom prst="roundRect">
            <a:avLst>
              <a:gd name="adj" fmla="val 19048"/>
            </a:avLst>
          </a:prstGeom>
          <a:solidFill>
            <a:srgbClr val="F0562D"/>
          </a:solidFill>
          <a:ln/>
        </p:spPr>
      </p:sp>
      <p:sp>
        <p:nvSpPr>
          <p:cNvPr id="23" name="Text 21"/>
          <p:cNvSpPr txBox="1"/>
          <p:nvPr/>
        </p:nvSpPr>
        <p:spPr>
          <a:xfrm>
            <a:off x="548640" y="6217920"/>
            <a:ext cx="6400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A1B2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S6</a:t>
            </a:r>
            <a:endParaRPr lang="en-US" sz="1300" dirty="0"/>
          </a:p>
        </p:txBody>
      </p:sp>
      <p:sp>
        <p:nvSpPr>
          <p:cNvPr id="24" name="Text 22"/>
          <p:cNvSpPr txBox="1"/>
          <p:nvPr/>
        </p:nvSpPr>
        <p:spPr>
          <a:xfrm>
            <a:off x="1325880" y="6254496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F056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 · supporting workflow  ·  Context Engineering II — Tools &amp; Memory</a:t>
            </a:r>
            <a:endParaRPr lang="en-US" sz="1000" dirty="0"/>
          </a:p>
        </p:txBody>
      </p:sp>
      <p:sp>
        <p:nvSpPr>
          <p:cNvPr id="25" name="Text 23"/>
          <p:cNvSpPr txBox="1"/>
          <p:nvPr/>
        </p:nvSpPr>
        <p:spPr>
          <a:xfrm>
            <a:off x="8897112" y="6254496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65F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24 Sept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301A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405872" y="457200"/>
            <a:ext cx="1234440" cy="457200"/>
          </a:xfrm>
          <a:prstGeom prst="roundRect">
            <a:avLst>
              <a:gd name="adj" fmla="val 20000"/>
            </a:avLst>
          </a:prstGeom>
          <a:solidFill>
            <a:srgbClr val="F0562D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10405872" y="457200"/>
            <a:ext cx="1234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spc="200" kern="0" dirty="0">
                <a:solidFill>
                  <a:srgbClr val="301A1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● GIT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50292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b="1" spc="200" kern="0" dirty="0">
                <a:solidFill>
                  <a:srgbClr val="F0562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GIT · THE CAPSTONE</a:t>
            </a:r>
            <a:endParaRPr lang="en-US" sz="13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868680"/>
            <a:ext cx="1109167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F6E6D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Collaborating on the capstone</a:t>
            </a:r>
            <a:endParaRPr lang="en-US" sz="34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2011680"/>
            <a:ext cx="6126480" cy="3840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600" dirty="0">
                <a:solidFill>
                  <a:srgbClr val="E0C6B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 teams around one shared repository</a:t>
            </a:r>
            <a:endParaRPr lang="en-US" sz="16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600" dirty="0">
                <a:solidFill>
                  <a:srgbClr val="E0C6B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member works on their own branch</a:t>
            </a:r>
            <a:endParaRPr lang="en-US" sz="16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600" dirty="0">
                <a:solidFill>
                  <a:srgbClr val="E0C6B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Integrate through pull requests — never email files</a:t>
            </a:r>
            <a:endParaRPr lang="en-US" sz="16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600" dirty="0">
                <a:solidFill>
                  <a:srgbClr val="E0C6B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Review each other's prompts and code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6995160" y="2148840"/>
            <a:ext cx="4645152" cy="3383280"/>
          </a:xfrm>
          <a:prstGeom prst="roundRect">
            <a:avLst>
              <a:gd name="adj" fmla="val 2432"/>
            </a:avLst>
          </a:prstGeom>
          <a:solidFill>
            <a:srgbClr val="3E2418"/>
          </a:solidFill>
          <a:ln w="15875">
            <a:solidFill>
              <a:srgbClr val="F0562D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7269480" y="2423160"/>
            <a:ext cx="457200" cy="457200"/>
          </a:xfrm>
          <a:prstGeom prst="ellipse">
            <a:avLst/>
          </a:prstGeom>
          <a:solidFill>
            <a:srgbClr val="F0562D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7818120" y="2450592"/>
            <a:ext cx="3657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100" kern="0" dirty="0">
                <a:solidFill>
                  <a:srgbClr val="F0562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SET UP NOW</a:t>
            </a:r>
            <a:endParaRPr lang="en-US" sz="1300" dirty="0"/>
          </a:p>
        </p:txBody>
      </p:sp>
      <p:sp>
        <p:nvSpPr>
          <p:cNvPr id="10" name="Text 8"/>
          <p:cNvSpPr txBox="1"/>
          <p:nvPr/>
        </p:nvSpPr>
        <p:spPr>
          <a:xfrm>
            <a:off x="7269480" y="3108960"/>
            <a:ext cx="416052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F6E6D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Create your team repo today. You'll deliver the whole capstone through it.</a:t>
            </a:r>
            <a:endParaRPr lang="en-US" sz="1600" dirty="0"/>
          </a:p>
        </p:txBody>
      </p:sp>
      <p:sp>
        <p:nvSpPr>
          <p:cNvPr id="11" name="Shape 9"/>
          <p:cNvSpPr/>
          <p:nvPr/>
        </p:nvSpPr>
        <p:spPr>
          <a:xfrm>
            <a:off x="548640" y="6217920"/>
            <a:ext cx="640080" cy="384048"/>
          </a:xfrm>
          <a:prstGeom prst="roundRect">
            <a:avLst>
              <a:gd name="adj" fmla="val 19048"/>
            </a:avLst>
          </a:prstGeom>
          <a:solidFill>
            <a:srgbClr val="F0562D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548640" y="6217920"/>
            <a:ext cx="6400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A1B2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S6</a:t>
            </a:r>
            <a:endParaRPr lang="en-US" sz="1300" dirty="0"/>
          </a:p>
        </p:txBody>
      </p:sp>
      <p:sp>
        <p:nvSpPr>
          <p:cNvPr id="13" name="Text 11"/>
          <p:cNvSpPr txBox="1"/>
          <p:nvPr/>
        </p:nvSpPr>
        <p:spPr>
          <a:xfrm>
            <a:off x="1325880" y="6254496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F056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 · supporting workflow  ·  Context Engineering II — Tools &amp; Memory</a:t>
            </a:r>
            <a:endParaRPr lang="en-US" sz="1000" dirty="0"/>
          </a:p>
        </p:txBody>
      </p:sp>
      <p:sp>
        <p:nvSpPr>
          <p:cNvPr id="14" name="Text 12"/>
          <p:cNvSpPr txBox="1"/>
          <p:nvPr/>
        </p:nvSpPr>
        <p:spPr>
          <a:xfrm>
            <a:off x="8897112" y="6254496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65F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24 Sept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1A1B2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50292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b="1" spc="200" kern="0" dirty="0">
                <a:solidFill>
                  <a:srgbClr val="F7768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REFRAME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868680"/>
            <a:ext cx="1109167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C0CA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Tools &amp; memory are context too</a:t>
            </a:r>
            <a:endParaRPr lang="en-US" sz="34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627632"/>
            <a:ext cx="10881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rgbClr val="A9B1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same lesson as retrieval, extended: what the model can do and what it remembers are also context you design.</a:t>
            </a:r>
            <a:endParaRPr lang="en-US" sz="15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2340864"/>
            <a:ext cx="6126480" cy="35112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600" b="1" dirty="0">
                <a:solidFill>
                  <a:srgbClr val="C0CA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tool is context that acts</a:t>
            </a:r>
            <a:endParaRPr lang="en-US" sz="1600" dirty="0"/>
          </a:p>
          <a:p>
            <a:pPr lvl="1" indent="0" marL="0">
              <a:spcAft>
                <a:spcPts val="1200"/>
              </a:spcAft>
              <a:buNone/>
            </a:pPr>
            <a:r>
              <a:rPr lang="en-US" sz="1300" dirty="0">
                <a:solidFill>
                  <a:srgbClr val="A9B1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Giving the model a tool doesn't just add a capability — it adds text (the tool's description) that shapes what the model decides to do.</a:t>
            </a:r>
            <a:endParaRPr lang="en-US" sz="16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600" b="1" dirty="0">
                <a:solidFill>
                  <a:srgbClr val="C0CA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Memory is context you persist</a:t>
            </a:r>
            <a:endParaRPr lang="en-US" sz="1600" dirty="0"/>
          </a:p>
          <a:p>
            <a:pPr lvl="1" indent="0" marL="0">
              <a:spcAft>
                <a:spcPts val="1200"/>
              </a:spcAft>
              <a:buNone/>
            </a:pPr>
            <a:r>
              <a:rPr lang="en-US" sz="1300" dirty="0">
                <a:solidFill>
                  <a:srgbClr val="A9B1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Anything you remember and re-inject next turn is a deliberate choice about what fills the window later.</a:t>
            </a:r>
            <a:endParaRPr lang="en-US" sz="16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600" b="1" dirty="0">
                <a:solidFill>
                  <a:srgbClr val="C0CA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Both live or die by their wording</a:t>
            </a:r>
            <a:endParaRPr lang="en-US" sz="1600" dirty="0"/>
          </a:p>
          <a:p>
            <a:pPr lvl="1" indent="0" marL="0">
              <a:spcAft>
                <a:spcPts val="1200"/>
              </a:spcAft>
              <a:buNone/>
            </a:pPr>
            <a:r>
              <a:rPr lang="en-US" sz="1300" dirty="0">
                <a:solidFill>
                  <a:srgbClr val="A9B1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model only knows a tool or a memory through the text you write about it. Design them like prompts, not like plumbing.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6995160" y="2478024"/>
            <a:ext cx="4645152" cy="3054096"/>
          </a:xfrm>
          <a:prstGeom prst="roundRect">
            <a:avLst>
              <a:gd name="adj" fmla="val 2695"/>
            </a:avLst>
          </a:prstGeom>
          <a:solidFill>
            <a:srgbClr val="24283B"/>
          </a:solidFill>
          <a:ln w="15875">
            <a:solidFill>
              <a:srgbClr val="F7768E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7269480" y="2752344"/>
            <a:ext cx="457200" cy="457200"/>
          </a:xfrm>
          <a:prstGeom prst="ellipse">
            <a:avLst/>
          </a:prstGeom>
          <a:solidFill>
            <a:srgbClr val="F7768E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7818120" y="2779776"/>
            <a:ext cx="3657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100" kern="0" dirty="0">
                <a:solidFill>
                  <a:srgbClr val="F7768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THREAD</a:t>
            </a:r>
            <a:endParaRPr lang="en-US" sz="1300" dirty="0"/>
          </a:p>
        </p:txBody>
      </p:sp>
      <p:sp>
        <p:nvSpPr>
          <p:cNvPr id="9" name="Text 7"/>
          <p:cNvSpPr txBox="1"/>
          <p:nvPr/>
        </p:nvSpPr>
        <p:spPr>
          <a:xfrm>
            <a:off x="7269480" y="3438144"/>
            <a:ext cx="4160520" cy="18653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C0CA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 lesson as S5: the win is deciding what enters the window, and how it's phrased — now for actions and recall, not just documents.</a:t>
            </a:r>
            <a:endParaRPr lang="en-US" sz="1600" dirty="0"/>
          </a:p>
        </p:txBody>
      </p:sp>
      <p:sp>
        <p:nvSpPr>
          <p:cNvPr id="10" name="Shape 8"/>
          <p:cNvSpPr/>
          <p:nvPr/>
        </p:nvSpPr>
        <p:spPr>
          <a:xfrm>
            <a:off x="548640" y="6217920"/>
            <a:ext cx="640080" cy="384048"/>
          </a:xfrm>
          <a:prstGeom prst="roundRect">
            <a:avLst>
              <a:gd name="adj" fmla="val 19048"/>
            </a:avLst>
          </a:prstGeom>
          <a:solidFill>
            <a:srgbClr val="F7768E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548640" y="6217920"/>
            <a:ext cx="6400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A1B2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S6</a:t>
            </a:r>
            <a:endParaRPr lang="en-US" sz="1300" dirty="0"/>
          </a:p>
        </p:txBody>
      </p:sp>
      <p:sp>
        <p:nvSpPr>
          <p:cNvPr id="12" name="Text 10"/>
          <p:cNvSpPr txBox="1"/>
          <p:nvPr/>
        </p:nvSpPr>
        <p:spPr>
          <a:xfrm>
            <a:off x="1325880" y="6254496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565F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Prompt &amp; Context Engineering  ·  Context Engineering II — Tools &amp; Memory</a:t>
            </a:r>
            <a:endParaRPr lang="en-US" sz="1000" dirty="0"/>
          </a:p>
        </p:txBody>
      </p:sp>
      <p:sp>
        <p:nvSpPr>
          <p:cNvPr id="13" name="Text 11"/>
          <p:cNvSpPr txBox="1"/>
          <p:nvPr/>
        </p:nvSpPr>
        <p:spPr>
          <a:xfrm>
            <a:off x="8897112" y="6254496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65F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24 Sept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1A1B2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50292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b="1" spc="200" kern="0" dirty="0">
                <a:solidFill>
                  <a:srgbClr val="F7768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TOOLS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868680"/>
            <a:ext cx="1109167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C0CA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tool schema is a prompt</a:t>
            </a:r>
            <a:endParaRPr lang="en-US" sz="34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627632"/>
            <a:ext cx="10881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rgbClr val="A9B1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tool is only as good as its description — because that description is all the model ever sees of it.</a:t>
            </a:r>
            <a:endParaRPr lang="en-US" sz="15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2386584"/>
            <a:ext cx="4709160" cy="34198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500" b="1" dirty="0">
                <a:solidFill>
                  <a:srgbClr val="C0CA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Name, description, typed parameters</a:t>
            </a:r>
            <a:endParaRPr lang="en-US" sz="1500" dirty="0"/>
          </a:p>
          <a:p>
            <a:pPr lvl="1" indent="0" marL="0">
              <a:spcAft>
                <a:spcPts val="1200"/>
              </a:spcAft>
              <a:buNone/>
            </a:pPr>
            <a:r>
              <a:rPr lang="en-US" sz="1300" dirty="0">
                <a:solidFill>
                  <a:srgbClr val="A9B1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That's all the model sees. From this text alone it decides whether to call the tool and how to fill the arguments.</a:t>
            </a:r>
            <a:endParaRPr lang="en-US" sz="15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500" b="1" dirty="0">
                <a:solidFill>
                  <a:srgbClr val="C0CA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Vague description → wrong call</a:t>
            </a:r>
            <a:endParaRPr lang="en-US" sz="1500" dirty="0"/>
          </a:p>
          <a:p>
            <a:pPr lvl="1" indent="0" marL="0">
              <a:spcAft>
                <a:spcPts val="1200"/>
              </a:spcAft>
              <a:buNone/>
            </a:pPr>
            <a:r>
              <a:rPr lang="en-US" sz="1300" dirty="0">
                <a:solidFill>
                  <a:srgbClr val="A9B1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'Gets data' tells the model nothing. Wrong tool, wrong arguments, silent failures follow.</a:t>
            </a:r>
            <a:endParaRPr lang="en-US" sz="15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500" b="1" dirty="0">
                <a:solidFill>
                  <a:srgbClr val="C0CA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Say when to use it — and when not</a:t>
            </a:r>
            <a:endParaRPr lang="en-US" sz="1500" dirty="0"/>
          </a:p>
          <a:p>
            <a:pPr lvl="1" indent="0" marL="0">
              <a:spcAft>
                <a:spcPts val="1200"/>
              </a:spcAft>
              <a:buNone/>
            </a:pPr>
            <a:r>
              <a:rPr lang="en-US" sz="1300" dirty="0">
                <a:solidFill>
                  <a:srgbClr val="A9B1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description is where you scope the tool. Include an example argument to anchor the format.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5532120" y="2386584"/>
            <a:ext cx="6108192" cy="3465576"/>
          </a:xfrm>
          <a:prstGeom prst="roundRect">
            <a:avLst>
              <a:gd name="adj" fmla="val 1583"/>
            </a:avLst>
          </a:prstGeom>
          <a:solidFill>
            <a:srgbClr val="16161E"/>
          </a:solidFill>
          <a:ln w="12700">
            <a:solidFill>
              <a:srgbClr val="2A2E42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5760720" y="2523744"/>
            <a:ext cx="565099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rgbClr val="565F8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tool definition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5788152" y="2889504"/>
            <a:ext cx="5596128" cy="27797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250" dirty="0">
                <a:solidFill>
                  <a:srgbClr val="C0CA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</a:t>
            </a:r>
            <a:endParaRPr lang="en-US" sz="12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250" dirty="0">
                <a:solidFill>
                  <a:srgbClr val="C0CA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spcAft>
                <a:spcPts val="200"/>
              </a:spcAft>
              <a:buNone/>
            </a:pPr>
            <a:r>
              <a:rPr lang="en-US" sz="1250" dirty="0">
                <a:solidFill>
                  <a:srgbClr val="7DC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"name"</a:t>
            </a:r>
            <a:pPr indent="0" marL="0">
              <a:spcAft>
                <a:spcPts val="200"/>
              </a:spcAft>
              <a:buNone/>
            </a:pPr>
            <a:r>
              <a:rPr lang="en-US" sz="1250" dirty="0">
                <a:solidFill>
                  <a:srgbClr val="C0CA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 </a:t>
            </a:r>
            <a:pPr indent="0" marL="0">
              <a:spcAft>
                <a:spcPts val="200"/>
              </a:spcAft>
              <a:buNone/>
            </a:pPr>
            <a:r>
              <a:rPr lang="en-US" sz="1250" dirty="0">
                <a:solidFill>
                  <a:srgbClr val="9ECE6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"get_weather",</a:t>
            </a:r>
            <a:endParaRPr lang="en-US" sz="12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250" dirty="0">
                <a:solidFill>
                  <a:srgbClr val="C0CA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spcAft>
                <a:spcPts val="200"/>
              </a:spcAft>
              <a:buNone/>
            </a:pPr>
            <a:r>
              <a:rPr lang="en-US" sz="1250" dirty="0">
                <a:solidFill>
                  <a:srgbClr val="7DC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"description"</a:t>
            </a:r>
            <a:pPr indent="0" marL="0">
              <a:spcAft>
                <a:spcPts val="200"/>
              </a:spcAft>
              <a:buNone/>
            </a:pPr>
            <a:r>
              <a:rPr lang="en-US" sz="1250" dirty="0">
                <a:solidFill>
                  <a:srgbClr val="C0CA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endParaRPr lang="en-US" sz="12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250" dirty="0">
                <a:solidFill>
                  <a:srgbClr val="9ECE6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"Current weather for a city",</a:t>
            </a:r>
            <a:endParaRPr lang="en-US" sz="12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250" dirty="0">
                <a:solidFill>
                  <a:srgbClr val="C0CA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spcAft>
                <a:spcPts val="200"/>
              </a:spcAft>
              <a:buNone/>
            </a:pPr>
            <a:r>
              <a:rPr lang="en-US" sz="1250" dirty="0">
                <a:solidFill>
                  <a:srgbClr val="7DC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"parameters"</a:t>
            </a:r>
            <a:pPr indent="0" marL="0">
              <a:spcAft>
                <a:spcPts val="200"/>
              </a:spcAft>
              <a:buNone/>
            </a:pPr>
            <a:r>
              <a:rPr lang="en-US" sz="1250" dirty="0">
                <a:solidFill>
                  <a:srgbClr val="C0CA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 {</a:t>
            </a:r>
            <a:endParaRPr lang="en-US" sz="12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250" dirty="0">
                <a:solidFill>
                  <a:srgbClr val="C0CA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city: string (required) }</a:t>
            </a:r>
            <a:endParaRPr lang="en-US" sz="12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250" dirty="0">
                <a:solidFill>
                  <a:srgbClr val="C0CA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548640" y="6217920"/>
            <a:ext cx="640080" cy="384048"/>
          </a:xfrm>
          <a:prstGeom prst="roundRect">
            <a:avLst>
              <a:gd name="adj" fmla="val 19048"/>
            </a:avLst>
          </a:prstGeom>
          <a:solidFill>
            <a:srgbClr val="F7768E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548640" y="6217920"/>
            <a:ext cx="6400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A1B2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S6</a:t>
            </a:r>
            <a:endParaRPr lang="en-US" sz="1300" dirty="0"/>
          </a:p>
        </p:txBody>
      </p:sp>
      <p:sp>
        <p:nvSpPr>
          <p:cNvPr id="11" name="Text 9"/>
          <p:cNvSpPr txBox="1"/>
          <p:nvPr/>
        </p:nvSpPr>
        <p:spPr>
          <a:xfrm>
            <a:off x="1325880" y="6254496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565F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Prompt &amp; Context Engineering  ·  Context Engineering II — Tools &amp; Memory</a:t>
            </a:r>
            <a:endParaRPr lang="en-US" sz="1000" dirty="0"/>
          </a:p>
        </p:txBody>
      </p:sp>
      <p:sp>
        <p:nvSpPr>
          <p:cNvPr id="12" name="Text 10"/>
          <p:cNvSpPr txBox="1"/>
          <p:nvPr/>
        </p:nvSpPr>
        <p:spPr>
          <a:xfrm>
            <a:off x="8897112" y="6254496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65F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24 Sept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1A1B2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50292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b="1" spc="200" kern="0" dirty="0">
                <a:solidFill>
                  <a:srgbClr val="F7768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MECHANICS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868680"/>
            <a:ext cx="1109167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C0CA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tool-calling loop</a:t>
            </a:r>
            <a:endParaRPr lang="en-US" sz="34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627632"/>
            <a:ext cx="10881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rgbClr val="A9B1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Here's the mechanic that trips people up: the model asks, but your code is what actually acts.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548640" y="2432304"/>
            <a:ext cx="530352" cy="530352"/>
          </a:xfrm>
          <a:prstGeom prst="ellipse">
            <a:avLst/>
          </a:prstGeom>
          <a:solidFill>
            <a:srgbClr val="F7768E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548640" y="2432304"/>
            <a:ext cx="53035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A1B2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800" dirty="0"/>
          </a:p>
        </p:txBody>
      </p:sp>
      <p:sp>
        <p:nvSpPr>
          <p:cNvPr id="7" name="Text 5"/>
          <p:cNvSpPr txBox="1"/>
          <p:nvPr/>
        </p:nvSpPr>
        <p:spPr>
          <a:xfrm>
            <a:off x="1325880" y="2414016"/>
            <a:ext cx="10424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C0CA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 proposes</a:t>
            </a:r>
            <a:endParaRPr lang="en-US" sz="1700" dirty="0"/>
          </a:p>
        </p:txBody>
      </p:sp>
      <p:sp>
        <p:nvSpPr>
          <p:cNvPr id="8" name="Text 6"/>
          <p:cNvSpPr txBox="1"/>
          <p:nvPr/>
        </p:nvSpPr>
        <p:spPr>
          <a:xfrm>
            <a:off x="1325880" y="2798064"/>
            <a:ext cx="1042416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50" dirty="0">
                <a:solidFill>
                  <a:srgbClr val="A9B1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Instead of answering, the model returns a structured request: which tool, with which arguments.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548640" y="3456432"/>
            <a:ext cx="530352" cy="530352"/>
          </a:xfrm>
          <a:prstGeom prst="ellipse">
            <a:avLst/>
          </a:prstGeom>
          <a:solidFill>
            <a:srgbClr val="F7768E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548640" y="3456432"/>
            <a:ext cx="53035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A1B2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800" dirty="0"/>
          </a:p>
        </p:txBody>
      </p:sp>
      <p:sp>
        <p:nvSpPr>
          <p:cNvPr id="11" name="Text 9"/>
          <p:cNvSpPr txBox="1"/>
          <p:nvPr/>
        </p:nvSpPr>
        <p:spPr>
          <a:xfrm>
            <a:off x="1325880" y="3438144"/>
            <a:ext cx="10424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C0CA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 execute</a:t>
            </a:r>
            <a:endParaRPr lang="en-US" sz="1700" dirty="0"/>
          </a:p>
        </p:txBody>
      </p:sp>
      <p:sp>
        <p:nvSpPr>
          <p:cNvPr id="12" name="Text 10"/>
          <p:cNvSpPr txBox="1"/>
          <p:nvPr/>
        </p:nvSpPr>
        <p:spPr>
          <a:xfrm>
            <a:off x="1325880" y="3822192"/>
            <a:ext cx="1042416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50" dirty="0">
                <a:solidFill>
                  <a:srgbClr val="A9B1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Your code validates the arguments, runs the actual function, and captures the result. The model never runs anything itself.</a:t>
            </a:r>
            <a:endParaRPr lang="en-US" sz="1350" dirty="0"/>
          </a:p>
        </p:txBody>
      </p:sp>
      <p:sp>
        <p:nvSpPr>
          <p:cNvPr id="13" name="Shape 11"/>
          <p:cNvSpPr/>
          <p:nvPr/>
        </p:nvSpPr>
        <p:spPr>
          <a:xfrm>
            <a:off x="548640" y="4480560"/>
            <a:ext cx="530352" cy="530352"/>
          </a:xfrm>
          <a:prstGeom prst="ellipse">
            <a:avLst/>
          </a:prstGeom>
          <a:solidFill>
            <a:srgbClr val="F7768E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548640" y="4480560"/>
            <a:ext cx="53035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A1B2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800" dirty="0"/>
          </a:p>
        </p:txBody>
      </p:sp>
      <p:sp>
        <p:nvSpPr>
          <p:cNvPr id="15" name="Text 13"/>
          <p:cNvSpPr txBox="1"/>
          <p:nvPr/>
        </p:nvSpPr>
        <p:spPr>
          <a:xfrm>
            <a:off x="1325880" y="4462272"/>
            <a:ext cx="10424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C0CA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Return the result</a:t>
            </a:r>
            <a:endParaRPr lang="en-US" sz="1700" dirty="0"/>
          </a:p>
        </p:txBody>
      </p:sp>
      <p:sp>
        <p:nvSpPr>
          <p:cNvPr id="16" name="Text 14"/>
          <p:cNvSpPr txBox="1"/>
          <p:nvPr/>
        </p:nvSpPr>
        <p:spPr>
          <a:xfrm>
            <a:off x="1325880" y="4846320"/>
            <a:ext cx="1042416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50" dirty="0">
                <a:solidFill>
                  <a:srgbClr val="A9B1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Feed the function's output back into the context as a new message the model can read.</a:t>
            </a:r>
            <a:endParaRPr lang="en-US" sz="1350" dirty="0"/>
          </a:p>
        </p:txBody>
      </p:sp>
      <p:sp>
        <p:nvSpPr>
          <p:cNvPr id="17" name="Shape 15"/>
          <p:cNvSpPr/>
          <p:nvPr/>
        </p:nvSpPr>
        <p:spPr>
          <a:xfrm>
            <a:off x="548640" y="5504688"/>
            <a:ext cx="530352" cy="530352"/>
          </a:xfrm>
          <a:prstGeom prst="ellipse">
            <a:avLst/>
          </a:prstGeom>
          <a:solidFill>
            <a:srgbClr val="F7768E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548640" y="5504688"/>
            <a:ext cx="53035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A1B2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</a:t>
            </a:r>
            <a:endParaRPr lang="en-US" sz="1800" dirty="0"/>
          </a:p>
        </p:txBody>
      </p:sp>
      <p:sp>
        <p:nvSpPr>
          <p:cNvPr id="19" name="Text 17"/>
          <p:cNvSpPr txBox="1"/>
          <p:nvPr/>
        </p:nvSpPr>
        <p:spPr>
          <a:xfrm>
            <a:off x="1325880" y="5486400"/>
            <a:ext cx="10424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C0CA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Continue</a:t>
            </a:r>
            <a:endParaRPr lang="en-US" sz="1700" dirty="0"/>
          </a:p>
        </p:txBody>
      </p:sp>
      <p:sp>
        <p:nvSpPr>
          <p:cNvPr id="20" name="Text 18"/>
          <p:cNvSpPr txBox="1"/>
          <p:nvPr/>
        </p:nvSpPr>
        <p:spPr>
          <a:xfrm>
            <a:off x="1325880" y="5870448"/>
            <a:ext cx="1042416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50" dirty="0">
                <a:solidFill>
                  <a:srgbClr val="A9B1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model uses the result to answer, or to decide on another tool call. Loop until done.</a:t>
            </a:r>
            <a:endParaRPr lang="en-US" sz="1350" dirty="0"/>
          </a:p>
        </p:txBody>
      </p:sp>
      <p:sp>
        <p:nvSpPr>
          <p:cNvPr id="21" name="Shape 19"/>
          <p:cNvSpPr/>
          <p:nvPr/>
        </p:nvSpPr>
        <p:spPr>
          <a:xfrm>
            <a:off x="548640" y="6217920"/>
            <a:ext cx="640080" cy="384048"/>
          </a:xfrm>
          <a:prstGeom prst="roundRect">
            <a:avLst>
              <a:gd name="adj" fmla="val 19048"/>
            </a:avLst>
          </a:prstGeom>
          <a:solidFill>
            <a:srgbClr val="F7768E"/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548640" y="6217920"/>
            <a:ext cx="6400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A1B2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S6</a:t>
            </a:r>
            <a:endParaRPr lang="en-US" sz="1300" dirty="0"/>
          </a:p>
        </p:txBody>
      </p:sp>
      <p:sp>
        <p:nvSpPr>
          <p:cNvPr id="23" name="Text 21"/>
          <p:cNvSpPr txBox="1"/>
          <p:nvPr/>
        </p:nvSpPr>
        <p:spPr>
          <a:xfrm>
            <a:off x="1325880" y="6254496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565F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Prompt &amp; Context Engineering  ·  Context Engineering II — Tools &amp; Memory</a:t>
            </a:r>
            <a:endParaRPr lang="en-US" sz="1000" dirty="0"/>
          </a:p>
        </p:txBody>
      </p:sp>
      <p:sp>
        <p:nvSpPr>
          <p:cNvPr id="24" name="Text 22"/>
          <p:cNvSpPr txBox="1"/>
          <p:nvPr/>
        </p:nvSpPr>
        <p:spPr>
          <a:xfrm>
            <a:off x="8897112" y="6254496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65F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24 Sept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1A1B2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50292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b="1" spc="200" kern="0" dirty="0">
                <a:solidFill>
                  <a:srgbClr val="F7768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KEY INSIGHT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868680"/>
            <a:ext cx="1109167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C0CA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Tool descriptions ARE prompts</a:t>
            </a:r>
            <a:endParaRPr lang="en-US" sz="34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627632"/>
            <a:ext cx="10881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rgbClr val="A9B1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If you remember one thing about agents: when it picks the wrong tool, fix the words, not the wiring.</a:t>
            </a:r>
            <a:endParaRPr lang="en-US" sz="15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2340864"/>
            <a:ext cx="6126480" cy="35112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600" b="1" dirty="0">
                <a:solidFill>
                  <a:srgbClr val="C0CA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description is the whole interface</a:t>
            </a:r>
            <a:endParaRPr lang="en-US" sz="1600" dirty="0"/>
          </a:p>
          <a:p>
            <a:pPr lvl="1" indent="0" marL="0">
              <a:spcAft>
                <a:spcPts val="1200"/>
              </a:spcAft>
              <a:buNone/>
            </a:pPr>
            <a:r>
              <a:rPr lang="en-US" sz="1300" dirty="0">
                <a:solidFill>
                  <a:srgbClr val="A9B1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model's only knowledge of a tool is its name and description. Debugging tool use means editing that text.</a:t>
            </a:r>
            <a:endParaRPr lang="en-US" sz="16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600" b="1" dirty="0">
                <a:solidFill>
                  <a:srgbClr val="C0CA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Give hints and one example</a:t>
            </a:r>
            <a:endParaRPr lang="en-US" sz="1600" dirty="0"/>
          </a:p>
          <a:p>
            <a:pPr lvl="1" indent="0" marL="0">
              <a:spcAft>
                <a:spcPts val="1200"/>
              </a:spcAft>
              <a:buNone/>
            </a:pPr>
            <a:r>
              <a:rPr lang="en-US" sz="1300" dirty="0">
                <a:solidFill>
                  <a:srgbClr val="A9B1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Argument descriptions and a sample call sharply improve how reliably the model uses the tool.</a:t>
            </a:r>
            <a:endParaRPr lang="en-US" sz="16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600" b="1" dirty="0">
                <a:solidFill>
                  <a:srgbClr val="C0CA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Measure tool-selection accuracy</a:t>
            </a:r>
            <a:endParaRPr lang="en-US" sz="1600" dirty="0"/>
          </a:p>
          <a:p>
            <a:pPr lvl="1" indent="0" marL="0">
              <a:spcAft>
                <a:spcPts val="1200"/>
              </a:spcAft>
              <a:buNone/>
            </a:pPr>
            <a:r>
              <a:rPr lang="en-US" sz="1300" dirty="0">
                <a:solidFill>
                  <a:srgbClr val="A9B1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Treat 'did it pick the right tool?' as an eval metric, scored on a set — same discipline as S3.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6995160" y="2478024"/>
            <a:ext cx="4645152" cy="3054096"/>
          </a:xfrm>
          <a:prstGeom prst="roundRect">
            <a:avLst>
              <a:gd name="adj" fmla="val 2695"/>
            </a:avLst>
          </a:prstGeom>
          <a:solidFill>
            <a:srgbClr val="24283B"/>
          </a:solidFill>
          <a:ln w="15875">
            <a:solidFill>
              <a:srgbClr val="F7768E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7269480" y="2752344"/>
            <a:ext cx="457200" cy="457200"/>
          </a:xfrm>
          <a:prstGeom prst="ellipse">
            <a:avLst/>
          </a:prstGeom>
          <a:solidFill>
            <a:srgbClr val="F7768E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7818120" y="2779776"/>
            <a:ext cx="3657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100" kern="0" dirty="0">
                <a:solidFill>
                  <a:srgbClr val="F7768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RULE</a:t>
            </a:r>
            <a:endParaRPr lang="en-US" sz="1300" dirty="0"/>
          </a:p>
        </p:txBody>
      </p:sp>
      <p:sp>
        <p:nvSpPr>
          <p:cNvPr id="9" name="Text 7"/>
          <p:cNvSpPr txBox="1"/>
          <p:nvPr/>
        </p:nvSpPr>
        <p:spPr>
          <a:xfrm>
            <a:off x="7269480" y="3438144"/>
            <a:ext cx="4160520" cy="18653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C0CA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If the agent picks the wrong tool, fix the words, not the wiring. The description is the bug more often than the code is.</a:t>
            </a:r>
            <a:endParaRPr lang="en-US" sz="1600" dirty="0"/>
          </a:p>
        </p:txBody>
      </p:sp>
      <p:sp>
        <p:nvSpPr>
          <p:cNvPr id="10" name="Shape 8"/>
          <p:cNvSpPr/>
          <p:nvPr/>
        </p:nvSpPr>
        <p:spPr>
          <a:xfrm>
            <a:off x="548640" y="6217920"/>
            <a:ext cx="640080" cy="384048"/>
          </a:xfrm>
          <a:prstGeom prst="roundRect">
            <a:avLst>
              <a:gd name="adj" fmla="val 19048"/>
            </a:avLst>
          </a:prstGeom>
          <a:solidFill>
            <a:srgbClr val="F7768E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548640" y="6217920"/>
            <a:ext cx="6400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A1B2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S6</a:t>
            </a:r>
            <a:endParaRPr lang="en-US" sz="1300" dirty="0"/>
          </a:p>
        </p:txBody>
      </p:sp>
      <p:sp>
        <p:nvSpPr>
          <p:cNvPr id="12" name="Text 10"/>
          <p:cNvSpPr txBox="1"/>
          <p:nvPr/>
        </p:nvSpPr>
        <p:spPr>
          <a:xfrm>
            <a:off x="1325880" y="6254496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565F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Prompt &amp; Context Engineering  ·  Context Engineering II — Tools &amp; Memory</a:t>
            </a:r>
            <a:endParaRPr lang="en-US" sz="1000" dirty="0"/>
          </a:p>
        </p:txBody>
      </p:sp>
      <p:sp>
        <p:nvSpPr>
          <p:cNvPr id="13" name="Text 11"/>
          <p:cNvSpPr txBox="1"/>
          <p:nvPr/>
        </p:nvSpPr>
        <p:spPr>
          <a:xfrm>
            <a:off x="8897112" y="6254496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65F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24 Sept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1A1B2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50292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b="1" spc="200" kern="0" dirty="0">
                <a:solidFill>
                  <a:srgbClr val="F7768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MEMORY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868680"/>
            <a:ext cx="1109167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C0CA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Memory as curated context</a:t>
            </a:r>
            <a:endParaRPr lang="en-US" sz="34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627632"/>
            <a:ext cx="10881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rgbClr val="A9B1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Memory isn't a database you dump into — it's a careful choice about what's worth carrying forward.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548640" y="2432304"/>
            <a:ext cx="5394960" cy="1810512"/>
          </a:xfrm>
          <a:prstGeom prst="roundRect">
            <a:avLst>
              <a:gd name="adj" fmla="val 4545"/>
            </a:avLst>
          </a:prstGeom>
          <a:solidFill>
            <a:srgbClr val="24283B"/>
          </a:solidFill>
          <a:ln w="12700">
            <a:solidFill>
              <a:srgbClr val="2A2E42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22960" y="2724912"/>
            <a:ext cx="548640" cy="548640"/>
          </a:xfrm>
          <a:prstGeom prst="ellipse">
            <a:avLst/>
          </a:prstGeom>
          <a:solidFill>
            <a:srgbClr val="F7768E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822960" y="2724912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1A1B2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◧</a:t>
            </a:r>
            <a:endParaRPr lang="en-US" sz="1900" dirty="0"/>
          </a:p>
        </p:txBody>
      </p:sp>
      <p:sp>
        <p:nvSpPr>
          <p:cNvPr id="8" name="Text 6"/>
          <p:cNvSpPr txBox="1"/>
          <p:nvPr/>
        </p:nvSpPr>
        <p:spPr>
          <a:xfrm>
            <a:off x="1508760" y="2688336"/>
            <a:ext cx="4206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C0CA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Semantic</a:t>
            </a:r>
            <a:endParaRPr lang="en-US" sz="1700" dirty="0"/>
          </a:p>
        </p:txBody>
      </p:sp>
      <p:sp>
        <p:nvSpPr>
          <p:cNvPr id="9" name="Text 7"/>
          <p:cNvSpPr txBox="1"/>
          <p:nvPr/>
        </p:nvSpPr>
        <p:spPr>
          <a:xfrm>
            <a:off x="822960" y="3346704"/>
            <a:ext cx="48463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A9B1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Durable facts about the user or world: 'prefers metric units', 'works in finance'. Re-injected when relevant.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6245352" y="2432304"/>
            <a:ext cx="5394960" cy="1810512"/>
          </a:xfrm>
          <a:prstGeom prst="roundRect">
            <a:avLst>
              <a:gd name="adj" fmla="val 4545"/>
            </a:avLst>
          </a:prstGeom>
          <a:solidFill>
            <a:srgbClr val="24283B"/>
          </a:solidFill>
          <a:ln w="12700">
            <a:solidFill>
              <a:srgbClr val="2A2E42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6519672" y="2724912"/>
            <a:ext cx="548640" cy="548640"/>
          </a:xfrm>
          <a:prstGeom prst="ellipse">
            <a:avLst/>
          </a:prstGeom>
          <a:solidFill>
            <a:srgbClr val="9ECE6A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6519672" y="2724912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1A1B2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◷</a:t>
            </a:r>
            <a:endParaRPr lang="en-US" sz="1900" dirty="0"/>
          </a:p>
        </p:txBody>
      </p:sp>
      <p:sp>
        <p:nvSpPr>
          <p:cNvPr id="13" name="Text 11"/>
          <p:cNvSpPr txBox="1"/>
          <p:nvPr/>
        </p:nvSpPr>
        <p:spPr>
          <a:xfrm>
            <a:off x="7205472" y="2688336"/>
            <a:ext cx="4206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C0CA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Episodic</a:t>
            </a:r>
            <a:endParaRPr lang="en-US" sz="1700" dirty="0"/>
          </a:p>
        </p:txBody>
      </p:sp>
      <p:sp>
        <p:nvSpPr>
          <p:cNvPr id="14" name="Text 12"/>
          <p:cNvSpPr txBox="1"/>
          <p:nvPr/>
        </p:nvSpPr>
        <p:spPr>
          <a:xfrm>
            <a:off x="6519672" y="3346704"/>
            <a:ext cx="48463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A9B1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Records of past interactions — what happened and when — that inform future turns.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548640" y="4443984"/>
            <a:ext cx="5394960" cy="1810512"/>
          </a:xfrm>
          <a:prstGeom prst="roundRect">
            <a:avLst>
              <a:gd name="adj" fmla="val 4545"/>
            </a:avLst>
          </a:prstGeom>
          <a:solidFill>
            <a:srgbClr val="24283B"/>
          </a:solidFill>
          <a:ln w="12700">
            <a:solidFill>
              <a:srgbClr val="2A2E42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822960" y="4736592"/>
            <a:ext cx="548640" cy="548640"/>
          </a:xfrm>
          <a:prstGeom prst="ellipse">
            <a:avLst/>
          </a:prstGeom>
          <a:solidFill>
            <a:srgbClr val="FF9E64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822960" y="4736592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1A1B2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⚙</a:t>
            </a:r>
            <a:endParaRPr lang="en-US" sz="1900" dirty="0"/>
          </a:p>
        </p:txBody>
      </p:sp>
      <p:sp>
        <p:nvSpPr>
          <p:cNvPr id="18" name="Text 16"/>
          <p:cNvSpPr txBox="1"/>
          <p:nvPr/>
        </p:nvSpPr>
        <p:spPr>
          <a:xfrm>
            <a:off x="1508760" y="4700016"/>
            <a:ext cx="4206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C0CA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Procedural</a:t>
            </a:r>
            <a:endParaRPr lang="en-US" sz="1700" dirty="0"/>
          </a:p>
        </p:txBody>
      </p:sp>
      <p:sp>
        <p:nvSpPr>
          <p:cNvPr id="19" name="Text 17"/>
          <p:cNvSpPr txBox="1"/>
          <p:nvPr/>
        </p:nvSpPr>
        <p:spPr>
          <a:xfrm>
            <a:off x="822960" y="5358384"/>
            <a:ext cx="48463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A9B1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How-to routines and instructions the agent should follow consistently across sessions.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6245352" y="4443984"/>
            <a:ext cx="5394960" cy="1810512"/>
          </a:xfrm>
          <a:prstGeom prst="roundRect">
            <a:avLst>
              <a:gd name="adj" fmla="val 4545"/>
            </a:avLst>
          </a:prstGeom>
          <a:solidFill>
            <a:srgbClr val="24283B"/>
          </a:solidFill>
          <a:ln w="12700">
            <a:solidFill>
              <a:srgbClr val="2A2E42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6519672" y="4736592"/>
            <a:ext cx="548640" cy="548640"/>
          </a:xfrm>
          <a:prstGeom prst="ellipse">
            <a:avLst/>
          </a:prstGeom>
          <a:solidFill>
            <a:srgbClr val="7DCFFF"/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6519672" y="4736592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1A1B2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!</a:t>
            </a:r>
            <a:endParaRPr lang="en-US" sz="1900" dirty="0"/>
          </a:p>
        </p:txBody>
      </p:sp>
      <p:sp>
        <p:nvSpPr>
          <p:cNvPr id="23" name="Text 21"/>
          <p:cNvSpPr txBox="1"/>
          <p:nvPr/>
        </p:nvSpPr>
        <p:spPr>
          <a:xfrm>
            <a:off x="7205472" y="4700016"/>
            <a:ext cx="4206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C0CA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Curate ruthlessly</a:t>
            </a:r>
            <a:endParaRPr lang="en-US" sz="1700" dirty="0"/>
          </a:p>
        </p:txBody>
      </p:sp>
      <p:sp>
        <p:nvSpPr>
          <p:cNvPr id="24" name="Text 22"/>
          <p:cNvSpPr txBox="1"/>
          <p:nvPr/>
        </p:nvSpPr>
        <p:spPr>
          <a:xfrm>
            <a:off x="6519672" y="5358384"/>
            <a:ext cx="48463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A9B1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only what's durable; retrieve only what's relevant. Stale or bloated memory hurts more than no memory.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548640" y="6217920"/>
            <a:ext cx="640080" cy="384048"/>
          </a:xfrm>
          <a:prstGeom prst="roundRect">
            <a:avLst>
              <a:gd name="adj" fmla="val 19048"/>
            </a:avLst>
          </a:prstGeom>
          <a:solidFill>
            <a:srgbClr val="F7768E"/>
          </a:solidFill>
          <a:ln/>
        </p:spPr>
      </p:sp>
      <p:sp>
        <p:nvSpPr>
          <p:cNvPr id="26" name="Text 24"/>
          <p:cNvSpPr txBox="1"/>
          <p:nvPr/>
        </p:nvSpPr>
        <p:spPr>
          <a:xfrm>
            <a:off x="548640" y="6217920"/>
            <a:ext cx="6400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A1B2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S6</a:t>
            </a:r>
            <a:endParaRPr lang="en-US" sz="1300" dirty="0"/>
          </a:p>
        </p:txBody>
      </p:sp>
      <p:sp>
        <p:nvSpPr>
          <p:cNvPr id="27" name="Text 25"/>
          <p:cNvSpPr txBox="1"/>
          <p:nvPr/>
        </p:nvSpPr>
        <p:spPr>
          <a:xfrm>
            <a:off x="1325880" y="6254496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565F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Prompt &amp; Context Engineering  ·  Context Engineering II — Tools &amp; Memory</a:t>
            </a:r>
            <a:endParaRPr lang="en-US" sz="1000" dirty="0"/>
          </a:p>
        </p:txBody>
      </p:sp>
      <p:sp>
        <p:nvSpPr>
          <p:cNvPr id="28" name="Text 26"/>
          <p:cNvSpPr txBox="1"/>
          <p:nvPr/>
        </p:nvSpPr>
        <p:spPr>
          <a:xfrm>
            <a:off x="8897112" y="6254496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65F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24 Sept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1A1B2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50292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b="1" spc="200" kern="0" dirty="0">
                <a:solidFill>
                  <a:srgbClr val="F7768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AGENTS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868680"/>
            <a:ext cx="1109167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C0CA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Prompting inside an agent</a:t>
            </a:r>
            <a:endParaRPr lang="en-US" sz="34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627632"/>
            <a:ext cx="10881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rgbClr val="A9B1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agent is really just a loop steered by prompts — good news, because prompts are what you already know how to fix.</a:t>
            </a:r>
            <a:endParaRPr lang="en-US" sz="15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2340864"/>
            <a:ext cx="6126480" cy="35112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600" b="1" dirty="0">
                <a:solidFill>
                  <a:srgbClr val="C0CA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system prompt sets the mission</a:t>
            </a:r>
            <a:endParaRPr lang="en-US" sz="1600" dirty="0"/>
          </a:p>
          <a:p>
            <a:pPr lvl="1" indent="0" marL="0">
              <a:spcAft>
                <a:spcPts val="1200"/>
              </a:spcAft>
              <a:buNone/>
            </a:pPr>
            <a:r>
              <a:rPr lang="en-US" sz="1300" dirty="0">
                <a:solidFill>
                  <a:srgbClr val="A9B1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Goal, constraints and boundaries live here. A loose system prompt gives a wandering agent.</a:t>
            </a:r>
            <a:endParaRPr lang="en-US" sz="16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600" b="1" dirty="0">
                <a:solidFill>
                  <a:srgbClr val="C0CA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Tool descriptions steer the path</a:t>
            </a:r>
            <a:endParaRPr lang="en-US" sz="1600" dirty="0"/>
          </a:p>
          <a:p>
            <a:pPr lvl="1" indent="0" marL="0">
              <a:spcAft>
                <a:spcPts val="1200"/>
              </a:spcAft>
              <a:buNone/>
            </a:pPr>
            <a:r>
              <a:rPr lang="en-US" sz="1300" dirty="0">
                <a:solidFill>
                  <a:srgbClr val="A9B1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Which tool the agent reaches for is decided by their wording — so the descriptions shape the whole trajectory.</a:t>
            </a:r>
            <a:endParaRPr lang="en-US" sz="16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600" b="1" dirty="0">
                <a:solidFill>
                  <a:srgbClr val="C0CA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State clutter is context clutter</a:t>
            </a:r>
            <a:endParaRPr lang="en-US" sz="1600" dirty="0"/>
          </a:p>
          <a:p>
            <a:pPr lvl="1" indent="0" marL="0">
              <a:spcAft>
                <a:spcPts val="1200"/>
              </a:spcAft>
              <a:buNone/>
            </a:pPr>
            <a:r>
              <a:rPr lang="en-US" sz="1300" dirty="0">
                <a:solidFill>
                  <a:srgbClr val="A9B1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Everything accumulated in the loop competes for attention. Keep the working context lean or quality decays.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6995160" y="2478024"/>
            <a:ext cx="4645152" cy="3054096"/>
          </a:xfrm>
          <a:prstGeom prst="roundRect">
            <a:avLst>
              <a:gd name="adj" fmla="val 2695"/>
            </a:avLst>
          </a:prstGeom>
          <a:solidFill>
            <a:srgbClr val="24283B"/>
          </a:solidFill>
          <a:ln w="15875">
            <a:solidFill>
              <a:srgbClr val="F7768E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7269480" y="2752344"/>
            <a:ext cx="457200" cy="457200"/>
          </a:xfrm>
          <a:prstGeom prst="ellipse">
            <a:avLst/>
          </a:prstGeom>
          <a:solidFill>
            <a:srgbClr val="F7768E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7818120" y="2779776"/>
            <a:ext cx="3657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100" kern="0" dirty="0">
                <a:solidFill>
                  <a:srgbClr val="F7768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TAKEAWAY</a:t>
            </a:r>
            <a:endParaRPr lang="en-US" sz="1300" dirty="0"/>
          </a:p>
        </p:txBody>
      </p:sp>
      <p:sp>
        <p:nvSpPr>
          <p:cNvPr id="9" name="Text 7"/>
          <p:cNvSpPr txBox="1"/>
          <p:nvPr/>
        </p:nvSpPr>
        <p:spPr>
          <a:xfrm>
            <a:off x="7269480" y="3438144"/>
            <a:ext cx="4160520" cy="18653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C0CA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Most agent misbehaviour is a prompt or description problem, not a code problem. Reach for the text before the debugger.</a:t>
            </a:r>
            <a:endParaRPr lang="en-US" sz="1600" dirty="0"/>
          </a:p>
        </p:txBody>
      </p:sp>
      <p:sp>
        <p:nvSpPr>
          <p:cNvPr id="10" name="Shape 8"/>
          <p:cNvSpPr/>
          <p:nvPr/>
        </p:nvSpPr>
        <p:spPr>
          <a:xfrm>
            <a:off x="548640" y="6217920"/>
            <a:ext cx="640080" cy="384048"/>
          </a:xfrm>
          <a:prstGeom prst="roundRect">
            <a:avLst>
              <a:gd name="adj" fmla="val 19048"/>
            </a:avLst>
          </a:prstGeom>
          <a:solidFill>
            <a:srgbClr val="F7768E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548640" y="6217920"/>
            <a:ext cx="6400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A1B2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S6</a:t>
            </a:r>
            <a:endParaRPr lang="en-US" sz="1300" dirty="0"/>
          </a:p>
        </p:txBody>
      </p:sp>
      <p:sp>
        <p:nvSpPr>
          <p:cNvPr id="12" name="Text 10"/>
          <p:cNvSpPr txBox="1"/>
          <p:nvPr/>
        </p:nvSpPr>
        <p:spPr>
          <a:xfrm>
            <a:off x="1325880" y="6254496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565F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Prompt &amp; Context Engineering  ·  Context Engineering II — Tools &amp; Memory</a:t>
            </a:r>
            <a:endParaRPr lang="en-US" sz="1000" dirty="0"/>
          </a:p>
        </p:txBody>
      </p:sp>
      <p:sp>
        <p:nvSpPr>
          <p:cNvPr id="13" name="Text 11"/>
          <p:cNvSpPr txBox="1"/>
          <p:nvPr/>
        </p:nvSpPr>
        <p:spPr>
          <a:xfrm>
            <a:off x="8897112" y="6254496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65F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24 Sept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1A1B2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50292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b="1" spc="200" kern="0" dirty="0">
                <a:solidFill>
                  <a:srgbClr val="F7768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HANDS-ON LAB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868680"/>
            <a:ext cx="1109167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C0CA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Lab — Tools &amp; their descriptions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548640" y="1554480"/>
            <a:ext cx="2377440" cy="384048"/>
          </a:xfrm>
          <a:prstGeom prst="roundRect">
            <a:avLst>
              <a:gd name="adj" fmla="val 19048"/>
            </a:avLst>
          </a:prstGeom>
          <a:solidFill>
            <a:srgbClr val="F7768E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548640" y="1554480"/>
            <a:ext cx="23774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A1B2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HOSTED · OPENAI</a:t>
            </a:r>
            <a:endParaRPr lang="en-US" sz="1300" dirty="0"/>
          </a:p>
        </p:txBody>
      </p:sp>
      <p:sp>
        <p:nvSpPr>
          <p:cNvPr id="6" name="Text 4"/>
          <p:cNvSpPr txBox="1"/>
          <p:nvPr/>
        </p:nvSpPr>
        <p:spPr>
          <a:xfrm>
            <a:off x="3108960" y="1572768"/>
            <a:ext cx="8229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565F8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prompt-engineering-course/06_tools_memory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548640" y="2194560"/>
            <a:ext cx="7040880" cy="3657600"/>
          </a:xfrm>
          <a:prstGeom prst="roundRect">
            <a:avLst>
              <a:gd name="adj" fmla="val 2250"/>
            </a:avLst>
          </a:prstGeom>
          <a:solidFill>
            <a:srgbClr val="24283B"/>
          </a:solidFill>
          <a:ln w="12700">
            <a:solidFill>
              <a:srgbClr val="2A2E42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868680" y="2395728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spc="200" kern="0" dirty="0">
                <a:solidFill>
                  <a:srgbClr val="565F8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TASKS</a:t>
            </a:r>
            <a:endParaRPr lang="en-US" sz="1200" dirty="0"/>
          </a:p>
        </p:txBody>
      </p:sp>
      <p:sp>
        <p:nvSpPr>
          <p:cNvPr id="9" name="Text 7"/>
          <p:cNvSpPr txBox="1"/>
          <p:nvPr/>
        </p:nvSpPr>
        <p:spPr>
          <a:xfrm>
            <a:off x="868680" y="2788920"/>
            <a:ext cx="6400800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100"/>
              </a:spcAft>
              <a:buSzPct val="100000"/>
              <a:buFont typeface="+mj-lt"/>
              <a:buAutoNum type="arabicPeriod" startAt="1"/>
            </a:pPr>
            <a:r>
              <a:rPr lang="en-US" sz="1500" dirty="0">
                <a:solidFill>
                  <a:srgbClr val="A9B1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Define a tool with a typed schema and a clear description</a:t>
            </a:r>
            <a:endParaRPr lang="en-US" sz="1500" dirty="0"/>
          </a:p>
          <a:p>
            <a:pPr marL="342900" indent="-342900">
              <a:spcAft>
                <a:spcPts val="1100"/>
              </a:spcAft>
              <a:buSzPct val="100000"/>
              <a:buFont typeface="+mj-lt"/>
              <a:buAutoNum type="arabicPeriod" startAt="1"/>
            </a:pPr>
            <a:r>
              <a:rPr lang="en-US" sz="1500" dirty="0">
                <a:solidFill>
                  <a:srgbClr val="A9B1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Wire the model to call it and handle the returned result</a:t>
            </a:r>
            <a:endParaRPr lang="en-US" sz="1500" dirty="0"/>
          </a:p>
          <a:p>
            <a:pPr marL="342900" indent="-342900">
              <a:spcAft>
                <a:spcPts val="1100"/>
              </a:spcAft>
              <a:buSzPct val="100000"/>
              <a:buFont typeface="+mj-lt"/>
              <a:buAutoNum type="arabicPeriod" startAt="1"/>
            </a:pPr>
            <a:r>
              <a:rPr lang="en-US" sz="1500" dirty="0">
                <a:solidFill>
                  <a:srgbClr val="A9B1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Break the description on purpose; watch tool selection fail</a:t>
            </a:r>
            <a:endParaRPr lang="en-US" sz="1500" dirty="0"/>
          </a:p>
          <a:p>
            <a:pPr marL="342900" indent="-342900">
              <a:spcAft>
                <a:spcPts val="1100"/>
              </a:spcAft>
              <a:buSzPct val="100000"/>
              <a:buFont typeface="+mj-lt"/>
              <a:buAutoNum type="arabicPeriod" startAt="1"/>
            </a:pPr>
            <a:r>
              <a:rPr lang="en-US" sz="1500" dirty="0">
                <a:solidFill>
                  <a:srgbClr val="A9B1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Measure tool-selection accuracy before and after the fix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7818120" y="2194560"/>
            <a:ext cx="3822192" cy="3657600"/>
          </a:xfrm>
          <a:prstGeom prst="roundRect">
            <a:avLst>
              <a:gd name="adj" fmla="val 2250"/>
            </a:avLst>
          </a:prstGeom>
          <a:solidFill>
            <a:srgbClr val="24283B"/>
          </a:solidFill>
          <a:ln w="15875">
            <a:solidFill>
              <a:srgbClr val="F7768E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8092440" y="2468880"/>
            <a:ext cx="457200" cy="457200"/>
          </a:xfrm>
          <a:prstGeom prst="ellipse">
            <a:avLst/>
          </a:prstGeom>
          <a:solidFill>
            <a:srgbClr val="F7768E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8092440" y="24688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1A1B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↳</a:t>
            </a:r>
            <a:endParaRPr lang="en-US" sz="2000" dirty="0"/>
          </a:p>
        </p:txBody>
      </p:sp>
      <p:sp>
        <p:nvSpPr>
          <p:cNvPr id="13" name="Text 11"/>
          <p:cNvSpPr txBox="1"/>
          <p:nvPr/>
        </p:nvSpPr>
        <p:spPr>
          <a:xfrm>
            <a:off x="8686800" y="2487168"/>
            <a:ext cx="2743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F7768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DELIVERABLE</a:t>
            </a:r>
            <a:endParaRPr lang="en-US" sz="1200" dirty="0"/>
          </a:p>
        </p:txBody>
      </p:sp>
      <p:sp>
        <p:nvSpPr>
          <p:cNvPr id="14" name="Text 12"/>
          <p:cNvSpPr txBox="1"/>
          <p:nvPr/>
        </p:nvSpPr>
        <p:spPr>
          <a:xfrm>
            <a:off x="8092440" y="3154680"/>
            <a:ext cx="3291840" cy="2560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rgbClr val="C0CA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working tool call plus a measured example of how a better description improved tool-selection accuracy.</a:t>
            </a:r>
            <a:endParaRPr lang="en-US" sz="1500" dirty="0"/>
          </a:p>
        </p:txBody>
      </p:sp>
      <p:sp>
        <p:nvSpPr>
          <p:cNvPr id="15" name="Shape 13"/>
          <p:cNvSpPr/>
          <p:nvPr/>
        </p:nvSpPr>
        <p:spPr>
          <a:xfrm>
            <a:off x="548640" y="6217920"/>
            <a:ext cx="640080" cy="384048"/>
          </a:xfrm>
          <a:prstGeom prst="roundRect">
            <a:avLst>
              <a:gd name="adj" fmla="val 19048"/>
            </a:avLst>
          </a:prstGeom>
          <a:solidFill>
            <a:srgbClr val="F7768E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548640" y="6217920"/>
            <a:ext cx="6400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A1B2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S6</a:t>
            </a:r>
            <a:endParaRPr lang="en-US" sz="1300" dirty="0"/>
          </a:p>
        </p:txBody>
      </p:sp>
      <p:sp>
        <p:nvSpPr>
          <p:cNvPr id="17" name="Text 15"/>
          <p:cNvSpPr txBox="1"/>
          <p:nvPr/>
        </p:nvSpPr>
        <p:spPr>
          <a:xfrm>
            <a:off x="1325880" y="6254496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565F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Prompt &amp; Context Engineering  ·  Context Engineering II — Tools &amp; Memory</a:t>
            </a:r>
            <a:endParaRPr lang="en-US" sz="1000" dirty="0"/>
          </a:p>
        </p:txBody>
      </p:sp>
      <p:sp>
        <p:nvSpPr>
          <p:cNvPr id="18" name="Text 16"/>
          <p:cNvSpPr txBox="1"/>
          <p:nvPr/>
        </p:nvSpPr>
        <p:spPr>
          <a:xfrm>
            <a:off x="8897112" y="6254496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65F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24 Sept</a:t>
            </a:r>
            <a:endParaRPr lang="en-US" sz="1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1A1B2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50292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b="1" spc="200" kern="0" dirty="0">
                <a:solidFill>
                  <a:srgbClr val="F7768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ASSESSMENT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868680"/>
            <a:ext cx="1109167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C0CA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Capstone brief</a:t>
            </a:r>
            <a:endParaRPr lang="en-US" sz="34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627632"/>
            <a:ext cx="10881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rgbClr val="A9B1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Time to point all of this at something real — here's what you'll build and present.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548640" y="2432304"/>
            <a:ext cx="530352" cy="530352"/>
          </a:xfrm>
          <a:prstGeom prst="ellipse">
            <a:avLst/>
          </a:prstGeom>
          <a:solidFill>
            <a:srgbClr val="F7768E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548640" y="2432304"/>
            <a:ext cx="53035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A1B2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800" dirty="0"/>
          </a:p>
        </p:txBody>
      </p:sp>
      <p:sp>
        <p:nvSpPr>
          <p:cNvPr id="7" name="Text 5"/>
          <p:cNvSpPr txBox="1"/>
          <p:nvPr/>
        </p:nvSpPr>
        <p:spPr>
          <a:xfrm>
            <a:off x="1325880" y="2414016"/>
            <a:ext cx="10424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C0CA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</a:t>
            </a:r>
            <a:endParaRPr lang="en-US" sz="1700" dirty="0"/>
          </a:p>
        </p:txBody>
      </p:sp>
      <p:sp>
        <p:nvSpPr>
          <p:cNvPr id="8" name="Text 6"/>
          <p:cNvSpPr txBox="1"/>
          <p:nvPr/>
        </p:nvSpPr>
        <p:spPr>
          <a:xfrm>
            <a:off x="1325880" y="2798064"/>
            <a:ext cx="1042416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50" dirty="0">
                <a:solidFill>
                  <a:srgbClr val="A9B1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small prompt-driven app: a grounded RAG bot, a structured extractor, or a simple tool-using agent.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548640" y="3456432"/>
            <a:ext cx="530352" cy="530352"/>
          </a:xfrm>
          <a:prstGeom prst="ellipse">
            <a:avLst/>
          </a:prstGeom>
          <a:solidFill>
            <a:srgbClr val="F7768E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548640" y="3456432"/>
            <a:ext cx="53035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A1B2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800" dirty="0"/>
          </a:p>
        </p:txBody>
      </p:sp>
      <p:sp>
        <p:nvSpPr>
          <p:cNvPr id="11" name="Text 9"/>
          <p:cNvSpPr txBox="1"/>
          <p:nvPr/>
        </p:nvSpPr>
        <p:spPr>
          <a:xfrm>
            <a:off x="1325880" y="3438144"/>
            <a:ext cx="10424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C0CA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Document your prompts</a:t>
            </a:r>
            <a:endParaRPr lang="en-US" sz="1700" dirty="0"/>
          </a:p>
        </p:txBody>
      </p:sp>
      <p:sp>
        <p:nvSpPr>
          <p:cNvPr id="12" name="Text 10"/>
          <p:cNvSpPr txBox="1"/>
          <p:nvPr/>
        </p:nvSpPr>
        <p:spPr>
          <a:xfrm>
            <a:off x="1325880" y="3822192"/>
            <a:ext cx="1042416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50" dirty="0">
                <a:solidFill>
                  <a:srgbClr val="A9B1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Show the prompts and, crucially, the iterations that moved the numbers — your S3 discipline applied.</a:t>
            </a:r>
            <a:endParaRPr lang="en-US" sz="1350" dirty="0"/>
          </a:p>
        </p:txBody>
      </p:sp>
      <p:sp>
        <p:nvSpPr>
          <p:cNvPr id="13" name="Shape 11"/>
          <p:cNvSpPr/>
          <p:nvPr/>
        </p:nvSpPr>
        <p:spPr>
          <a:xfrm>
            <a:off x="548640" y="4480560"/>
            <a:ext cx="530352" cy="530352"/>
          </a:xfrm>
          <a:prstGeom prst="ellipse">
            <a:avLst/>
          </a:prstGeom>
          <a:solidFill>
            <a:srgbClr val="F7768E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548640" y="4480560"/>
            <a:ext cx="53035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A1B2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800" dirty="0"/>
          </a:p>
        </p:txBody>
      </p:sp>
      <p:sp>
        <p:nvSpPr>
          <p:cNvPr id="15" name="Text 13"/>
          <p:cNvSpPr txBox="1"/>
          <p:nvPr/>
        </p:nvSpPr>
        <p:spPr>
          <a:xfrm>
            <a:off x="1325880" y="4462272"/>
            <a:ext cx="10424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C0CA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Evaluate</a:t>
            </a:r>
            <a:endParaRPr lang="en-US" sz="1700" dirty="0"/>
          </a:p>
        </p:txBody>
      </p:sp>
      <p:sp>
        <p:nvSpPr>
          <p:cNvPr id="16" name="Text 14"/>
          <p:cNvSpPr txBox="1"/>
          <p:nvPr/>
        </p:nvSpPr>
        <p:spPr>
          <a:xfrm>
            <a:off x="1325880" y="4846320"/>
            <a:ext cx="1042416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50" dirty="0">
                <a:solidFill>
                  <a:srgbClr val="A9B1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eval set, an LLM-as-judge check, and at least one prompt-injection test case (S8).</a:t>
            </a:r>
            <a:endParaRPr lang="en-US" sz="1350" dirty="0"/>
          </a:p>
        </p:txBody>
      </p:sp>
      <p:sp>
        <p:nvSpPr>
          <p:cNvPr id="17" name="Shape 15"/>
          <p:cNvSpPr/>
          <p:nvPr/>
        </p:nvSpPr>
        <p:spPr>
          <a:xfrm>
            <a:off x="548640" y="5504688"/>
            <a:ext cx="530352" cy="530352"/>
          </a:xfrm>
          <a:prstGeom prst="ellipse">
            <a:avLst/>
          </a:prstGeom>
          <a:solidFill>
            <a:srgbClr val="F7768E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548640" y="5504688"/>
            <a:ext cx="53035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A1B2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</a:t>
            </a:r>
            <a:endParaRPr lang="en-US" sz="1800" dirty="0"/>
          </a:p>
        </p:txBody>
      </p:sp>
      <p:sp>
        <p:nvSpPr>
          <p:cNvPr id="19" name="Text 17"/>
          <p:cNvSpPr txBox="1"/>
          <p:nvPr/>
        </p:nvSpPr>
        <p:spPr>
          <a:xfrm>
            <a:off x="1325880" y="5486400"/>
            <a:ext cx="10424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C0CA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Deliver</a:t>
            </a:r>
            <a:endParaRPr lang="en-US" sz="1700" dirty="0"/>
          </a:p>
        </p:txBody>
      </p:sp>
      <p:sp>
        <p:nvSpPr>
          <p:cNvPr id="20" name="Text 18"/>
          <p:cNvSpPr txBox="1"/>
          <p:nvPr/>
        </p:nvSpPr>
        <p:spPr>
          <a:xfrm>
            <a:off x="1325880" y="5870448"/>
            <a:ext cx="1042416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50" dirty="0">
                <a:solidFill>
                  <a:srgbClr val="A9B1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team repo, work integrated via reviewed pull requests, submitted as a tagged release. Present in Session 9.</a:t>
            </a:r>
            <a:endParaRPr lang="en-US" sz="1350" dirty="0"/>
          </a:p>
        </p:txBody>
      </p:sp>
      <p:sp>
        <p:nvSpPr>
          <p:cNvPr id="21" name="Shape 19"/>
          <p:cNvSpPr/>
          <p:nvPr/>
        </p:nvSpPr>
        <p:spPr>
          <a:xfrm>
            <a:off x="548640" y="6217920"/>
            <a:ext cx="640080" cy="384048"/>
          </a:xfrm>
          <a:prstGeom prst="roundRect">
            <a:avLst>
              <a:gd name="adj" fmla="val 19048"/>
            </a:avLst>
          </a:prstGeom>
          <a:solidFill>
            <a:srgbClr val="F7768E"/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548640" y="6217920"/>
            <a:ext cx="6400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A1B2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S6</a:t>
            </a:r>
            <a:endParaRPr lang="en-US" sz="1300" dirty="0"/>
          </a:p>
        </p:txBody>
      </p:sp>
      <p:sp>
        <p:nvSpPr>
          <p:cNvPr id="23" name="Text 21"/>
          <p:cNvSpPr txBox="1"/>
          <p:nvPr/>
        </p:nvSpPr>
        <p:spPr>
          <a:xfrm>
            <a:off x="1325880" y="6254496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565F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Prompt &amp; Context Engineering  ·  Context Engineering II — Tools &amp; Memory</a:t>
            </a:r>
            <a:endParaRPr lang="en-US" sz="1000" dirty="0"/>
          </a:p>
        </p:txBody>
      </p:sp>
      <p:sp>
        <p:nvSpPr>
          <p:cNvPr id="24" name="Text 22"/>
          <p:cNvSpPr txBox="1"/>
          <p:nvPr/>
        </p:nvSpPr>
        <p:spPr>
          <a:xfrm>
            <a:off x="8897112" y="6254496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65F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24 Sept</a:t>
            </a:r>
            <a:endParaRPr lang="en-US" sz="10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1A1B2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50292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b="1" spc="200" kern="0" dirty="0">
                <a:solidFill>
                  <a:srgbClr val="F7768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WRAP-UP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868680"/>
            <a:ext cx="1109167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C0CA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Recap — Session 6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548640" y="2194560"/>
            <a:ext cx="457200" cy="457200"/>
          </a:xfrm>
          <a:prstGeom prst="ellipse">
            <a:avLst/>
          </a:prstGeom>
          <a:solidFill>
            <a:srgbClr val="F7768E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548640" y="21945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A1B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700" dirty="0"/>
          </a:p>
        </p:txBody>
      </p:sp>
      <p:sp>
        <p:nvSpPr>
          <p:cNvPr id="6" name="Text 4"/>
          <p:cNvSpPr txBox="1"/>
          <p:nvPr/>
        </p:nvSpPr>
        <p:spPr>
          <a:xfrm>
            <a:off x="1234440" y="2148840"/>
            <a:ext cx="6126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dirty="0">
                <a:solidFill>
                  <a:srgbClr val="C0CA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Tools and memory are context you design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548640" y="3154680"/>
            <a:ext cx="457200" cy="457200"/>
          </a:xfrm>
          <a:prstGeom prst="ellipse">
            <a:avLst/>
          </a:prstGeom>
          <a:solidFill>
            <a:srgbClr val="F7768E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548640" y="31546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A1B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700" dirty="0"/>
          </a:p>
        </p:txBody>
      </p:sp>
      <p:sp>
        <p:nvSpPr>
          <p:cNvPr id="9" name="Text 7"/>
          <p:cNvSpPr txBox="1"/>
          <p:nvPr/>
        </p:nvSpPr>
        <p:spPr>
          <a:xfrm>
            <a:off x="1234440" y="3108960"/>
            <a:ext cx="6126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dirty="0">
                <a:solidFill>
                  <a:srgbClr val="C0CA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tool description is a prompt — measure its effect</a:t>
            </a:r>
            <a:endParaRPr lang="en-US" sz="1600" dirty="0"/>
          </a:p>
        </p:txBody>
      </p:sp>
      <p:sp>
        <p:nvSpPr>
          <p:cNvPr id="10" name="Shape 8"/>
          <p:cNvSpPr/>
          <p:nvPr/>
        </p:nvSpPr>
        <p:spPr>
          <a:xfrm>
            <a:off x="548640" y="4114800"/>
            <a:ext cx="457200" cy="457200"/>
          </a:xfrm>
          <a:prstGeom prst="ellipse">
            <a:avLst/>
          </a:prstGeom>
          <a:solidFill>
            <a:srgbClr val="F7768E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548640" y="41148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A1B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700" dirty="0"/>
          </a:p>
        </p:txBody>
      </p:sp>
      <p:sp>
        <p:nvSpPr>
          <p:cNvPr id="12" name="Text 10"/>
          <p:cNvSpPr txBox="1"/>
          <p:nvPr/>
        </p:nvSpPr>
        <p:spPr>
          <a:xfrm>
            <a:off x="1234440" y="4069080"/>
            <a:ext cx="6126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dirty="0">
                <a:solidFill>
                  <a:srgbClr val="C0CA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Memory is curated context: write durable, retrieve relevant</a:t>
            </a:r>
            <a:endParaRPr lang="en-US" sz="1600" dirty="0"/>
          </a:p>
        </p:txBody>
      </p:sp>
      <p:sp>
        <p:nvSpPr>
          <p:cNvPr id="13" name="Shape 11"/>
          <p:cNvSpPr/>
          <p:nvPr/>
        </p:nvSpPr>
        <p:spPr>
          <a:xfrm>
            <a:off x="548640" y="5074920"/>
            <a:ext cx="457200" cy="457200"/>
          </a:xfrm>
          <a:prstGeom prst="ellipse">
            <a:avLst/>
          </a:prstGeom>
          <a:solidFill>
            <a:srgbClr val="F7768E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548640" y="507492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A1B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700" dirty="0"/>
          </a:p>
        </p:txBody>
      </p:sp>
      <p:sp>
        <p:nvSpPr>
          <p:cNvPr id="15" name="Text 13"/>
          <p:cNvSpPr txBox="1"/>
          <p:nvPr/>
        </p:nvSpPr>
        <p:spPr>
          <a:xfrm>
            <a:off x="1234440" y="5029200"/>
            <a:ext cx="6126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dirty="0">
                <a:solidFill>
                  <a:srgbClr val="C0CA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Steer agents through prompts, not plumbing</a:t>
            </a:r>
            <a:endParaRPr lang="en-US" sz="1600" dirty="0"/>
          </a:p>
        </p:txBody>
      </p:sp>
      <p:sp>
        <p:nvSpPr>
          <p:cNvPr id="16" name="Shape 14"/>
          <p:cNvSpPr/>
          <p:nvPr/>
        </p:nvSpPr>
        <p:spPr>
          <a:xfrm>
            <a:off x="7315200" y="2194560"/>
            <a:ext cx="4325112" cy="3566160"/>
          </a:xfrm>
          <a:prstGeom prst="roundRect">
            <a:avLst>
              <a:gd name="adj" fmla="val 2308"/>
            </a:avLst>
          </a:prstGeom>
          <a:solidFill>
            <a:srgbClr val="24283B"/>
          </a:solidFill>
          <a:ln w="12700">
            <a:solidFill>
              <a:srgbClr val="2A2E42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7589520" y="242316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spc="200" kern="0" dirty="0">
                <a:solidFill>
                  <a:srgbClr val="565F8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NEXT SESSION</a:t>
            </a:r>
            <a:endParaRPr lang="en-US" sz="1200" dirty="0"/>
          </a:p>
        </p:txBody>
      </p:sp>
      <p:sp>
        <p:nvSpPr>
          <p:cNvPr id="18" name="Text 16"/>
          <p:cNvSpPr txBox="1"/>
          <p:nvPr/>
        </p:nvSpPr>
        <p:spPr>
          <a:xfrm>
            <a:off x="7589520" y="2834640"/>
            <a:ext cx="37490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7768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Cost, latency &amp; model choice</a:t>
            </a:r>
            <a:endParaRPr lang="en-US" sz="2000" dirty="0"/>
          </a:p>
        </p:txBody>
      </p:sp>
      <p:sp>
        <p:nvSpPr>
          <p:cNvPr id="19" name="Text 17"/>
          <p:cNvSpPr txBox="1"/>
          <p:nvPr/>
        </p:nvSpPr>
        <p:spPr>
          <a:xfrm>
            <a:off x="7589520" y="3977640"/>
            <a:ext cx="374904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rgbClr val="A9B1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Prompts have a bill. Token economics, caching, and picking the right-sized model for the job.</a:t>
            </a:r>
            <a:endParaRPr lang="en-US" sz="1400" dirty="0"/>
          </a:p>
        </p:txBody>
      </p:sp>
      <p:sp>
        <p:nvSpPr>
          <p:cNvPr id="20" name="Shape 18"/>
          <p:cNvSpPr/>
          <p:nvPr/>
        </p:nvSpPr>
        <p:spPr>
          <a:xfrm>
            <a:off x="548640" y="6217920"/>
            <a:ext cx="640080" cy="384048"/>
          </a:xfrm>
          <a:prstGeom prst="roundRect">
            <a:avLst>
              <a:gd name="adj" fmla="val 19048"/>
            </a:avLst>
          </a:prstGeom>
          <a:solidFill>
            <a:srgbClr val="F7768E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548640" y="6217920"/>
            <a:ext cx="6400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A1B2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S6</a:t>
            </a:r>
            <a:endParaRPr lang="en-US" sz="1300" dirty="0"/>
          </a:p>
        </p:txBody>
      </p:sp>
      <p:sp>
        <p:nvSpPr>
          <p:cNvPr id="22" name="Text 20"/>
          <p:cNvSpPr txBox="1"/>
          <p:nvPr/>
        </p:nvSpPr>
        <p:spPr>
          <a:xfrm>
            <a:off x="1325880" y="6254496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565F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Prompt &amp; Context Engineering  ·  Context Engineering II — Tools &amp; Memory</a:t>
            </a:r>
            <a:endParaRPr lang="en-US" sz="1000" dirty="0"/>
          </a:p>
        </p:txBody>
      </p:sp>
      <p:sp>
        <p:nvSpPr>
          <p:cNvPr id="23" name="Text 21"/>
          <p:cNvSpPr txBox="1"/>
          <p:nvPr/>
        </p:nvSpPr>
        <p:spPr>
          <a:xfrm>
            <a:off x="8897112" y="6254496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65F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24 Sept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13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Prompt &amp; Context Engineering — Session 6</dc:title>
  <dc:subject>PptxGenJS Presentation</dc:subject>
  <dc:creator>Stefan Duprey</dc:creator>
  <cp:lastModifiedBy>Stefan Duprey</cp:lastModifiedBy>
  <cp:revision>1</cp:revision>
  <dcterms:created xsi:type="dcterms:W3CDTF">2026-09-08T15:47:41Z</dcterms:created>
  <dcterms:modified xsi:type="dcterms:W3CDTF">2026-09-08T15:47:41Z</dcterms:modified>
</cp:coreProperties>
</file>