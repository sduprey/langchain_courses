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day plus a look ahead. Most of the slot is student presentations; keep the framing slides tight. End on where the field is going so they leave with momentum, not just a 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(supporting workflow): Deliver your project through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teams to time — 10 minutes, hard stop. The evaluation segment is what you're really assessing: anyone can demo a happy path, few can show they measured it. Prompt them to lead with numbers, not narration.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mirrors capstone/README.md in the repo (100-point rubric). Say out loud that evaluation is weighted heaviest — it's the whole thesis of the course. Reward honesty about what didn't work; punish unmeasured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the first round of feedback yourself so students copy the tone. Good peer review is a skill worth teaching explicitly; it also keeps the room engaged during others' presentations.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course on one slide — tell them to screenshot it. If they forget every technique but keep these four habits, they'll be effective. Each maps back to a session, so it doubles as a revision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forward-looking and durable. The meta-message: don't over-invest in model-specific tricks; invest in the transferable discipline (spec, context, evaluation). That's what survives the next model release. Then hand out resources and close warmly.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slide. The CI suggestion is the natural bridge to real software practice and to the companion course. Thank them, point to the repo, and encourage them to keep the eval-first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B26"/>
        </a:solidFill>
      </p:bgPr>
    </p:bg>
    <p:spTree>
      <p:nvGrpSpPr>
        <p:cNvPr id="1" name=""/>
        <p:cNvGrpSpPr/>
        <p:nvPr/>
      </p:nvGrpSpPr>
      <p:grpSpPr>
        <a:xfrm>
          <a:off x="0" y="0"/>
          <a:ext cx="0" cy="0"/>
          <a:chOff x="0" y="0"/>
          <a:chExt cx="0" cy="0"/>
        </a:xfrm>
      </p:grpSpPr>
      <p:sp>
        <p:nvSpPr>
          <p:cNvPr id="2" name="Text 0"/>
          <p:cNvSpPr txBox="1"/>
          <p:nvPr/>
        </p:nvSpPr>
        <p:spPr>
          <a:xfrm>
            <a:off x="7589520" y="182880"/>
            <a:ext cx="4572000" cy="6400800"/>
          </a:xfrm>
          <a:prstGeom prst="rect">
            <a:avLst/>
          </a:prstGeom>
          <a:noFill/>
          <a:ln/>
        </p:spPr>
        <p:txBody>
          <a:bodyPr wrap="square" lIns="0" tIns="0" rIns="0" bIns="0" rtlCol="0" anchor="ctr"/>
          <a:lstStyle/>
          <a:p>
            <a:pPr algn="r" indent="0" marL="0">
              <a:buNone/>
            </a:pPr>
            <a:r>
              <a:rPr lang="en-US" sz="40000" b="1" dirty="0">
                <a:solidFill>
                  <a:srgbClr val="232739"/>
                </a:solidFill>
                <a:latin typeface="Calibri" pitchFamily="34" charset="0"/>
                <a:ea typeface="Calibri" pitchFamily="34" charset="-122"/>
                <a:cs typeface="Calibri" pitchFamily="34" charset="-120"/>
              </a:rPr>
              <a:t>9</a:t>
            </a:r>
            <a:endParaRPr lang="en-US" sz="40000" dirty="0"/>
          </a:p>
        </p:txBody>
      </p:sp>
      <p:sp>
        <p:nvSpPr>
          <p:cNvPr id="3" name="Shape 1"/>
          <p:cNvSpPr/>
          <p:nvPr/>
        </p:nvSpPr>
        <p:spPr>
          <a:xfrm>
            <a:off x="548640" y="1371600"/>
            <a:ext cx="1920240" cy="384048"/>
          </a:xfrm>
          <a:prstGeom prst="roundRect">
            <a:avLst>
              <a:gd name="adj" fmla="val 19048"/>
            </a:avLst>
          </a:prstGeom>
          <a:solidFill>
            <a:srgbClr val="7AA2F7"/>
          </a:solidFill>
          <a:ln/>
        </p:spPr>
      </p:sp>
      <p:sp>
        <p:nvSpPr>
          <p:cNvPr id="4" name="Text 2"/>
          <p:cNvSpPr txBox="1"/>
          <p:nvPr/>
        </p:nvSpPr>
        <p:spPr>
          <a:xfrm>
            <a:off x="548640" y="1371600"/>
            <a:ext cx="1920240" cy="384048"/>
          </a:xfrm>
          <a:prstGeom prst="rect">
            <a:avLst/>
          </a:prstGeom>
          <a:noFill/>
          <a:ln/>
        </p:spPr>
        <p:txBody>
          <a:bodyPr wrap="square" lIns="0" tIns="0" rIns="0" bIns="0" rtlCol="0" anchor="ctr"/>
          <a:lstStyle/>
          <a:p>
            <a:pPr algn="ctr" indent="0" marL="0">
              <a:buNone/>
            </a:pPr>
            <a:r>
              <a:rPr lang="en-US" sz="1300" b="1" dirty="0">
                <a:solidFill>
                  <a:srgbClr val="1A1B26"/>
                </a:solidFill>
                <a:latin typeface="Courier New" pitchFamily="34" charset="0"/>
                <a:ea typeface="Courier New" pitchFamily="34" charset="-122"/>
                <a:cs typeface="Courier New" pitchFamily="34" charset="-120"/>
              </a:rPr>
              <a:t>SESSION 9</a:t>
            </a:r>
            <a:endParaRPr lang="en-US" sz="1300" dirty="0"/>
          </a:p>
        </p:txBody>
      </p:sp>
      <p:sp>
        <p:nvSpPr>
          <p:cNvPr id="5" name="Text 3"/>
          <p:cNvSpPr txBox="1"/>
          <p:nvPr/>
        </p:nvSpPr>
        <p:spPr>
          <a:xfrm>
            <a:off x="548640" y="1965960"/>
            <a:ext cx="7680960" cy="2194560"/>
          </a:xfrm>
          <a:prstGeom prst="rect">
            <a:avLst/>
          </a:prstGeom>
          <a:noFill/>
          <a:ln/>
        </p:spPr>
        <p:txBody>
          <a:bodyPr wrap="square" lIns="0" tIns="0" rIns="0" bIns="0" rtlCol="0" anchor="t"/>
          <a:lstStyle/>
          <a:p>
            <a:pPr algn="l" indent="0" marL="0">
              <a:buNone/>
            </a:pPr>
            <a:r>
              <a:rPr lang="en-US" sz="4600" b="1" dirty="0">
                <a:solidFill>
                  <a:srgbClr val="C0CAF5"/>
                </a:solidFill>
                <a:latin typeface="Calibri" pitchFamily="34" charset="0"/>
                <a:ea typeface="Calibri" pitchFamily="34" charset="-122"/>
                <a:cs typeface="Calibri" pitchFamily="34" charset="-120"/>
              </a:rPr>
              <a:t>Capstone Presentations &amp; The Future</a:t>
            </a:r>
            <a:endParaRPr lang="en-US" sz="4600" dirty="0"/>
          </a:p>
        </p:txBody>
      </p:sp>
      <p:sp>
        <p:nvSpPr>
          <p:cNvPr id="6" name="Text 4"/>
          <p:cNvSpPr txBox="1"/>
          <p:nvPr/>
        </p:nvSpPr>
        <p:spPr>
          <a:xfrm>
            <a:off x="548640" y="4160520"/>
            <a:ext cx="7498080" cy="822960"/>
          </a:xfrm>
          <a:prstGeom prst="rect">
            <a:avLst/>
          </a:prstGeom>
          <a:noFill/>
          <a:ln/>
        </p:spPr>
        <p:txBody>
          <a:bodyPr wrap="square" lIns="0" tIns="0" rIns="0" bIns="0" rtlCol="0" anchor="t"/>
          <a:lstStyle/>
          <a:p>
            <a:pPr algn="l" indent="0" marL="0">
              <a:buNone/>
            </a:pPr>
            <a:r>
              <a:rPr lang="en-US" sz="1800" dirty="0">
                <a:solidFill>
                  <a:srgbClr val="A9B1D6"/>
                </a:solidFill>
                <a:latin typeface="Calibri" pitchFamily="34" charset="0"/>
                <a:ea typeface="Calibri" pitchFamily="34" charset="-122"/>
                <a:cs typeface="Calibri" pitchFamily="34" charset="-120"/>
              </a:rPr>
              <a:t>Show what you built, how you measured it — and where the field goes next.</a:t>
            </a:r>
            <a:endParaRPr lang="en-US" sz="1800" dirty="0"/>
          </a:p>
        </p:txBody>
      </p:sp>
      <p:sp>
        <p:nvSpPr>
          <p:cNvPr id="7" name="Text 5"/>
          <p:cNvSpPr txBox="1"/>
          <p:nvPr/>
        </p:nvSpPr>
        <p:spPr>
          <a:xfrm>
            <a:off x="548640" y="5212080"/>
            <a:ext cx="8229600" cy="365760"/>
          </a:xfrm>
          <a:prstGeom prst="rect">
            <a:avLst/>
          </a:prstGeom>
          <a:noFill/>
          <a:ln/>
        </p:spPr>
        <p:txBody>
          <a:bodyPr wrap="square" lIns="0" tIns="0" rIns="0" bIns="0" rtlCol="0" anchor="t"/>
          <a:lstStyle/>
          <a:p>
            <a:pPr algn="l" indent="0" marL="0">
              <a:buNone/>
            </a:pPr>
            <a:r>
              <a:rPr lang="en-US" sz="1300" dirty="0">
                <a:solidFill>
                  <a:srgbClr val="565F89"/>
                </a:solidFill>
                <a:latin typeface="Courier New" pitchFamily="34" charset="0"/>
                <a:ea typeface="Courier New" pitchFamily="34" charset="-122"/>
                <a:cs typeface="Courier New" pitchFamily="34" charset="-120"/>
              </a:rPr>
              <a:t>Jeudi 1er octobre   ·   11h30–13h15   ·   1h45</a:t>
            </a:r>
            <a:endParaRPr lang="en-US" sz="1300" dirty="0"/>
          </a:p>
        </p:txBody>
      </p:sp>
      <p:sp>
        <p:nvSpPr>
          <p:cNvPr id="8" name="Text 6"/>
          <p:cNvSpPr txBox="1"/>
          <p:nvPr/>
        </p:nvSpPr>
        <p:spPr>
          <a:xfrm>
            <a:off x="548640" y="5623560"/>
            <a:ext cx="8229600" cy="365760"/>
          </a:xfrm>
          <a:prstGeom prst="rect">
            <a:avLst/>
          </a:prstGeom>
          <a:noFill/>
          <a:ln/>
        </p:spPr>
        <p:txBody>
          <a:bodyPr wrap="square" lIns="0" tIns="0" rIns="0" bIns="0" rtlCol="0" anchor="t"/>
          <a:lstStyle/>
          <a:p>
            <a:pPr algn="l" indent="0" marL="0">
              <a:buNone/>
            </a:pPr>
            <a:r>
              <a:rPr lang="en-US" sz="1300" dirty="0">
                <a:solidFill>
                  <a:srgbClr val="565F89"/>
                </a:solidFill>
                <a:latin typeface="Calibri" pitchFamily="34" charset="0"/>
                <a:ea typeface="Calibri" pitchFamily="34" charset="-122"/>
                <a:cs typeface="Calibri" pitchFamily="34" charset="-120"/>
              </a:rPr>
              <a:t>Prompt &amp; Context Engineering  —  Stefan Duprey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B26"/>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t"/>
          <a:lstStyle/>
          <a:p>
            <a:pPr algn="l" indent="0" marL="0">
              <a:buNone/>
            </a:pPr>
            <a:r>
              <a:rPr lang="en-US" sz="1300" b="1" spc="200" kern="0" dirty="0">
                <a:solidFill>
                  <a:srgbClr val="7AA2F7"/>
                </a:solidFill>
                <a:latin typeface="Courier New" pitchFamily="34" charset="0"/>
                <a:ea typeface="Courier New" pitchFamily="34" charset="-122"/>
                <a:cs typeface="Courier New" pitchFamily="34" charset="-120"/>
              </a:rPr>
              <a:t>TODAY</a:t>
            </a:r>
            <a:endParaRPr lang="en-US" sz="1300" dirty="0"/>
          </a:p>
        </p:txBody>
      </p:sp>
      <p:sp>
        <p:nvSpPr>
          <p:cNvPr id="3" name="Text 1"/>
          <p:cNvSpPr txBox="1"/>
          <p:nvPr/>
        </p:nvSpPr>
        <p:spPr>
          <a:xfrm>
            <a:off x="548640" y="868680"/>
            <a:ext cx="11091672" cy="1005840"/>
          </a:xfrm>
          <a:prstGeom prst="rect">
            <a:avLst/>
          </a:prstGeom>
          <a:noFill/>
          <a:ln/>
        </p:spPr>
        <p:txBody>
          <a:bodyPr wrap="square" lIns="0" tIns="0" rIns="0" bIns="0" rtlCol="0" anchor="t"/>
          <a:lstStyle/>
          <a:p>
            <a:pPr algn="l" indent="0" marL="0">
              <a:buNone/>
            </a:pPr>
            <a:r>
              <a:rPr lang="en-US" sz="3400" b="1" dirty="0">
                <a:solidFill>
                  <a:srgbClr val="C0CAF5"/>
                </a:solidFill>
                <a:latin typeface="Calibri" pitchFamily="34" charset="0"/>
                <a:ea typeface="Calibri" pitchFamily="34" charset="-122"/>
                <a:cs typeface="Calibri" pitchFamily="34" charset="-120"/>
              </a:rPr>
              <a:t>Session 9 — plan &amp; goals</a:t>
            </a:r>
            <a:endParaRPr lang="en-US" sz="3400" dirty="0"/>
          </a:p>
        </p:txBody>
      </p:sp>
      <p:sp>
        <p:nvSpPr>
          <p:cNvPr id="4" name="Text 2"/>
          <p:cNvSpPr txBox="1"/>
          <p:nvPr/>
        </p:nvSpPr>
        <p:spPr>
          <a:xfrm>
            <a:off x="548640" y="1965960"/>
            <a:ext cx="5852160" cy="365760"/>
          </a:xfrm>
          <a:prstGeom prst="rect">
            <a:avLst/>
          </a:prstGeom>
          <a:noFill/>
          <a:ln/>
        </p:spPr>
        <p:txBody>
          <a:bodyPr wrap="square" lIns="0" tIns="0" rIns="0" bIns="0" rtlCol="0" anchor="t"/>
          <a:lstStyle/>
          <a:p>
            <a:pPr algn="l" indent="0" marL="0">
              <a:buNone/>
            </a:pPr>
            <a:r>
              <a:rPr lang="en-US" sz="1400" b="1" dirty="0">
                <a:solidFill>
                  <a:srgbClr val="7AA2F7"/>
                </a:solidFill>
                <a:latin typeface="Calibri" pitchFamily="34" charset="0"/>
                <a:ea typeface="Calibri" pitchFamily="34" charset="-122"/>
                <a:cs typeface="Calibri" pitchFamily="34" charset="-120"/>
              </a:rPr>
              <a:t>You will be able to</a:t>
            </a:r>
            <a:endParaRPr lang="en-US" sz="1400" dirty="0"/>
          </a:p>
        </p:txBody>
      </p:sp>
      <p:sp>
        <p:nvSpPr>
          <p:cNvPr id="5" name="Text 3"/>
          <p:cNvSpPr txBox="1"/>
          <p:nvPr/>
        </p:nvSpPr>
        <p:spPr>
          <a:xfrm>
            <a:off x="548640" y="2377440"/>
            <a:ext cx="585216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A9B1D6"/>
                </a:solidFill>
                <a:latin typeface="Calibri" pitchFamily="34" charset="0"/>
                <a:ea typeface="Calibri" pitchFamily="34" charset="-122"/>
                <a:cs typeface="Calibri" pitchFamily="34" charset="-120"/>
              </a:rPr>
              <a:t>Deliver a project through Git (PRs, tags)</a:t>
            </a:r>
            <a:endParaRPr lang="en-US" sz="1500" dirty="0"/>
          </a:p>
          <a:p>
            <a:pPr marL="342900" indent="-342900">
              <a:spcAft>
                <a:spcPts val="1000"/>
              </a:spcAft>
              <a:buSzPct val="100000"/>
              <a:buChar char="•"/>
            </a:pPr>
            <a:r>
              <a:rPr lang="en-US" sz="1500" dirty="0">
                <a:solidFill>
                  <a:srgbClr val="A9B1D6"/>
                </a:solidFill>
                <a:latin typeface="Calibri" pitchFamily="34" charset="0"/>
                <a:ea typeface="Calibri" pitchFamily="34" charset="-122"/>
                <a:cs typeface="Calibri" pitchFamily="34" charset="-120"/>
              </a:rPr>
              <a:t>Present build, evaluation &amp; reflection</a:t>
            </a:r>
            <a:endParaRPr lang="en-US" sz="1500" dirty="0"/>
          </a:p>
          <a:p>
            <a:pPr marL="342900" indent="-342900">
              <a:spcAft>
                <a:spcPts val="1000"/>
              </a:spcAft>
              <a:buSzPct val="100000"/>
              <a:buChar char="•"/>
            </a:pPr>
            <a:r>
              <a:rPr lang="en-US" sz="1500" dirty="0">
                <a:solidFill>
                  <a:srgbClr val="A9B1D6"/>
                </a:solidFill>
                <a:latin typeface="Calibri" pitchFamily="34" charset="0"/>
                <a:ea typeface="Calibri" pitchFamily="34" charset="-122"/>
                <a:cs typeface="Calibri" pitchFamily="34" charset="-120"/>
              </a:rPr>
              <a:t>Give useful peer feedback</a:t>
            </a:r>
            <a:endParaRPr lang="en-US" sz="1500" dirty="0"/>
          </a:p>
          <a:p>
            <a:pPr marL="342900" indent="-342900">
              <a:spcAft>
                <a:spcPts val="1000"/>
              </a:spcAft>
              <a:buSzPct val="100000"/>
              <a:buChar char="•"/>
            </a:pPr>
            <a:r>
              <a:rPr lang="en-US" sz="1500" dirty="0">
                <a:solidFill>
                  <a:srgbClr val="A9B1D6"/>
                </a:solidFill>
                <a:latin typeface="Calibri" pitchFamily="34" charset="0"/>
                <a:ea typeface="Calibri" pitchFamily="34" charset="-122"/>
                <a:cs typeface="Calibri" pitchFamily="34" charset="-120"/>
              </a:rPr>
              <a:t>Know where prompt/context engineering goes next</a:t>
            </a:r>
            <a:endParaRPr lang="en-US" sz="1500" dirty="0"/>
          </a:p>
        </p:txBody>
      </p:sp>
      <p:sp>
        <p:nvSpPr>
          <p:cNvPr id="6" name="Shape 4"/>
          <p:cNvSpPr/>
          <p:nvPr/>
        </p:nvSpPr>
        <p:spPr>
          <a:xfrm>
            <a:off x="6903720" y="1965960"/>
            <a:ext cx="4736592" cy="3886200"/>
          </a:xfrm>
          <a:prstGeom prst="roundRect">
            <a:avLst>
              <a:gd name="adj" fmla="val 2118"/>
            </a:avLst>
          </a:prstGeom>
          <a:solidFill>
            <a:srgbClr val="24283B"/>
          </a:solidFill>
          <a:ln w="12700">
            <a:solidFill>
              <a:srgbClr val="2A2E42"/>
            </a:solidFill>
            <a:prstDash val="solid"/>
          </a:ln>
        </p:spPr>
      </p:sp>
      <p:sp>
        <p:nvSpPr>
          <p:cNvPr id="7" name="Text 5"/>
          <p:cNvSpPr txBox="1"/>
          <p:nvPr/>
        </p:nvSpPr>
        <p:spPr>
          <a:xfrm>
            <a:off x="7178040" y="2194560"/>
            <a:ext cx="4206240" cy="320040"/>
          </a:xfrm>
          <a:prstGeom prst="rect">
            <a:avLst/>
          </a:prstGeom>
          <a:noFill/>
          <a:ln/>
        </p:spPr>
        <p:txBody>
          <a:bodyPr wrap="square" lIns="0" tIns="0" rIns="0" bIns="0" rtlCol="0" anchor="t"/>
          <a:lstStyle/>
          <a:p>
            <a:pPr algn="l" indent="0" marL="0">
              <a:buNone/>
            </a:pPr>
            <a:r>
              <a:rPr lang="en-US" sz="1200" b="1" spc="200" kern="0" dirty="0">
                <a:solidFill>
                  <a:srgbClr val="565F89"/>
                </a:solidFill>
                <a:latin typeface="Courier New" pitchFamily="34" charset="0"/>
                <a:ea typeface="Courier New" pitchFamily="34" charset="-122"/>
                <a:cs typeface="Courier New" pitchFamily="34" charset="-120"/>
              </a:rPr>
              <a:t>RUN OF SHOW</a:t>
            </a:r>
            <a:endParaRPr lang="en-US" sz="1200" dirty="0"/>
          </a:p>
        </p:txBody>
      </p:sp>
      <p:sp>
        <p:nvSpPr>
          <p:cNvPr id="8" name="Text 6"/>
          <p:cNvSpPr txBox="1"/>
          <p:nvPr/>
        </p:nvSpPr>
        <p:spPr>
          <a:xfrm>
            <a:off x="7178040" y="2651760"/>
            <a:ext cx="1371600" cy="457200"/>
          </a:xfrm>
          <a:prstGeom prst="rect">
            <a:avLst/>
          </a:prstGeom>
          <a:noFill/>
          <a:ln/>
        </p:spPr>
        <p:txBody>
          <a:bodyPr wrap="square" lIns="0" tIns="0" rIns="0" bIns="0" rtlCol="0" anchor="t"/>
          <a:lstStyle/>
          <a:p>
            <a:pPr algn="l" indent="0" marL="0">
              <a:buNone/>
            </a:pPr>
            <a:r>
              <a:rPr lang="en-US" sz="1200" b="1" dirty="0">
                <a:solidFill>
                  <a:srgbClr val="F0562D"/>
                </a:solidFill>
                <a:latin typeface="Courier New" pitchFamily="34" charset="0"/>
                <a:ea typeface="Courier New" pitchFamily="34" charset="-122"/>
                <a:cs typeface="Courier New" pitchFamily="34" charset="-120"/>
              </a:rPr>
              <a:t>0:00</a:t>
            </a:r>
            <a:endParaRPr lang="en-US" sz="1200" dirty="0"/>
          </a:p>
        </p:txBody>
      </p:sp>
      <p:sp>
        <p:nvSpPr>
          <p:cNvPr id="9" name="Text 7"/>
          <p:cNvSpPr txBox="1"/>
          <p:nvPr/>
        </p:nvSpPr>
        <p:spPr>
          <a:xfrm>
            <a:off x="8595360" y="2651760"/>
            <a:ext cx="2880360" cy="548640"/>
          </a:xfrm>
          <a:prstGeom prst="rect">
            <a:avLst/>
          </a:prstGeom>
          <a:noFill/>
          <a:ln/>
        </p:spPr>
        <p:txBody>
          <a:bodyPr wrap="square" lIns="0" tIns="0" rIns="0" bIns="0" rtlCol="0" anchor="t"/>
          <a:lstStyle/>
          <a:p>
            <a:pPr algn="l" indent="0" marL="0">
              <a:buNone/>
            </a:pPr>
            <a:r>
              <a:rPr lang="en-US" sz="1300" dirty="0">
                <a:solidFill>
                  <a:srgbClr val="F0562D"/>
                </a:solidFill>
                <a:latin typeface="Calibri" pitchFamily="34" charset="0"/>
                <a:ea typeface="Calibri" pitchFamily="34" charset="-122"/>
                <a:cs typeface="Calibri" pitchFamily="34" charset="-120"/>
              </a:rPr>
              <a:t>Team presentations (delivered via Git)</a:t>
            </a:r>
            <a:endParaRPr lang="en-US" sz="1300" dirty="0"/>
          </a:p>
        </p:txBody>
      </p:sp>
      <p:sp>
        <p:nvSpPr>
          <p:cNvPr id="10" name="Text 8"/>
          <p:cNvSpPr txBox="1"/>
          <p:nvPr/>
        </p:nvSpPr>
        <p:spPr>
          <a:xfrm>
            <a:off x="7178040" y="3310128"/>
            <a:ext cx="1371600" cy="457200"/>
          </a:xfrm>
          <a:prstGeom prst="rect">
            <a:avLst/>
          </a:prstGeom>
          <a:noFill/>
          <a:ln/>
        </p:spPr>
        <p:txBody>
          <a:bodyPr wrap="square" lIns="0" tIns="0" rIns="0" bIns="0" rtlCol="0" anchor="t"/>
          <a:lstStyle/>
          <a:p>
            <a:pPr algn="l" indent="0" marL="0">
              <a:buNone/>
            </a:pPr>
            <a:r>
              <a:rPr lang="en-US" sz="1200" b="1" dirty="0">
                <a:solidFill>
                  <a:srgbClr val="7AA2F7"/>
                </a:solidFill>
                <a:latin typeface="Courier New" pitchFamily="34" charset="0"/>
                <a:ea typeface="Courier New" pitchFamily="34" charset="-122"/>
                <a:cs typeface="Courier New" pitchFamily="34" charset="-120"/>
              </a:rPr>
              <a:t>1:20</a:t>
            </a:r>
            <a:endParaRPr lang="en-US" sz="1200" dirty="0"/>
          </a:p>
        </p:txBody>
      </p:sp>
      <p:sp>
        <p:nvSpPr>
          <p:cNvPr id="11" name="Text 9"/>
          <p:cNvSpPr txBox="1"/>
          <p:nvPr/>
        </p:nvSpPr>
        <p:spPr>
          <a:xfrm>
            <a:off x="8595360" y="3310128"/>
            <a:ext cx="2880360" cy="548640"/>
          </a:xfrm>
          <a:prstGeom prst="rect">
            <a:avLst/>
          </a:prstGeom>
          <a:noFill/>
          <a:ln/>
        </p:spPr>
        <p:txBody>
          <a:bodyPr wrap="square" lIns="0" tIns="0" rIns="0" bIns="0" rtlCol="0" anchor="t"/>
          <a:lstStyle/>
          <a:p>
            <a:pPr algn="l" indent="0" marL="0">
              <a:buNone/>
            </a:pPr>
            <a:r>
              <a:rPr lang="en-US" sz="1300" dirty="0">
                <a:solidFill>
                  <a:srgbClr val="A9B1D6"/>
                </a:solidFill>
                <a:latin typeface="Calibri" pitchFamily="34" charset="0"/>
                <a:ea typeface="Calibri" pitchFamily="34" charset="-122"/>
                <a:cs typeface="Calibri" pitchFamily="34" charset="-120"/>
              </a:rPr>
              <a:t>Consolidation: cheat sheet</a:t>
            </a:r>
            <a:endParaRPr lang="en-US" sz="1300" dirty="0"/>
          </a:p>
        </p:txBody>
      </p:sp>
      <p:sp>
        <p:nvSpPr>
          <p:cNvPr id="12" name="Text 10"/>
          <p:cNvSpPr txBox="1"/>
          <p:nvPr/>
        </p:nvSpPr>
        <p:spPr>
          <a:xfrm>
            <a:off x="7178040" y="3822192"/>
            <a:ext cx="1371600" cy="457200"/>
          </a:xfrm>
          <a:prstGeom prst="rect">
            <a:avLst/>
          </a:prstGeom>
          <a:noFill/>
          <a:ln/>
        </p:spPr>
        <p:txBody>
          <a:bodyPr wrap="square" lIns="0" tIns="0" rIns="0" bIns="0" rtlCol="0" anchor="t"/>
          <a:lstStyle/>
          <a:p>
            <a:pPr algn="l" indent="0" marL="0">
              <a:buNone/>
            </a:pPr>
            <a:r>
              <a:rPr lang="en-US" sz="1200" b="1" dirty="0">
                <a:solidFill>
                  <a:srgbClr val="7AA2F7"/>
                </a:solidFill>
                <a:latin typeface="Courier New" pitchFamily="34" charset="0"/>
                <a:ea typeface="Courier New" pitchFamily="34" charset="-122"/>
                <a:cs typeface="Courier New" pitchFamily="34" charset="-120"/>
              </a:rPr>
              <a:t>1:35</a:t>
            </a:r>
            <a:endParaRPr lang="en-US" sz="1200" dirty="0"/>
          </a:p>
        </p:txBody>
      </p:sp>
      <p:sp>
        <p:nvSpPr>
          <p:cNvPr id="13" name="Text 11"/>
          <p:cNvSpPr txBox="1"/>
          <p:nvPr/>
        </p:nvSpPr>
        <p:spPr>
          <a:xfrm>
            <a:off x="8595360" y="3822192"/>
            <a:ext cx="2880360" cy="548640"/>
          </a:xfrm>
          <a:prstGeom prst="rect">
            <a:avLst/>
          </a:prstGeom>
          <a:noFill/>
          <a:ln/>
        </p:spPr>
        <p:txBody>
          <a:bodyPr wrap="square" lIns="0" tIns="0" rIns="0" bIns="0" rtlCol="0" anchor="t"/>
          <a:lstStyle/>
          <a:p>
            <a:pPr algn="l" indent="0" marL="0">
              <a:buNone/>
            </a:pPr>
            <a:r>
              <a:rPr lang="en-US" sz="1300" dirty="0">
                <a:solidFill>
                  <a:srgbClr val="A9B1D6"/>
                </a:solidFill>
                <a:latin typeface="Calibri" pitchFamily="34" charset="0"/>
                <a:ea typeface="Calibri" pitchFamily="34" charset="-122"/>
                <a:cs typeface="Calibri" pitchFamily="34" charset="-120"/>
              </a:rPr>
              <a:t>Where next — auto-optimization, CI/CD</a:t>
            </a:r>
            <a:endParaRPr lang="en-US" sz="1300" dirty="0"/>
          </a:p>
        </p:txBody>
      </p:sp>
      <p:sp>
        <p:nvSpPr>
          <p:cNvPr id="14" name="Text 12"/>
          <p:cNvSpPr txBox="1"/>
          <p:nvPr/>
        </p:nvSpPr>
        <p:spPr>
          <a:xfrm>
            <a:off x="7178040" y="4480560"/>
            <a:ext cx="1371600" cy="457200"/>
          </a:xfrm>
          <a:prstGeom prst="rect">
            <a:avLst/>
          </a:prstGeom>
          <a:noFill/>
          <a:ln/>
        </p:spPr>
        <p:txBody>
          <a:bodyPr wrap="square" lIns="0" tIns="0" rIns="0" bIns="0" rtlCol="0" anchor="t"/>
          <a:lstStyle/>
          <a:p>
            <a:pPr algn="l" indent="0" marL="0">
              <a:buNone/>
            </a:pPr>
            <a:r>
              <a:rPr lang="en-US" sz="1200" b="1" dirty="0">
                <a:solidFill>
                  <a:srgbClr val="7AA2F7"/>
                </a:solidFill>
                <a:latin typeface="Courier New" pitchFamily="34" charset="0"/>
                <a:ea typeface="Courier New" pitchFamily="34" charset="-122"/>
                <a:cs typeface="Courier New" pitchFamily="34" charset="-120"/>
              </a:rPr>
              <a:t>1:40</a:t>
            </a:r>
            <a:endParaRPr lang="en-US" sz="1200" dirty="0"/>
          </a:p>
        </p:txBody>
      </p:sp>
      <p:sp>
        <p:nvSpPr>
          <p:cNvPr id="15" name="Text 13"/>
          <p:cNvSpPr txBox="1"/>
          <p:nvPr/>
        </p:nvSpPr>
        <p:spPr>
          <a:xfrm>
            <a:off x="8595360" y="4480560"/>
            <a:ext cx="2880360" cy="548640"/>
          </a:xfrm>
          <a:prstGeom prst="rect">
            <a:avLst/>
          </a:prstGeom>
          <a:noFill/>
          <a:ln/>
        </p:spPr>
        <p:txBody>
          <a:bodyPr wrap="square" lIns="0" tIns="0" rIns="0" bIns="0" rtlCol="0" anchor="t"/>
          <a:lstStyle/>
          <a:p>
            <a:pPr algn="l" indent="0" marL="0">
              <a:buNone/>
            </a:pPr>
            <a:r>
              <a:rPr lang="en-US" sz="1300" dirty="0">
                <a:solidFill>
                  <a:srgbClr val="A9B1D6"/>
                </a:solidFill>
                <a:latin typeface="Calibri" pitchFamily="34" charset="0"/>
                <a:ea typeface="Calibri" pitchFamily="34" charset="-122"/>
                <a:cs typeface="Calibri" pitchFamily="34" charset="-120"/>
              </a:rPr>
              <a:t>Closing &amp; resources</a:t>
            </a:r>
            <a:endParaRPr lang="en-US" sz="1300" dirty="0"/>
          </a:p>
        </p:txBody>
      </p:sp>
      <p:sp>
        <p:nvSpPr>
          <p:cNvPr id="16" name="Shape 14"/>
          <p:cNvSpPr/>
          <p:nvPr/>
        </p:nvSpPr>
        <p:spPr>
          <a:xfrm>
            <a:off x="548640" y="6217920"/>
            <a:ext cx="640080" cy="384048"/>
          </a:xfrm>
          <a:prstGeom prst="roundRect">
            <a:avLst>
              <a:gd name="adj" fmla="val 19048"/>
            </a:avLst>
          </a:prstGeom>
          <a:solidFill>
            <a:srgbClr val="7AA2F7"/>
          </a:solidFill>
          <a:ln/>
        </p:spPr>
      </p:sp>
      <p:sp>
        <p:nvSpPr>
          <p:cNvPr id="17" name="Text 15"/>
          <p:cNvSpPr txBox="1"/>
          <p:nvPr/>
        </p:nvSpPr>
        <p:spPr>
          <a:xfrm>
            <a:off x="548640" y="6217920"/>
            <a:ext cx="640080" cy="384048"/>
          </a:xfrm>
          <a:prstGeom prst="rect">
            <a:avLst/>
          </a:prstGeom>
          <a:noFill/>
          <a:ln/>
        </p:spPr>
        <p:txBody>
          <a:bodyPr wrap="square" lIns="0" tIns="0" rIns="0" bIns="0" rtlCol="0" anchor="ctr"/>
          <a:lstStyle/>
          <a:p>
            <a:pPr algn="ctr" indent="0" marL="0">
              <a:buNone/>
            </a:pPr>
            <a:r>
              <a:rPr lang="en-US" sz="1300" b="1" dirty="0">
                <a:solidFill>
                  <a:srgbClr val="1A1B26"/>
                </a:solidFill>
                <a:latin typeface="Courier New" pitchFamily="34" charset="0"/>
                <a:ea typeface="Courier New" pitchFamily="34" charset="-122"/>
                <a:cs typeface="Courier New" pitchFamily="34" charset="-120"/>
              </a:rPr>
              <a:t>S9</a:t>
            </a:r>
            <a:endParaRPr lang="en-US" sz="1300" dirty="0"/>
          </a:p>
        </p:txBody>
      </p:sp>
      <p:sp>
        <p:nvSpPr>
          <p:cNvPr id="18" name="Text 16"/>
          <p:cNvSpPr txBox="1"/>
          <p:nvPr/>
        </p:nvSpPr>
        <p:spPr>
          <a:xfrm>
            <a:off x="1325880" y="6254496"/>
            <a:ext cx="8229600" cy="320040"/>
          </a:xfrm>
          <a:prstGeom prst="rect">
            <a:avLst/>
          </a:prstGeom>
          <a:noFill/>
          <a:ln/>
        </p:spPr>
        <p:txBody>
          <a:bodyPr wrap="square" lIns="0" tIns="0" rIns="0" bIns="0" rtlCol="0" anchor="ctr"/>
          <a:lstStyle/>
          <a:p>
            <a:pPr algn="l" indent="0" marL="0">
              <a:buNone/>
            </a:pPr>
            <a:r>
              <a:rPr lang="en-US" sz="1000" dirty="0">
                <a:solidFill>
                  <a:srgbClr val="565F89"/>
                </a:solidFill>
                <a:latin typeface="Calibri" pitchFamily="34" charset="0"/>
                <a:ea typeface="Calibri" pitchFamily="34" charset="-122"/>
                <a:cs typeface="Calibri" pitchFamily="34" charset="-120"/>
              </a:rPr>
              <a:t>Prompt &amp; Context Engineering  ·  Capstone Presentations &amp; The Future</a:t>
            </a:r>
            <a:endParaRPr lang="en-US" sz="1000" dirty="0"/>
          </a:p>
        </p:txBody>
      </p:sp>
      <p:sp>
        <p:nvSpPr>
          <p:cNvPr id="19" name="Text 17"/>
          <p:cNvSpPr txBox="1"/>
          <p:nvPr/>
        </p:nvSpPr>
        <p:spPr>
          <a:xfrm>
            <a:off x="8897112" y="6254496"/>
            <a:ext cx="2743200" cy="320040"/>
          </a:xfrm>
          <a:prstGeom prst="rect">
            <a:avLst/>
          </a:prstGeom>
          <a:noFill/>
          <a:ln/>
        </p:spPr>
        <p:txBody>
          <a:bodyPr wrap="square" lIns="0" tIns="0" rIns="0" bIns="0" rtlCol="0" anchor="ctr"/>
          <a:lstStyle/>
          <a:p>
            <a:pPr algn="r" indent="0" marL="0">
              <a:buNone/>
            </a:pPr>
            <a:r>
              <a:rPr lang="en-US" sz="1000" dirty="0">
                <a:solidFill>
                  <a:srgbClr val="565F89"/>
                </a:solidFill>
                <a:latin typeface="Calibri" pitchFamily="34" charset="0"/>
                <a:ea typeface="Calibri" pitchFamily="34" charset="-122"/>
                <a:cs typeface="Calibri" pitchFamily="34" charset="-120"/>
              </a:rPr>
              <a:t>1 Oct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301A12"/>
        </a:solidFill>
      </p:bgPr>
    </p:bg>
    <p:spTree>
      <p:nvGrpSpPr>
        <p:cNvPr id="1" name=""/>
        <p:cNvGrpSpPr/>
        <p:nvPr/>
      </p:nvGrpSpPr>
      <p:grpSpPr>
        <a:xfrm>
          <a:off x="0" y="0"/>
          <a:ext cx="0" cy="0"/>
          <a:chOff x="0" y="0"/>
          <a:chExt cx="0" cy="0"/>
        </a:xfrm>
      </p:grpSpPr>
      <p:sp>
        <p:nvSpPr>
          <p:cNvPr id="2" name="Shape 0"/>
          <p:cNvSpPr/>
          <p:nvPr/>
        </p:nvSpPr>
        <p:spPr>
          <a:xfrm>
            <a:off x="10405872" y="457200"/>
            <a:ext cx="1234440" cy="457200"/>
          </a:xfrm>
          <a:prstGeom prst="roundRect">
            <a:avLst>
              <a:gd name="adj" fmla="val 20000"/>
            </a:avLst>
          </a:prstGeom>
          <a:solidFill>
            <a:srgbClr val="F0562D"/>
          </a:solidFill>
          <a:ln/>
        </p:spPr>
      </p:sp>
      <p:sp>
        <p:nvSpPr>
          <p:cNvPr id="3" name="Text 1"/>
          <p:cNvSpPr txBox="1"/>
          <p:nvPr/>
        </p:nvSpPr>
        <p:spPr>
          <a:xfrm>
            <a:off x="10405872" y="457200"/>
            <a:ext cx="1234440" cy="457200"/>
          </a:xfrm>
          <a:prstGeom prst="rect">
            <a:avLst/>
          </a:prstGeom>
          <a:noFill/>
          <a:ln/>
        </p:spPr>
        <p:txBody>
          <a:bodyPr wrap="square" lIns="0" tIns="0" rIns="0" bIns="0" rtlCol="0" anchor="ctr"/>
          <a:lstStyle/>
          <a:p>
            <a:pPr algn="ctr" indent="0" marL="0">
              <a:buNone/>
            </a:pPr>
            <a:r>
              <a:rPr lang="en-US" sz="1400" b="1" spc="200" kern="0" dirty="0">
                <a:solidFill>
                  <a:srgbClr val="301A12"/>
                </a:solidFill>
                <a:latin typeface="Courier New" pitchFamily="34" charset="0"/>
                <a:ea typeface="Courier New" pitchFamily="34" charset="-122"/>
                <a:cs typeface="Courier New" pitchFamily="34" charset="-120"/>
              </a:rPr>
              <a:t>● GIT</a:t>
            </a:r>
            <a:endParaRPr lang="en-US" sz="1400" dirty="0"/>
          </a:p>
        </p:txBody>
      </p:sp>
      <p:sp>
        <p:nvSpPr>
          <p:cNvPr id="4" name="Text 2"/>
          <p:cNvSpPr txBox="1"/>
          <p:nvPr/>
        </p:nvSpPr>
        <p:spPr>
          <a:xfrm>
            <a:off x="548640" y="502920"/>
            <a:ext cx="7315200" cy="320040"/>
          </a:xfrm>
          <a:prstGeom prst="rect">
            <a:avLst/>
          </a:prstGeom>
          <a:noFill/>
          <a:ln/>
        </p:spPr>
        <p:txBody>
          <a:bodyPr wrap="square" lIns="0" tIns="0" rIns="0" bIns="0" rtlCol="0" anchor="t"/>
          <a:lstStyle/>
          <a:p>
            <a:pPr algn="l" indent="0" marL="0">
              <a:buNone/>
            </a:pPr>
            <a:r>
              <a:rPr lang="en-US" sz="1300" b="1" spc="200" kern="0" dirty="0">
                <a:solidFill>
                  <a:srgbClr val="F0562D"/>
                </a:solidFill>
                <a:latin typeface="Courier New" pitchFamily="34" charset="0"/>
                <a:ea typeface="Courier New" pitchFamily="34" charset="-122"/>
                <a:cs typeface="Courier New" pitchFamily="34" charset="-120"/>
              </a:rPr>
              <a:t>GIT · SHIP IT</a:t>
            </a:r>
            <a:endParaRPr lang="en-US" sz="1300" dirty="0"/>
          </a:p>
        </p:txBody>
      </p:sp>
      <p:sp>
        <p:nvSpPr>
          <p:cNvPr id="5" name="Text 3"/>
          <p:cNvSpPr txBox="1"/>
          <p:nvPr/>
        </p:nvSpPr>
        <p:spPr>
          <a:xfrm>
            <a:off x="548640" y="868680"/>
            <a:ext cx="11091672" cy="1005840"/>
          </a:xfrm>
          <a:prstGeom prst="rect">
            <a:avLst/>
          </a:prstGeom>
          <a:noFill/>
          <a:ln/>
        </p:spPr>
        <p:txBody>
          <a:bodyPr wrap="square" lIns="0" tIns="0" rIns="0" bIns="0" rtlCol="0" anchor="t"/>
          <a:lstStyle/>
          <a:p>
            <a:pPr algn="l" indent="0" marL="0">
              <a:buNone/>
            </a:pPr>
            <a:r>
              <a:rPr lang="en-US" sz="3400" b="1" dirty="0">
                <a:solidFill>
                  <a:srgbClr val="F6E6DB"/>
                </a:solidFill>
                <a:latin typeface="Calibri" pitchFamily="34" charset="0"/>
                <a:ea typeface="Calibri" pitchFamily="34" charset="-122"/>
                <a:cs typeface="Calibri" pitchFamily="34" charset="-120"/>
              </a:rPr>
              <a:t>Deliver your project through Git</a:t>
            </a:r>
            <a:endParaRPr lang="en-US" sz="3400" dirty="0"/>
          </a:p>
        </p:txBody>
      </p:sp>
      <p:sp>
        <p:nvSpPr>
          <p:cNvPr id="6" name="Text 4"/>
          <p:cNvSpPr txBox="1"/>
          <p:nvPr/>
        </p:nvSpPr>
        <p:spPr>
          <a:xfrm>
            <a:off x="548640" y="2011680"/>
            <a:ext cx="6126480" cy="384048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E0C6B6"/>
                </a:solidFill>
                <a:latin typeface="Calibri" pitchFamily="34" charset="0"/>
                <a:ea typeface="Calibri" pitchFamily="34" charset="-122"/>
                <a:cs typeface="Calibri" pitchFamily="34" charset="-120"/>
              </a:rPr>
              <a:t>Merge every feature branch via reviewed pull requests</a:t>
            </a:r>
            <a:endParaRPr lang="en-US" sz="1600" dirty="0"/>
          </a:p>
          <a:p>
            <a:pPr marL="342900" indent="-342900">
              <a:spcAft>
                <a:spcPts val="1200"/>
              </a:spcAft>
              <a:buSzPct val="100000"/>
              <a:buChar char="•"/>
            </a:pPr>
            <a:r>
              <a:rPr lang="en-US" sz="1600" dirty="0">
                <a:solidFill>
                  <a:srgbClr val="E0C6B6"/>
                </a:solidFill>
                <a:latin typeface="Calibri" pitchFamily="34" charset="0"/>
                <a:ea typeface="Calibri" pitchFamily="34" charset="-122"/>
                <a:cs typeface="Calibri" pitchFamily="34" charset="-120"/>
              </a:rPr>
              <a:t>Tag a release (v1.0) as your submission</a:t>
            </a:r>
            <a:endParaRPr lang="en-US" sz="1600" dirty="0"/>
          </a:p>
          <a:p>
            <a:pPr marL="342900" indent="-342900">
              <a:spcAft>
                <a:spcPts val="1200"/>
              </a:spcAft>
              <a:buSzPct val="100000"/>
              <a:buChar char="•"/>
            </a:pPr>
            <a:r>
              <a:rPr lang="en-US" sz="1600" dirty="0">
                <a:solidFill>
                  <a:srgbClr val="E0C6B6"/>
                </a:solidFill>
                <a:latin typeface="Calibri" pitchFamily="34" charset="0"/>
                <a:ea typeface="Calibri" pitchFamily="34" charset="-122"/>
                <a:cs typeface="Calibri" pitchFamily="34" charset="-120"/>
              </a:rPr>
              <a:t>A clean history tells your project's story</a:t>
            </a:r>
            <a:endParaRPr lang="en-US" sz="1600" dirty="0"/>
          </a:p>
          <a:p>
            <a:pPr marL="342900" indent="-342900">
              <a:spcAft>
                <a:spcPts val="1200"/>
              </a:spcAft>
              <a:buSzPct val="100000"/>
              <a:buChar char="•"/>
            </a:pPr>
            <a:r>
              <a:rPr lang="en-US" sz="1600" dirty="0">
                <a:solidFill>
                  <a:srgbClr val="E0C6B6"/>
                </a:solidFill>
                <a:latin typeface="Calibri" pitchFamily="34" charset="0"/>
                <a:ea typeface="Calibri" pitchFamily="34" charset="-122"/>
                <a:cs typeface="Calibri" pitchFamily="34" charset="-120"/>
              </a:rPr>
              <a:t>This is exactly how real teams ship software</a:t>
            </a:r>
            <a:endParaRPr lang="en-US" sz="1600" dirty="0"/>
          </a:p>
        </p:txBody>
      </p:sp>
      <p:sp>
        <p:nvSpPr>
          <p:cNvPr id="7" name="Shape 5"/>
          <p:cNvSpPr/>
          <p:nvPr/>
        </p:nvSpPr>
        <p:spPr>
          <a:xfrm>
            <a:off x="6995160" y="2148840"/>
            <a:ext cx="4645152" cy="3383280"/>
          </a:xfrm>
          <a:prstGeom prst="roundRect">
            <a:avLst>
              <a:gd name="adj" fmla="val 2432"/>
            </a:avLst>
          </a:prstGeom>
          <a:solidFill>
            <a:srgbClr val="3E2418"/>
          </a:solidFill>
          <a:ln w="15875">
            <a:solidFill>
              <a:srgbClr val="F0562D"/>
            </a:solidFill>
            <a:prstDash val="solid"/>
          </a:ln>
        </p:spPr>
      </p:sp>
      <p:sp>
        <p:nvSpPr>
          <p:cNvPr id="8" name="Shape 6"/>
          <p:cNvSpPr/>
          <p:nvPr/>
        </p:nvSpPr>
        <p:spPr>
          <a:xfrm>
            <a:off x="7269480" y="2423160"/>
            <a:ext cx="457200" cy="457200"/>
          </a:xfrm>
          <a:prstGeom prst="ellipse">
            <a:avLst/>
          </a:prstGeom>
          <a:solidFill>
            <a:srgbClr val="F0562D"/>
          </a:solidFill>
          <a:ln/>
        </p:spPr>
      </p:sp>
      <p:sp>
        <p:nvSpPr>
          <p:cNvPr id="9" name="Text 7"/>
          <p:cNvSpPr txBox="1"/>
          <p:nvPr/>
        </p:nvSpPr>
        <p:spPr>
          <a:xfrm>
            <a:off x="7818120" y="2450592"/>
            <a:ext cx="3657600" cy="411480"/>
          </a:xfrm>
          <a:prstGeom prst="rect">
            <a:avLst/>
          </a:prstGeom>
          <a:noFill/>
          <a:ln/>
        </p:spPr>
        <p:txBody>
          <a:bodyPr wrap="square" lIns="0" tIns="0" rIns="0" bIns="0" rtlCol="0" anchor="ctr"/>
          <a:lstStyle/>
          <a:p>
            <a:pPr algn="l" indent="0" marL="0">
              <a:buNone/>
            </a:pPr>
            <a:r>
              <a:rPr lang="en-US" sz="1300" b="1" spc="100" kern="0" dirty="0">
                <a:solidFill>
                  <a:srgbClr val="F0562D"/>
                </a:solidFill>
                <a:latin typeface="Courier New" pitchFamily="34" charset="0"/>
                <a:ea typeface="Courier New" pitchFamily="34" charset="-122"/>
                <a:cs typeface="Courier New" pitchFamily="34" charset="-120"/>
              </a:rPr>
              <a:t>WHAT'S NEXT</a:t>
            </a:r>
            <a:endParaRPr lang="en-US" sz="1300" dirty="0"/>
          </a:p>
        </p:txBody>
      </p:sp>
      <p:sp>
        <p:nvSpPr>
          <p:cNvPr id="10" name="Text 8"/>
          <p:cNvSpPr txBox="1"/>
          <p:nvPr/>
        </p:nvSpPr>
        <p:spPr>
          <a:xfrm>
            <a:off x="7269480" y="3108960"/>
            <a:ext cx="4160520" cy="2194560"/>
          </a:xfrm>
          <a:prstGeom prst="rect">
            <a:avLst/>
          </a:prstGeom>
          <a:noFill/>
          <a:ln/>
        </p:spPr>
        <p:txBody>
          <a:bodyPr wrap="square" lIns="0" tIns="0" rIns="0" bIns="0" rtlCol="0" anchor="t"/>
          <a:lstStyle/>
          <a:p>
            <a:pPr algn="l" indent="0" marL="0">
              <a:buNone/>
            </a:pPr>
            <a:r>
              <a:rPr lang="en-US" sz="1600" dirty="0">
                <a:solidFill>
                  <a:srgbClr val="F6E6DB"/>
                </a:solidFill>
                <a:latin typeface="Calibri" pitchFamily="34" charset="0"/>
                <a:ea typeface="Calibri" pitchFamily="34" charset="-122"/>
                <a:cs typeface="Calibri" pitchFamily="34" charset="-120"/>
              </a:rPr>
              <a:t>CI/CD runs your tests automatically on every push — the natural sequel to this course.</a:t>
            </a:r>
            <a:endParaRPr lang="en-US" sz="1600" dirty="0"/>
          </a:p>
        </p:txBody>
      </p:sp>
      <p:sp>
        <p:nvSpPr>
          <p:cNvPr id="11" name="Shape 9"/>
          <p:cNvSpPr/>
          <p:nvPr/>
        </p:nvSpPr>
        <p:spPr>
          <a:xfrm>
            <a:off x="548640" y="6217920"/>
            <a:ext cx="640080" cy="384048"/>
          </a:xfrm>
          <a:prstGeom prst="roundRect">
            <a:avLst>
              <a:gd name="adj" fmla="val 19048"/>
            </a:avLst>
          </a:prstGeom>
          <a:solidFill>
            <a:srgbClr val="F0562D"/>
          </a:solidFill>
          <a:ln/>
        </p:spPr>
      </p:sp>
      <p:sp>
        <p:nvSpPr>
          <p:cNvPr id="12" name="Text 10"/>
          <p:cNvSpPr txBox="1"/>
          <p:nvPr/>
        </p:nvSpPr>
        <p:spPr>
          <a:xfrm>
            <a:off x="548640" y="6217920"/>
            <a:ext cx="640080" cy="384048"/>
          </a:xfrm>
          <a:prstGeom prst="rect">
            <a:avLst/>
          </a:prstGeom>
          <a:noFill/>
          <a:ln/>
        </p:spPr>
        <p:txBody>
          <a:bodyPr wrap="square" lIns="0" tIns="0" rIns="0" bIns="0" rtlCol="0" anchor="ctr"/>
          <a:lstStyle/>
          <a:p>
            <a:pPr algn="ctr" indent="0" marL="0">
              <a:buNone/>
            </a:pPr>
            <a:r>
              <a:rPr lang="en-US" sz="1300" b="1" dirty="0">
                <a:solidFill>
                  <a:srgbClr val="1A1B26"/>
                </a:solidFill>
                <a:latin typeface="Courier New" pitchFamily="34" charset="0"/>
                <a:ea typeface="Courier New" pitchFamily="34" charset="-122"/>
                <a:cs typeface="Courier New" pitchFamily="34" charset="-120"/>
              </a:rPr>
              <a:t>S9</a:t>
            </a:r>
            <a:endParaRPr lang="en-US" sz="1300" dirty="0"/>
          </a:p>
        </p:txBody>
      </p:sp>
      <p:sp>
        <p:nvSpPr>
          <p:cNvPr id="13" name="Text 11"/>
          <p:cNvSpPr txBox="1"/>
          <p:nvPr/>
        </p:nvSpPr>
        <p:spPr>
          <a:xfrm>
            <a:off x="1325880" y="6254496"/>
            <a:ext cx="8229600" cy="320040"/>
          </a:xfrm>
          <a:prstGeom prst="rect">
            <a:avLst/>
          </a:prstGeom>
          <a:noFill/>
          <a:ln/>
        </p:spPr>
        <p:txBody>
          <a:bodyPr wrap="square" lIns="0" tIns="0" rIns="0" bIns="0" rtlCol="0" anchor="ctr"/>
          <a:lstStyle/>
          <a:p>
            <a:pPr algn="l" indent="0" marL="0">
              <a:buNone/>
            </a:pPr>
            <a:r>
              <a:rPr lang="en-US" sz="1000" dirty="0">
                <a:solidFill>
                  <a:srgbClr val="F0562D"/>
                </a:solidFill>
                <a:latin typeface="Calibri" pitchFamily="34" charset="0"/>
                <a:ea typeface="Calibri" pitchFamily="34" charset="-122"/>
                <a:cs typeface="Calibri" pitchFamily="34" charset="-120"/>
              </a:rPr>
              <a:t>GIT · supporting workflow  ·  Capstone Presentations &amp; The Future</a:t>
            </a:r>
            <a:endParaRPr lang="en-US" sz="1000" dirty="0"/>
          </a:p>
        </p:txBody>
      </p:sp>
      <p:sp>
        <p:nvSpPr>
          <p:cNvPr id="14" name="Text 12"/>
          <p:cNvSpPr txBox="1"/>
          <p:nvPr/>
        </p:nvSpPr>
        <p:spPr>
          <a:xfrm>
            <a:off x="8897112" y="6254496"/>
            <a:ext cx="2743200" cy="320040"/>
          </a:xfrm>
          <a:prstGeom prst="rect">
            <a:avLst/>
          </a:prstGeom>
          <a:noFill/>
          <a:ln/>
        </p:spPr>
        <p:txBody>
          <a:bodyPr wrap="square" lIns="0" tIns="0" rIns="0" bIns="0" rtlCol="0" anchor="ctr"/>
          <a:lstStyle/>
          <a:p>
            <a:pPr algn="r" indent="0" marL="0">
              <a:buNone/>
            </a:pPr>
            <a:r>
              <a:rPr lang="en-US" sz="1000" dirty="0">
                <a:solidFill>
                  <a:srgbClr val="565F89"/>
                </a:solidFill>
                <a:latin typeface="Calibri" pitchFamily="34" charset="0"/>
                <a:ea typeface="Calibri" pitchFamily="34" charset="-122"/>
                <a:cs typeface="Calibri" pitchFamily="34" charset="-120"/>
              </a:rPr>
              <a:t>1 Oct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B26"/>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t"/>
          <a:lstStyle/>
          <a:p>
            <a:pPr algn="l" indent="0" marL="0">
              <a:buNone/>
            </a:pPr>
            <a:r>
              <a:rPr lang="en-US" sz="1300" b="1" spc="200" kern="0" dirty="0">
                <a:solidFill>
                  <a:srgbClr val="7AA2F7"/>
                </a:solidFill>
                <a:latin typeface="Courier New" pitchFamily="34" charset="0"/>
                <a:ea typeface="Courier New" pitchFamily="34" charset="-122"/>
                <a:cs typeface="Courier New" pitchFamily="34" charset="-120"/>
              </a:rPr>
              <a:t>FORMAT</a:t>
            </a:r>
            <a:endParaRPr lang="en-US" sz="1300" dirty="0"/>
          </a:p>
        </p:txBody>
      </p:sp>
      <p:sp>
        <p:nvSpPr>
          <p:cNvPr id="3" name="Text 1"/>
          <p:cNvSpPr txBox="1"/>
          <p:nvPr/>
        </p:nvSpPr>
        <p:spPr>
          <a:xfrm>
            <a:off x="548640" y="868680"/>
            <a:ext cx="11091672" cy="1005840"/>
          </a:xfrm>
          <a:prstGeom prst="rect">
            <a:avLst/>
          </a:prstGeom>
          <a:noFill/>
          <a:ln/>
        </p:spPr>
        <p:txBody>
          <a:bodyPr wrap="square" lIns="0" tIns="0" rIns="0" bIns="0" rtlCol="0" anchor="t"/>
          <a:lstStyle/>
          <a:p>
            <a:pPr algn="l" indent="0" marL="0">
              <a:buNone/>
            </a:pPr>
            <a:r>
              <a:rPr lang="en-US" sz="3400" b="1" dirty="0">
                <a:solidFill>
                  <a:srgbClr val="C0CAF5"/>
                </a:solidFill>
                <a:latin typeface="Calibri" pitchFamily="34" charset="0"/>
                <a:ea typeface="Calibri" pitchFamily="34" charset="-122"/>
                <a:cs typeface="Calibri" pitchFamily="34" charset="-120"/>
              </a:rPr>
              <a:t>Presentation format</a:t>
            </a:r>
            <a:endParaRPr lang="en-US" sz="3400" dirty="0"/>
          </a:p>
        </p:txBody>
      </p:sp>
      <p:sp>
        <p:nvSpPr>
          <p:cNvPr id="4" name="Text 2"/>
          <p:cNvSpPr txBox="1"/>
          <p:nvPr/>
        </p:nvSpPr>
        <p:spPr>
          <a:xfrm>
            <a:off x="548640" y="1627632"/>
            <a:ext cx="10881360" cy="502920"/>
          </a:xfrm>
          <a:prstGeom prst="rect">
            <a:avLst/>
          </a:prstGeom>
          <a:noFill/>
          <a:ln/>
        </p:spPr>
        <p:txBody>
          <a:bodyPr wrap="square" lIns="0" tIns="0" rIns="0" bIns="0" rtlCol="0" anchor="t"/>
          <a:lstStyle/>
          <a:p>
            <a:pPr algn="l" indent="0" marL="0">
              <a:buNone/>
            </a:pPr>
            <a:r>
              <a:rPr lang="en-US" sz="1500" dirty="0">
                <a:solidFill>
                  <a:srgbClr val="A9B1D6"/>
                </a:solidFill>
                <a:latin typeface="Calibri" pitchFamily="34" charset="0"/>
                <a:ea typeface="Calibri" pitchFamily="34" charset="-122"/>
                <a:cs typeface="Calibri" pitchFamily="34" charset="-120"/>
              </a:rPr>
              <a:t>Here's how to spend your ten minutes so the work speaks for itself.</a:t>
            </a:r>
            <a:endParaRPr lang="en-US" sz="1500" dirty="0"/>
          </a:p>
        </p:txBody>
      </p:sp>
      <p:sp>
        <p:nvSpPr>
          <p:cNvPr id="5" name="Shape 3"/>
          <p:cNvSpPr/>
          <p:nvPr/>
        </p:nvSpPr>
        <p:spPr>
          <a:xfrm>
            <a:off x="548640" y="2432304"/>
            <a:ext cx="530352" cy="530352"/>
          </a:xfrm>
          <a:prstGeom prst="ellipse">
            <a:avLst/>
          </a:prstGeom>
          <a:solidFill>
            <a:srgbClr val="7AA2F7"/>
          </a:solidFill>
          <a:ln/>
        </p:spPr>
      </p:sp>
      <p:sp>
        <p:nvSpPr>
          <p:cNvPr id="6" name="Text 4"/>
          <p:cNvSpPr txBox="1"/>
          <p:nvPr/>
        </p:nvSpPr>
        <p:spPr>
          <a:xfrm>
            <a:off x="548640" y="2432304"/>
            <a:ext cx="530352" cy="530352"/>
          </a:xfrm>
          <a:prstGeom prst="rect">
            <a:avLst/>
          </a:prstGeom>
          <a:noFill/>
          <a:ln/>
        </p:spPr>
        <p:txBody>
          <a:bodyPr wrap="square" lIns="0" tIns="0" rIns="0" bIns="0" rtlCol="0" anchor="ctr"/>
          <a:lstStyle/>
          <a:p>
            <a:pPr algn="ctr" indent="0" marL="0">
              <a:buNone/>
            </a:pPr>
            <a:r>
              <a:rPr lang="en-US" sz="1800" b="1" dirty="0">
                <a:solidFill>
                  <a:srgbClr val="1A1B26"/>
                </a:solidFill>
                <a:latin typeface="Courier New" pitchFamily="34" charset="0"/>
                <a:ea typeface="Courier New" pitchFamily="34" charset="-122"/>
                <a:cs typeface="Courier New" pitchFamily="34" charset="-120"/>
              </a:rPr>
              <a:t>1</a:t>
            </a:r>
            <a:endParaRPr lang="en-US" sz="1800" dirty="0"/>
          </a:p>
        </p:txBody>
      </p:sp>
      <p:sp>
        <p:nvSpPr>
          <p:cNvPr id="7" name="Text 5"/>
          <p:cNvSpPr txBox="1"/>
          <p:nvPr/>
        </p:nvSpPr>
        <p:spPr>
          <a:xfrm>
            <a:off x="1325880" y="2414016"/>
            <a:ext cx="10424160" cy="411480"/>
          </a:xfrm>
          <a:prstGeom prst="rect">
            <a:avLst/>
          </a:prstGeom>
          <a:noFill/>
          <a:ln/>
        </p:spPr>
        <p:txBody>
          <a:bodyPr wrap="square" lIns="0" tIns="0" rIns="0" bIns="0" rtlCol="0" anchor="ctr"/>
          <a:lstStyle/>
          <a:p>
            <a:pPr algn="l" indent="0" marL="0">
              <a:buNone/>
            </a:pPr>
            <a:r>
              <a:rPr lang="en-US" sz="1700" b="1" dirty="0">
                <a:solidFill>
                  <a:srgbClr val="C0CAF5"/>
                </a:solidFill>
                <a:latin typeface="Calibri" pitchFamily="34" charset="0"/>
                <a:ea typeface="Calibri" pitchFamily="34" charset="-122"/>
                <a:cs typeface="Calibri" pitchFamily="34" charset="-120"/>
              </a:rPr>
              <a:t>Build (3 min)</a:t>
            </a:r>
            <a:endParaRPr lang="en-US" sz="1700" dirty="0"/>
          </a:p>
        </p:txBody>
      </p:sp>
      <p:sp>
        <p:nvSpPr>
          <p:cNvPr id="8" name="Text 6"/>
          <p:cNvSpPr txBox="1"/>
          <p:nvPr/>
        </p:nvSpPr>
        <p:spPr>
          <a:xfrm>
            <a:off x="1325880" y="2798064"/>
            <a:ext cx="10424160" cy="585216"/>
          </a:xfrm>
          <a:prstGeom prst="rect">
            <a:avLst/>
          </a:prstGeom>
          <a:noFill/>
          <a:ln/>
        </p:spPr>
        <p:txBody>
          <a:bodyPr wrap="square" lIns="0" tIns="0" rIns="0" bIns="0" rtlCol="0" anchor="t"/>
          <a:lstStyle/>
          <a:p>
            <a:pPr algn="l" indent="0" marL="0">
              <a:buNone/>
            </a:pPr>
            <a:r>
              <a:rPr lang="en-US" sz="1350" dirty="0">
                <a:solidFill>
                  <a:srgbClr val="A9B1D6"/>
                </a:solidFill>
                <a:latin typeface="Calibri" pitchFamily="34" charset="0"/>
                <a:ea typeface="Calibri" pitchFamily="34" charset="-122"/>
                <a:cs typeface="Calibri" pitchFamily="34" charset="-120"/>
              </a:rPr>
              <a:t>What the app does and a short live demo. Lead with the working thing.</a:t>
            </a:r>
            <a:endParaRPr lang="en-US" sz="1350" dirty="0"/>
          </a:p>
        </p:txBody>
      </p:sp>
      <p:sp>
        <p:nvSpPr>
          <p:cNvPr id="9" name="Shape 7"/>
          <p:cNvSpPr/>
          <p:nvPr/>
        </p:nvSpPr>
        <p:spPr>
          <a:xfrm>
            <a:off x="548640" y="3456432"/>
            <a:ext cx="530352" cy="530352"/>
          </a:xfrm>
          <a:prstGeom prst="ellipse">
            <a:avLst/>
          </a:prstGeom>
          <a:solidFill>
            <a:srgbClr val="7AA2F7"/>
          </a:solidFill>
          <a:ln/>
        </p:spPr>
      </p:sp>
      <p:sp>
        <p:nvSpPr>
          <p:cNvPr id="10" name="Text 8"/>
          <p:cNvSpPr txBox="1"/>
          <p:nvPr/>
        </p:nvSpPr>
        <p:spPr>
          <a:xfrm>
            <a:off x="548640" y="3456432"/>
            <a:ext cx="530352" cy="530352"/>
          </a:xfrm>
          <a:prstGeom prst="rect">
            <a:avLst/>
          </a:prstGeom>
          <a:noFill/>
          <a:ln/>
        </p:spPr>
        <p:txBody>
          <a:bodyPr wrap="square" lIns="0" tIns="0" rIns="0" bIns="0" rtlCol="0" anchor="ctr"/>
          <a:lstStyle/>
          <a:p>
            <a:pPr algn="ctr" indent="0" marL="0">
              <a:buNone/>
            </a:pPr>
            <a:r>
              <a:rPr lang="en-US" sz="1800" b="1" dirty="0">
                <a:solidFill>
                  <a:srgbClr val="1A1B26"/>
                </a:solidFill>
                <a:latin typeface="Courier New" pitchFamily="34" charset="0"/>
                <a:ea typeface="Courier New" pitchFamily="34" charset="-122"/>
                <a:cs typeface="Courier New" pitchFamily="34" charset="-120"/>
              </a:rPr>
              <a:t>2</a:t>
            </a:r>
            <a:endParaRPr lang="en-US" sz="1800" dirty="0"/>
          </a:p>
        </p:txBody>
      </p:sp>
      <p:sp>
        <p:nvSpPr>
          <p:cNvPr id="11" name="Text 9"/>
          <p:cNvSpPr txBox="1"/>
          <p:nvPr/>
        </p:nvSpPr>
        <p:spPr>
          <a:xfrm>
            <a:off x="1325880" y="3438144"/>
            <a:ext cx="10424160" cy="411480"/>
          </a:xfrm>
          <a:prstGeom prst="rect">
            <a:avLst/>
          </a:prstGeom>
          <a:noFill/>
          <a:ln/>
        </p:spPr>
        <p:txBody>
          <a:bodyPr wrap="square" lIns="0" tIns="0" rIns="0" bIns="0" rtlCol="0" anchor="ctr"/>
          <a:lstStyle/>
          <a:p>
            <a:pPr algn="l" indent="0" marL="0">
              <a:buNone/>
            </a:pPr>
            <a:r>
              <a:rPr lang="en-US" sz="1700" b="1" dirty="0">
                <a:solidFill>
                  <a:srgbClr val="C0CAF5"/>
                </a:solidFill>
                <a:latin typeface="Calibri" pitchFamily="34" charset="0"/>
                <a:ea typeface="Calibri" pitchFamily="34" charset="-122"/>
                <a:cs typeface="Calibri" pitchFamily="34" charset="-120"/>
              </a:rPr>
              <a:t>Prompt design (2 min)</a:t>
            </a:r>
            <a:endParaRPr lang="en-US" sz="1700" dirty="0"/>
          </a:p>
        </p:txBody>
      </p:sp>
      <p:sp>
        <p:nvSpPr>
          <p:cNvPr id="12" name="Text 10"/>
          <p:cNvSpPr txBox="1"/>
          <p:nvPr/>
        </p:nvSpPr>
        <p:spPr>
          <a:xfrm>
            <a:off x="1325880" y="3822192"/>
            <a:ext cx="10424160" cy="585216"/>
          </a:xfrm>
          <a:prstGeom prst="rect">
            <a:avLst/>
          </a:prstGeom>
          <a:noFill/>
          <a:ln/>
        </p:spPr>
        <p:txBody>
          <a:bodyPr wrap="square" lIns="0" tIns="0" rIns="0" bIns="0" rtlCol="0" anchor="t"/>
          <a:lstStyle/>
          <a:p>
            <a:pPr algn="l" indent="0" marL="0">
              <a:buNone/>
            </a:pPr>
            <a:r>
              <a:rPr lang="en-US" sz="1350" dirty="0">
                <a:solidFill>
                  <a:srgbClr val="A9B1D6"/>
                </a:solidFill>
                <a:latin typeface="Calibri" pitchFamily="34" charset="0"/>
                <a:ea typeface="Calibri" pitchFamily="34" charset="-122"/>
                <a:cs typeface="Calibri" pitchFamily="34" charset="-120"/>
              </a:rPr>
              <a:t>The key prompts and the iterations that actually moved the numbers.</a:t>
            </a:r>
            <a:endParaRPr lang="en-US" sz="1350" dirty="0"/>
          </a:p>
        </p:txBody>
      </p:sp>
      <p:sp>
        <p:nvSpPr>
          <p:cNvPr id="13" name="Shape 11"/>
          <p:cNvSpPr/>
          <p:nvPr/>
        </p:nvSpPr>
        <p:spPr>
          <a:xfrm>
            <a:off x="548640" y="4480560"/>
            <a:ext cx="530352" cy="530352"/>
          </a:xfrm>
          <a:prstGeom prst="ellipse">
            <a:avLst/>
          </a:prstGeom>
          <a:solidFill>
            <a:srgbClr val="7AA2F7"/>
          </a:solidFill>
          <a:ln/>
        </p:spPr>
      </p:sp>
      <p:sp>
        <p:nvSpPr>
          <p:cNvPr id="14" name="Text 12"/>
          <p:cNvSpPr txBox="1"/>
          <p:nvPr/>
        </p:nvSpPr>
        <p:spPr>
          <a:xfrm>
            <a:off x="548640" y="4480560"/>
            <a:ext cx="530352" cy="530352"/>
          </a:xfrm>
          <a:prstGeom prst="rect">
            <a:avLst/>
          </a:prstGeom>
          <a:noFill/>
          <a:ln/>
        </p:spPr>
        <p:txBody>
          <a:bodyPr wrap="square" lIns="0" tIns="0" rIns="0" bIns="0" rtlCol="0" anchor="ctr"/>
          <a:lstStyle/>
          <a:p>
            <a:pPr algn="ctr" indent="0" marL="0">
              <a:buNone/>
            </a:pPr>
            <a:r>
              <a:rPr lang="en-US" sz="1800" b="1" dirty="0">
                <a:solidFill>
                  <a:srgbClr val="1A1B26"/>
                </a:solidFill>
                <a:latin typeface="Courier New" pitchFamily="34" charset="0"/>
                <a:ea typeface="Courier New" pitchFamily="34" charset="-122"/>
                <a:cs typeface="Courier New" pitchFamily="34" charset="-120"/>
              </a:rPr>
              <a:t>3</a:t>
            </a:r>
            <a:endParaRPr lang="en-US" sz="1800" dirty="0"/>
          </a:p>
        </p:txBody>
      </p:sp>
      <p:sp>
        <p:nvSpPr>
          <p:cNvPr id="15" name="Text 13"/>
          <p:cNvSpPr txBox="1"/>
          <p:nvPr/>
        </p:nvSpPr>
        <p:spPr>
          <a:xfrm>
            <a:off x="1325880" y="4462272"/>
            <a:ext cx="10424160" cy="411480"/>
          </a:xfrm>
          <a:prstGeom prst="rect">
            <a:avLst/>
          </a:prstGeom>
          <a:noFill/>
          <a:ln/>
        </p:spPr>
        <p:txBody>
          <a:bodyPr wrap="square" lIns="0" tIns="0" rIns="0" bIns="0" rtlCol="0" anchor="ctr"/>
          <a:lstStyle/>
          <a:p>
            <a:pPr algn="l" indent="0" marL="0">
              <a:buNone/>
            </a:pPr>
            <a:r>
              <a:rPr lang="en-US" sz="1700" b="1" dirty="0">
                <a:solidFill>
                  <a:srgbClr val="C0CAF5"/>
                </a:solidFill>
                <a:latin typeface="Calibri" pitchFamily="34" charset="0"/>
                <a:ea typeface="Calibri" pitchFamily="34" charset="-122"/>
                <a:cs typeface="Calibri" pitchFamily="34" charset="-120"/>
              </a:rPr>
              <a:t>Evaluation (2 min)</a:t>
            </a:r>
            <a:endParaRPr lang="en-US" sz="1700" dirty="0"/>
          </a:p>
        </p:txBody>
      </p:sp>
      <p:sp>
        <p:nvSpPr>
          <p:cNvPr id="16" name="Text 14"/>
          <p:cNvSpPr txBox="1"/>
          <p:nvPr/>
        </p:nvSpPr>
        <p:spPr>
          <a:xfrm>
            <a:off x="1325880" y="4846320"/>
            <a:ext cx="10424160" cy="585216"/>
          </a:xfrm>
          <a:prstGeom prst="rect">
            <a:avLst/>
          </a:prstGeom>
          <a:noFill/>
          <a:ln/>
        </p:spPr>
        <p:txBody>
          <a:bodyPr wrap="square" lIns="0" tIns="0" rIns="0" bIns="0" rtlCol="0" anchor="t"/>
          <a:lstStyle/>
          <a:p>
            <a:pPr algn="l" indent="0" marL="0">
              <a:buNone/>
            </a:pPr>
            <a:r>
              <a:rPr lang="en-US" sz="1350" dirty="0">
                <a:solidFill>
                  <a:srgbClr val="A9B1D6"/>
                </a:solidFill>
                <a:latin typeface="Calibri" pitchFamily="34" charset="0"/>
                <a:ea typeface="Calibri" pitchFamily="34" charset="-122"/>
                <a:cs typeface="Calibri" pitchFamily="34" charset="-120"/>
              </a:rPr>
              <a:t>Your eval set, the scores, and the judge you used. Show the before/after.</a:t>
            </a:r>
            <a:endParaRPr lang="en-US" sz="1350" dirty="0"/>
          </a:p>
        </p:txBody>
      </p:sp>
      <p:sp>
        <p:nvSpPr>
          <p:cNvPr id="17" name="Shape 15"/>
          <p:cNvSpPr/>
          <p:nvPr/>
        </p:nvSpPr>
        <p:spPr>
          <a:xfrm>
            <a:off x="548640" y="5504688"/>
            <a:ext cx="530352" cy="530352"/>
          </a:xfrm>
          <a:prstGeom prst="ellipse">
            <a:avLst/>
          </a:prstGeom>
          <a:solidFill>
            <a:srgbClr val="7AA2F7"/>
          </a:solidFill>
          <a:ln/>
        </p:spPr>
      </p:sp>
      <p:sp>
        <p:nvSpPr>
          <p:cNvPr id="18" name="Text 16"/>
          <p:cNvSpPr txBox="1"/>
          <p:nvPr/>
        </p:nvSpPr>
        <p:spPr>
          <a:xfrm>
            <a:off x="548640" y="5504688"/>
            <a:ext cx="530352" cy="530352"/>
          </a:xfrm>
          <a:prstGeom prst="rect">
            <a:avLst/>
          </a:prstGeom>
          <a:noFill/>
          <a:ln/>
        </p:spPr>
        <p:txBody>
          <a:bodyPr wrap="square" lIns="0" tIns="0" rIns="0" bIns="0" rtlCol="0" anchor="ctr"/>
          <a:lstStyle/>
          <a:p>
            <a:pPr algn="ctr" indent="0" marL="0">
              <a:buNone/>
            </a:pPr>
            <a:r>
              <a:rPr lang="en-US" sz="1800" b="1" dirty="0">
                <a:solidFill>
                  <a:srgbClr val="1A1B26"/>
                </a:solidFill>
                <a:latin typeface="Courier New" pitchFamily="34" charset="0"/>
                <a:ea typeface="Courier New" pitchFamily="34" charset="-122"/>
                <a:cs typeface="Courier New" pitchFamily="34" charset="-120"/>
              </a:rPr>
              <a:t>4</a:t>
            </a:r>
            <a:endParaRPr lang="en-US" sz="1800" dirty="0"/>
          </a:p>
        </p:txBody>
      </p:sp>
      <p:sp>
        <p:nvSpPr>
          <p:cNvPr id="19" name="Text 17"/>
          <p:cNvSpPr txBox="1"/>
          <p:nvPr/>
        </p:nvSpPr>
        <p:spPr>
          <a:xfrm>
            <a:off x="1325880" y="5486400"/>
            <a:ext cx="10424160" cy="411480"/>
          </a:xfrm>
          <a:prstGeom prst="rect">
            <a:avLst/>
          </a:prstGeom>
          <a:noFill/>
          <a:ln/>
        </p:spPr>
        <p:txBody>
          <a:bodyPr wrap="square" lIns="0" tIns="0" rIns="0" bIns="0" rtlCol="0" anchor="ctr"/>
          <a:lstStyle/>
          <a:p>
            <a:pPr algn="l" indent="0" marL="0">
              <a:buNone/>
            </a:pPr>
            <a:r>
              <a:rPr lang="en-US" sz="1700" b="1" dirty="0">
                <a:solidFill>
                  <a:srgbClr val="C0CAF5"/>
                </a:solidFill>
                <a:latin typeface="Calibri" pitchFamily="34" charset="0"/>
                <a:ea typeface="Calibri" pitchFamily="34" charset="-122"/>
                <a:cs typeface="Calibri" pitchFamily="34" charset="-120"/>
              </a:rPr>
              <a:t>Reflection + Q&amp;A (3 min)</a:t>
            </a:r>
            <a:endParaRPr lang="en-US" sz="1700" dirty="0"/>
          </a:p>
        </p:txBody>
      </p:sp>
      <p:sp>
        <p:nvSpPr>
          <p:cNvPr id="20" name="Text 18"/>
          <p:cNvSpPr txBox="1"/>
          <p:nvPr/>
        </p:nvSpPr>
        <p:spPr>
          <a:xfrm>
            <a:off x="1325880" y="5870448"/>
            <a:ext cx="10424160" cy="585216"/>
          </a:xfrm>
          <a:prstGeom prst="rect">
            <a:avLst/>
          </a:prstGeom>
          <a:noFill/>
          <a:ln/>
        </p:spPr>
        <p:txBody>
          <a:bodyPr wrap="square" lIns="0" tIns="0" rIns="0" bIns="0" rtlCol="0" anchor="t"/>
          <a:lstStyle/>
          <a:p>
            <a:pPr algn="l" indent="0" marL="0">
              <a:buNone/>
            </a:pPr>
            <a:r>
              <a:rPr lang="en-US" sz="1350" dirty="0">
                <a:solidFill>
                  <a:srgbClr val="A9B1D6"/>
                </a:solidFill>
                <a:latin typeface="Calibri" pitchFamily="34" charset="0"/>
                <a:ea typeface="Calibri" pitchFamily="34" charset="-122"/>
                <a:cs typeface="Calibri" pitchFamily="34" charset="-120"/>
              </a:rPr>
              <a:t>Failure modes, one safety concern you found, and questions from the room.</a:t>
            </a:r>
            <a:endParaRPr lang="en-US" sz="1350" dirty="0"/>
          </a:p>
        </p:txBody>
      </p:sp>
      <p:sp>
        <p:nvSpPr>
          <p:cNvPr id="21" name="Shape 19"/>
          <p:cNvSpPr/>
          <p:nvPr/>
        </p:nvSpPr>
        <p:spPr>
          <a:xfrm>
            <a:off x="548640" y="6217920"/>
            <a:ext cx="640080" cy="384048"/>
          </a:xfrm>
          <a:prstGeom prst="roundRect">
            <a:avLst>
              <a:gd name="adj" fmla="val 19048"/>
            </a:avLst>
          </a:prstGeom>
          <a:solidFill>
            <a:srgbClr val="7AA2F7"/>
          </a:solidFill>
          <a:ln/>
        </p:spPr>
      </p:sp>
      <p:sp>
        <p:nvSpPr>
          <p:cNvPr id="22" name="Text 20"/>
          <p:cNvSpPr txBox="1"/>
          <p:nvPr/>
        </p:nvSpPr>
        <p:spPr>
          <a:xfrm>
            <a:off x="548640" y="6217920"/>
            <a:ext cx="640080" cy="384048"/>
          </a:xfrm>
          <a:prstGeom prst="rect">
            <a:avLst/>
          </a:prstGeom>
          <a:noFill/>
          <a:ln/>
        </p:spPr>
        <p:txBody>
          <a:bodyPr wrap="square" lIns="0" tIns="0" rIns="0" bIns="0" rtlCol="0" anchor="ctr"/>
          <a:lstStyle/>
          <a:p>
            <a:pPr algn="ctr" indent="0" marL="0">
              <a:buNone/>
            </a:pPr>
            <a:r>
              <a:rPr lang="en-US" sz="1300" b="1" dirty="0">
                <a:solidFill>
                  <a:srgbClr val="1A1B26"/>
                </a:solidFill>
                <a:latin typeface="Courier New" pitchFamily="34" charset="0"/>
                <a:ea typeface="Courier New" pitchFamily="34" charset="-122"/>
                <a:cs typeface="Courier New" pitchFamily="34" charset="-120"/>
              </a:rPr>
              <a:t>S9</a:t>
            </a:r>
            <a:endParaRPr lang="en-US" sz="1300" dirty="0"/>
          </a:p>
        </p:txBody>
      </p:sp>
      <p:sp>
        <p:nvSpPr>
          <p:cNvPr id="23" name="Text 21"/>
          <p:cNvSpPr txBox="1"/>
          <p:nvPr/>
        </p:nvSpPr>
        <p:spPr>
          <a:xfrm>
            <a:off x="1325880" y="6254496"/>
            <a:ext cx="8229600" cy="320040"/>
          </a:xfrm>
          <a:prstGeom prst="rect">
            <a:avLst/>
          </a:prstGeom>
          <a:noFill/>
          <a:ln/>
        </p:spPr>
        <p:txBody>
          <a:bodyPr wrap="square" lIns="0" tIns="0" rIns="0" bIns="0" rtlCol="0" anchor="ctr"/>
          <a:lstStyle/>
          <a:p>
            <a:pPr algn="l" indent="0" marL="0">
              <a:buNone/>
            </a:pPr>
            <a:r>
              <a:rPr lang="en-US" sz="1000" dirty="0">
                <a:solidFill>
                  <a:srgbClr val="565F89"/>
                </a:solidFill>
                <a:latin typeface="Calibri" pitchFamily="34" charset="0"/>
                <a:ea typeface="Calibri" pitchFamily="34" charset="-122"/>
                <a:cs typeface="Calibri" pitchFamily="34" charset="-120"/>
              </a:rPr>
              <a:t>Prompt &amp; Context Engineering  ·  Capstone Presentations &amp; The Future</a:t>
            </a:r>
            <a:endParaRPr lang="en-US" sz="1000" dirty="0"/>
          </a:p>
        </p:txBody>
      </p:sp>
      <p:sp>
        <p:nvSpPr>
          <p:cNvPr id="24" name="Text 22"/>
          <p:cNvSpPr txBox="1"/>
          <p:nvPr/>
        </p:nvSpPr>
        <p:spPr>
          <a:xfrm>
            <a:off x="8897112" y="6254496"/>
            <a:ext cx="2743200" cy="320040"/>
          </a:xfrm>
          <a:prstGeom prst="rect">
            <a:avLst/>
          </a:prstGeom>
          <a:noFill/>
          <a:ln/>
        </p:spPr>
        <p:txBody>
          <a:bodyPr wrap="square" lIns="0" tIns="0" rIns="0" bIns="0" rtlCol="0" anchor="ctr"/>
          <a:lstStyle/>
          <a:p>
            <a:pPr algn="r" indent="0" marL="0">
              <a:buNone/>
            </a:pPr>
            <a:r>
              <a:rPr lang="en-US" sz="1000" dirty="0">
                <a:solidFill>
                  <a:srgbClr val="565F89"/>
                </a:solidFill>
                <a:latin typeface="Calibri" pitchFamily="34" charset="0"/>
                <a:ea typeface="Calibri" pitchFamily="34" charset="-122"/>
                <a:cs typeface="Calibri" pitchFamily="34" charset="-120"/>
              </a:rPr>
              <a:t>1 Oct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B26"/>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t"/>
          <a:lstStyle/>
          <a:p>
            <a:pPr algn="l" indent="0" marL="0">
              <a:buNone/>
            </a:pPr>
            <a:r>
              <a:rPr lang="en-US" sz="1300" b="1" spc="200" kern="0" dirty="0">
                <a:solidFill>
                  <a:srgbClr val="7AA2F7"/>
                </a:solidFill>
                <a:latin typeface="Courier New" pitchFamily="34" charset="0"/>
                <a:ea typeface="Courier New" pitchFamily="34" charset="-122"/>
                <a:cs typeface="Courier New" pitchFamily="34" charset="-120"/>
              </a:rPr>
              <a:t>ASSESSMENT</a:t>
            </a:r>
            <a:endParaRPr lang="en-US" sz="1300" dirty="0"/>
          </a:p>
        </p:txBody>
      </p:sp>
      <p:sp>
        <p:nvSpPr>
          <p:cNvPr id="3" name="Text 1"/>
          <p:cNvSpPr txBox="1"/>
          <p:nvPr/>
        </p:nvSpPr>
        <p:spPr>
          <a:xfrm>
            <a:off x="548640" y="868680"/>
            <a:ext cx="11091672" cy="1005840"/>
          </a:xfrm>
          <a:prstGeom prst="rect">
            <a:avLst/>
          </a:prstGeom>
          <a:noFill/>
          <a:ln/>
        </p:spPr>
        <p:txBody>
          <a:bodyPr wrap="square" lIns="0" tIns="0" rIns="0" bIns="0" rtlCol="0" anchor="t"/>
          <a:lstStyle/>
          <a:p>
            <a:pPr algn="l" indent="0" marL="0">
              <a:buNone/>
            </a:pPr>
            <a:r>
              <a:rPr lang="en-US" sz="3400" b="1" dirty="0">
                <a:solidFill>
                  <a:srgbClr val="C0CAF5"/>
                </a:solidFill>
                <a:latin typeface="Calibri" pitchFamily="34" charset="0"/>
                <a:ea typeface="Calibri" pitchFamily="34" charset="-122"/>
                <a:cs typeface="Calibri" pitchFamily="34" charset="-120"/>
              </a:rPr>
              <a:t>How it's graded</a:t>
            </a:r>
            <a:endParaRPr lang="en-US" sz="3400" dirty="0"/>
          </a:p>
        </p:txBody>
      </p:sp>
      <p:sp>
        <p:nvSpPr>
          <p:cNvPr id="4" name="Text 2"/>
          <p:cNvSpPr txBox="1"/>
          <p:nvPr/>
        </p:nvSpPr>
        <p:spPr>
          <a:xfrm>
            <a:off x="548640" y="1627632"/>
            <a:ext cx="10881360" cy="502920"/>
          </a:xfrm>
          <a:prstGeom prst="rect">
            <a:avLst/>
          </a:prstGeom>
          <a:noFill/>
          <a:ln/>
        </p:spPr>
        <p:txBody>
          <a:bodyPr wrap="square" lIns="0" tIns="0" rIns="0" bIns="0" rtlCol="0" anchor="t"/>
          <a:lstStyle/>
          <a:p>
            <a:pPr algn="l" indent="0" marL="0">
              <a:buNone/>
            </a:pPr>
            <a:r>
              <a:rPr lang="en-US" sz="1500" dirty="0">
                <a:solidFill>
                  <a:srgbClr val="A9B1D6"/>
                </a:solidFill>
                <a:latin typeface="Calibri" pitchFamily="34" charset="0"/>
                <a:ea typeface="Calibri" pitchFamily="34" charset="-122"/>
                <a:cs typeface="Calibri" pitchFamily="34" charset="-120"/>
              </a:rPr>
              <a:t>No surprises — here's exactly what we're looking for.</a:t>
            </a:r>
            <a:endParaRPr lang="en-US" sz="1500" dirty="0"/>
          </a:p>
        </p:txBody>
      </p:sp>
      <p:sp>
        <p:nvSpPr>
          <p:cNvPr id="5" name="Shape 3"/>
          <p:cNvSpPr/>
          <p:nvPr/>
        </p:nvSpPr>
        <p:spPr>
          <a:xfrm>
            <a:off x="548640" y="2432304"/>
            <a:ext cx="5394960" cy="1810512"/>
          </a:xfrm>
          <a:prstGeom prst="roundRect">
            <a:avLst>
              <a:gd name="adj" fmla="val 4545"/>
            </a:avLst>
          </a:prstGeom>
          <a:solidFill>
            <a:srgbClr val="24283B"/>
          </a:solidFill>
          <a:ln w="12700">
            <a:solidFill>
              <a:srgbClr val="2A2E42"/>
            </a:solidFill>
            <a:prstDash val="solid"/>
          </a:ln>
        </p:spPr>
      </p:sp>
      <p:sp>
        <p:nvSpPr>
          <p:cNvPr id="6" name="Shape 4"/>
          <p:cNvSpPr/>
          <p:nvPr/>
        </p:nvSpPr>
        <p:spPr>
          <a:xfrm>
            <a:off x="822960" y="2724912"/>
            <a:ext cx="548640" cy="548640"/>
          </a:xfrm>
          <a:prstGeom prst="ellipse">
            <a:avLst/>
          </a:prstGeom>
          <a:solidFill>
            <a:srgbClr val="7AA2F7"/>
          </a:solidFill>
          <a:ln/>
        </p:spPr>
      </p:sp>
      <p:sp>
        <p:nvSpPr>
          <p:cNvPr id="7" name="Text 5"/>
          <p:cNvSpPr txBox="1"/>
          <p:nvPr/>
        </p:nvSpPr>
        <p:spPr>
          <a:xfrm>
            <a:off x="822960" y="2724912"/>
            <a:ext cx="548640" cy="548640"/>
          </a:xfrm>
          <a:prstGeom prst="rect">
            <a:avLst/>
          </a:prstGeom>
          <a:noFill/>
          <a:ln/>
        </p:spPr>
        <p:txBody>
          <a:bodyPr wrap="square" lIns="0" tIns="0" rIns="0" bIns="0" rtlCol="0" anchor="ctr"/>
          <a:lstStyle/>
          <a:p>
            <a:pPr algn="ctr" indent="0" marL="0">
              <a:buNone/>
            </a:pPr>
            <a:r>
              <a:rPr lang="en-US" sz="1900" b="1" dirty="0">
                <a:solidFill>
                  <a:srgbClr val="1A1B26"/>
                </a:solidFill>
                <a:latin typeface="Courier New" pitchFamily="34" charset="0"/>
                <a:ea typeface="Courier New" pitchFamily="34" charset="-122"/>
                <a:cs typeface="Courier New" pitchFamily="34" charset="-120"/>
              </a:rPr>
              <a:t>✎</a:t>
            </a:r>
            <a:endParaRPr lang="en-US" sz="1900" dirty="0"/>
          </a:p>
        </p:txBody>
      </p:sp>
      <p:sp>
        <p:nvSpPr>
          <p:cNvPr id="8" name="Text 6"/>
          <p:cNvSpPr txBox="1"/>
          <p:nvPr/>
        </p:nvSpPr>
        <p:spPr>
          <a:xfrm>
            <a:off x="1508760" y="2688336"/>
            <a:ext cx="4206240" cy="548640"/>
          </a:xfrm>
          <a:prstGeom prst="rect">
            <a:avLst/>
          </a:prstGeom>
          <a:noFill/>
          <a:ln/>
        </p:spPr>
        <p:txBody>
          <a:bodyPr wrap="square" lIns="0" tIns="0" rIns="0" bIns="0" rtlCol="0" anchor="ctr"/>
          <a:lstStyle/>
          <a:p>
            <a:pPr algn="l" indent="0" marL="0">
              <a:buNone/>
            </a:pPr>
            <a:r>
              <a:rPr lang="en-US" sz="1700" b="1" dirty="0">
                <a:solidFill>
                  <a:srgbClr val="C0CAF5"/>
                </a:solidFill>
                <a:latin typeface="Calibri" pitchFamily="34" charset="0"/>
                <a:ea typeface="Calibri" pitchFamily="34" charset="-122"/>
                <a:cs typeface="Calibri" pitchFamily="34" charset="-120"/>
              </a:rPr>
              <a:t>Prompt design</a:t>
            </a:r>
            <a:endParaRPr lang="en-US" sz="1700" dirty="0"/>
          </a:p>
        </p:txBody>
      </p:sp>
      <p:sp>
        <p:nvSpPr>
          <p:cNvPr id="9" name="Text 7"/>
          <p:cNvSpPr txBox="1"/>
          <p:nvPr/>
        </p:nvSpPr>
        <p:spPr>
          <a:xfrm>
            <a:off x="822960" y="3346704"/>
            <a:ext cx="4846320" cy="822960"/>
          </a:xfrm>
          <a:prstGeom prst="rect">
            <a:avLst/>
          </a:prstGeom>
          <a:noFill/>
          <a:ln/>
        </p:spPr>
        <p:txBody>
          <a:bodyPr wrap="square" lIns="0" tIns="0" rIns="0" bIns="0" rtlCol="0" anchor="t"/>
          <a:lstStyle/>
          <a:p>
            <a:pPr algn="l" indent="0" marL="0">
              <a:buNone/>
            </a:pPr>
            <a:r>
              <a:rPr lang="en-US" sz="1300" dirty="0">
                <a:solidFill>
                  <a:srgbClr val="A9B1D6"/>
                </a:solidFill>
                <a:latin typeface="Calibri" pitchFamily="34" charset="0"/>
                <a:ea typeface="Calibri" pitchFamily="34" charset="-122"/>
                <a:cs typeface="Calibri" pitchFamily="34" charset="-120"/>
              </a:rPr>
              <a:t>Clear, structured prompts with visible evidence of measured iteration — not a single lucky prompt.</a:t>
            </a:r>
            <a:endParaRPr lang="en-US" sz="1300" dirty="0"/>
          </a:p>
        </p:txBody>
      </p:sp>
      <p:sp>
        <p:nvSpPr>
          <p:cNvPr id="10" name="Shape 8"/>
          <p:cNvSpPr/>
          <p:nvPr/>
        </p:nvSpPr>
        <p:spPr>
          <a:xfrm>
            <a:off x="6245352" y="2432304"/>
            <a:ext cx="5394960" cy="1810512"/>
          </a:xfrm>
          <a:prstGeom prst="roundRect">
            <a:avLst>
              <a:gd name="adj" fmla="val 4545"/>
            </a:avLst>
          </a:prstGeom>
          <a:solidFill>
            <a:srgbClr val="24283B"/>
          </a:solidFill>
          <a:ln w="12700">
            <a:solidFill>
              <a:srgbClr val="2A2E42"/>
            </a:solidFill>
            <a:prstDash val="solid"/>
          </a:ln>
        </p:spPr>
      </p:sp>
      <p:sp>
        <p:nvSpPr>
          <p:cNvPr id="11" name="Shape 9"/>
          <p:cNvSpPr/>
          <p:nvPr/>
        </p:nvSpPr>
        <p:spPr>
          <a:xfrm>
            <a:off x="6519672" y="2724912"/>
            <a:ext cx="548640" cy="548640"/>
          </a:xfrm>
          <a:prstGeom prst="ellipse">
            <a:avLst/>
          </a:prstGeom>
          <a:solidFill>
            <a:srgbClr val="9ECE6A"/>
          </a:solidFill>
          <a:ln/>
        </p:spPr>
      </p:sp>
      <p:sp>
        <p:nvSpPr>
          <p:cNvPr id="12" name="Text 10"/>
          <p:cNvSpPr txBox="1"/>
          <p:nvPr/>
        </p:nvSpPr>
        <p:spPr>
          <a:xfrm>
            <a:off x="6519672" y="2724912"/>
            <a:ext cx="548640" cy="548640"/>
          </a:xfrm>
          <a:prstGeom prst="rect">
            <a:avLst/>
          </a:prstGeom>
          <a:noFill/>
          <a:ln/>
        </p:spPr>
        <p:txBody>
          <a:bodyPr wrap="square" lIns="0" tIns="0" rIns="0" bIns="0" rtlCol="0" anchor="ctr"/>
          <a:lstStyle/>
          <a:p>
            <a:pPr algn="ctr" indent="0" marL="0">
              <a:buNone/>
            </a:pPr>
            <a:r>
              <a:rPr lang="en-US" sz="1900" b="1" dirty="0">
                <a:solidFill>
                  <a:srgbClr val="1A1B26"/>
                </a:solidFill>
                <a:latin typeface="Courier New" pitchFamily="34" charset="0"/>
                <a:ea typeface="Courier New" pitchFamily="34" charset="-122"/>
                <a:cs typeface="Courier New" pitchFamily="34" charset="-120"/>
              </a:rPr>
              <a:t>▤</a:t>
            </a:r>
            <a:endParaRPr lang="en-US" sz="1900" dirty="0"/>
          </a:p>
        </p:txBody>
      </p:sp>
      <p:sp>
        <p:nvSpPr>
          <p:cNvPr id="13" name="Text 11"/>
          <p:cNvSpPr txBox="1"/>
          <p:nvPr/>
        </p:nvSpPr>
        <p:spPr>
          <a:xfrm>
            <a:off x="7205472" y="2688336"/>
            <a:ext cx="4206240" cy="548640"/>
          </a:xfrm>
          <a:prstGeom prst="rect">
            <a:avLst/>
          </a:prstGeom>
          <a:noFill/>
          <a:ln/>
        </p:spPr>
        <p:txBody>
          <a:bodyPr wrap="square" lIns="0" tIns="0" rIns="0" bIns="0" rtlCol="0" anchor="ctr"/>
          <a:lstStyle/>
          <a:p>
            <a:pPr algn="l" indent="0" marL="0">
              <a:buNone/>
            </a:pPr>
            <a:r>
              <a:rPr lang="en-US" sz="1700" b="1" dirty="0">
                <a:solidFill>
                  <a:srgbClr val="C0CAF5"/>
                </a:solidFill>
                <a:latin typeface="Calibri" pitchFamily="34" charset="0"/>
                <a:ea typeface="Calibri" pitchFamily="34" charset="-122"/>
                <a:cs typeface="Calibri" pitchFamily="34" charset="-120"/>
              </a:rPr>
              <a:t>Evaluation</a:t>
            </a:r>
            <a:endParaRPr lang="en-US" sz="1700" dirty="0"/>
          </a:p>
        </p:txBody>
      </p:sp>
      <p:sp>
        <p:nvSpPr>
          <p:cNvPr id="14" name="Text 12"/>
          <p:cNvSpPr txBox="1"/>
          <p:nvPr/>
        </p:nvSpPr>
        <p:spPr>
          <a:xfrm>
            <a:off x="6519672" y="3346704"/>
            <a:ext cx="4846320" cy="822960"/>
          </a:xfrm>
          <a:prstGeom prst="rect">
            <a:avLst/>
          </a:prstGeom>
          <a:noFill/>
          <a:ln/>
        </p:spPr>
        <p:txBody>
          <a:bodyPr wrap="square" lIns="0" tIns="0" rIns="0" bIns="0" rtlCol="0" anchor="t"/>
          <a:lstStyle/>
          <a:p>
            <a:pPr algn="l" indent="0" marL="0">
              <a:buNone/>
            </a:pPr>
            <a:r>
              <a:rPr lang="en-US" sz="1300" dirty="0">
                <a:solidFill>
                  <a:srgbClr val="A9B1D6"/>
                </a:solidFill>
                <a:latin typeface="Calibri" pitchFamily="34" charset="0"/>
                <a:ea typeface="Calibri" pitchFamily="34" charset="-122"/>
                <a:cs typeface="Calibri" pitchFamily="34" charset="-120"/>
              </a:rPr>
              <a:t>A real eval set, an LLM-as-judge check, and reported before/after numbers. The core of the grade.</a:t>
            </a:r>
            <a:endParaRPr lang="en-US" sz="1300" dirty="0"/>
          </a:p>
        </p:txBody>
      </p:sp>
      <p:sp>
        <p:nvSpPr>
          <p:cNvPr id="15" name="Shape 13"/>
          <p:cNvSpPr/>
          <p:nvPr/>
        </p:nvSpPr>
        <p:spPr>
          <a:xfrm>
            <a:off x="548640" y="4443984"/>
            <a:ext cx="5394960" cy="1810512"/>
          </a:xfrm>
          <a:prstGeom prst="roundRect">
            <a:avLst>
              <a:gd name="adj" fmla="val 4545"/>
            </a:avLst>
          </a:prstGeom>
          <a:solidFill>
            <a:srgbClr val="24283B"/>
          </a:solidFill>
          <a:ln w="12700">
            <a:solidFill>
              <a:srgbClr val="2A2E42"/>
            </a:solidFill>
            <a:prstDash val="solid"/>
          </a:ln>
        </p:spPr>
      </p:sp>
      <p:sp>
        <p:nvSpPr>
          <p:cNvPr id="16" name="Shape 14"/>
          <p:cNvSpPr/>
          <p:nvPr/>
        </p:nvSpPr>
        <p:spPr>
          <a:xfrm>
            <a:off x="822960" y="4736592"/>
            <a:ext cx="548640" cy="548640"/>
          </a:xfrm>
          <a:prstGeom prst="ellipse">
            <a:avLst/>
          </a:prstGeom>
          <a:solidFill>
            <a:srgbClr val="FF9E64"/>
          </a:solidFill>
          <a:ln/>
        </p:spPr>
      </p:sp>
      <p:sp>
        <p:nvSpPr>
          <p:cNvPr id="17" name="Text 15"/>
          <p:cNvSpPr txBox="1"/>
          <p:nvPr/>
        </p:nvSpPr>
        <p:spPr>
          <a:xfrm>
            <a:off x="822960" y="4736592"/>
            <a:ext cx="548640" cy="548640"/>
          </a:xfrm>
          <a:prstGeom prst="rect">
            <a:avLst/>
          </a:prstGeom>
          <a:noFill/>
          <a:ln/>
        </p:spPr>
        <p:txBody>
          <a:bodyPr wrap="square" lIns="0" tIns="0" rIns="0" bIns="0" rtlCol="0" anchor="ctr"/>
          <a:lstStyle/>
          <a:p>
            <a:pPr algn="ctr" indent="0" marL="0">
              <a:buNone/>
            </a:pPr>
            <a:r>
              <a:rPr lang="en-US" sz="1900" b="1" dirty="0">
                <a:solidFill>
                  <a:srgbClr val="1A1B26"/>
                </a:solidFill>
                <a:latin typeface="Courier New" pitchFamily="34" charset="0"/>
                <a:ea typeface="Courier New" pitchFamily="34" charset="-122"/>
                <a:cs typeface="Courier New" pitchFamily="34" charset="-120"/>
              </a:rPr>
              <a:t>⚠</a:t>
            </a:r>
            <a:endParaRPr lang="en-US" sz="1900" dirty="0"/>
          </a:p>
        </p:txBody>
      </p:sp>
      <p:sp>
        <p:nvSpPr>
          <p:cNvPr id="18" name="Text 16"/>
          <p:cNvSpPr txBox="1"/>
          <p:nvPr/>
        </p:nvSpPr>
        <p:spPr>
          <a:xfrm>
            <a:off x="1508760" y="4700016"/>
            <a:ext cx="4206240" cy="548640"/>
          </a:xfrm>
          <a:prstGeom prst="rect">
            <a:avLst/>
          </a:prstGeom>
          <a:noFill/>
          <a:ln/>
        </p:spPr>
        <p:txBody>
          <a:bodyPr wrap="square" lIns="0" tIns="0" rIns="0" bIns="0" rtlCol="0" anchor="ctr"/>
          <a:lstStyle/>
          <a:p>
            <a:pPr algn="l" indent="0" marL="0">
              <a:buNone/>
            </a:pPr>
            <a:r>
              <a:rPr lang="en-US" sz="1700" b="1" dirty="0">
                <a:solidFill>
                  <a:srgbClr val="C0CAF5"/>
                </a:solidFill>
                <a:latin typeface="Calibri" pitchFamily="34" charset="0"/>
                <a:ea typeface="Calibri" pitchFamily="34" charset="-122"/>
                <a:cs typeface="Calibri" pitchFamily="34" charset="-120"/>
              </a:rPr>
              <a:t>Safety</a:t>
            </a:r>
            <a:endParaRPr lang="en-US" sz="1700" dirty="0"/>
          </a:p>
        </p:txBody>
      </p:sp>
      <p:sp>
        <p:nvSpPr>
          <p:cNvPr id="19" name="Text 17"/>
          <p:cNvSpPr txBox="1"/>
          <p:nvPr/>
        </p:nvSpPr>
        <p:spPr>
          <a:xfrm>
            <a:off x="822960" y="5358384"/>
            <a:ext cx="4846320" cy="822960"/>
          </a:xfrm>
          <a:prstGeom prst="rect">
            <a:avLst/>
          </a:prstGeom>
          <a:noFill/>
          <a:ln/>
        </p:spPr>
        <p:txBody>
          <a:bodyPr wrap="square" lIns="0" tIns="0" rIns="0" bIns="0" rtlCol="0" anchor="t"/>
          <a:lstStyle/>
          <a:p>
            <a:pPr algn="l" indent="0" marL="0">
              <a:buNone/>
            </a:pPr>
            <a:r>
              <a:rPr lang="en-US" sz="1300" dirty="0">
                <a:solidFill>
                  <a:srgbClr val="A9B1D6"/>
                </a:solidFill>
                <a:latin typeface="Calibri" pitchFamily="34" charset="0"/>
                <a:ea typeface="Calibri" pitchFamily="34" charset="-122"/>
                <a:cs typeface="Calibri" pitchFamily="34" charset="-120"/>
              </a:rPr>
              <a:t>At least one demonstrated risk and a working mitigation. Shows production maturity.</a:t>
            </a:r>
            <a:endParaRPr lang="en-US" sz="1300" dirty="0"/>
          </a:p>
        </p:txBody>
      </p:sp>
      <p:sp>
        <p:nvSpPr>
          <p:cNvPr id="20" name="Shape 18"/>
          <p:cNvSpPr/>
          <p:nvPr/>
        </p:nvSpPr>
        <p:spPr>
          <a:xfrm>
            <a:off x="6245352" y="4443984"/>
            <a:ext cx="5394960" cy="1810512"/>
          </a:xfrm>
          <a:prstGeom prst="roundRect">
            <a:avLst>
              <a:gd name="adj" fmla="val 4545"/>
            </a:avLst>
          </a:prstGeom>
          <a:solidFill>
            <a:srgbClr val="24283B"/>
          </a:solidFill>
          <a:ln w="12700">
            <a:solidFill>
              <a:srgbClr val="2A2E42"/>
            </a:solidFill>
            <a:prstDash val="solid"/>
          </a:ln>
        </p:spPr>
      </p:sp>
      <p:sp>
        <p:nvSpPr>
          <p:cNvPr id="21" name="Shape 19"/>
          <p:cNvSpPr/>
          <p:nvPr/>
        </p:nvSpPr>
        <p:spPr>
          <a:xfrm>
            <a:off x="6519672" y="4736592"/>
            <a:ext cx="548640" cy="548640"/>
          </a:xfrm>
          <a:prstGeom prst="ellipse">
            <a:avLst/>
          </a:prstGeom>
          <a:solidFill>
            <a:srgbClr val="7DCFFF"/>
          </a:solidFill>
          <a:ln/>
        </p:spPr>
      </p:sp>
      <p:sp>
        <p:nvSpPr>
          <p:cNvPr id="22" name="Text 20"/>
          <p:cNvSpPr txBox="1"/>
          <p:nvPr/>
        </p:nvSpPr>
        <p:spPr>
          <a:xfrm>
            <a:off x="6519672" y="4736592"/>
            <a:ext cx="548640" cy="548640"/>
          </a:xfrm>
          <a:prstGeom prst="rect">
            <a:avLst/>
          </a:prstGeom>
          <a:noFill/>
          <a:ln/>
        </p:spPr>
        <p:txBody>
          <a:bodyPr wrap="square" lIns="0" tIns="0" rIns="0" bIns="0" rtlCol="0" anchor="ctr"/>
          <a:lstStyle/>
          <a:p>
            <a:pPr algn="ctr" indent="0" marL="0">
              <a:buNone/>
            </a:pPr>
            <a:r>
              <a:rPr lang="en-US" sz="1900" b="1" dirty="0">
                <a:solidFill>
                  <a:srgbClr val="1A1B26"/>
                </a:solidFill>
                <a:latin typeface="Courier New" pitchFamily="34" charset="0"/>
                <a:ea typeface="Courier New" pitchFamily="34" charset="-122"/>
                <a:cs typeface="Courier New" pitchFamily="34" charset="-120"/>
              </a:rPr>
              <a:t>▲</a:t>
            </a:r>
            <a:endParaRPr lang="en-US" sz="1900" dirty="0"/>
          </a:p>
        </p:txBody>
      </p:sp>
      <p:sp>
        <p:nvSpPr>
          <p:cNvPr id="23" name="Text 21"/>
          <p:cNvSpPr txBox="1"/>
          <p:nvPr/>
        </p:nvSpPr>
        <p:spPr>
          <a:xfrm>
            <a:off x="7205472" y="4700016"/>
            <a:ext cx="4206240" cy="548640"/>
          </a:xfrm>
          <a:prstGeom prst="rect">
            <a:avLst/>
          </a:prstGeom>
          <a:noFill/>
          <a:ln/>
        </p:spPr>
        <p:txBody>
          <a:bodyPr wrap="square" lIns="0" tIns="0" rIns="0" bIns="0" rtlCol="0" anchor="ctr"/>
          <a:lstStyle/>
          <a:p>
            <a:pPr algn="l" indent="0" marL="0">
              <a:buNone/>
            </a:pPr>
            <a:r>
              <a:rPr lang="en-US" sz="1700" b="1" dirty="0">
                <a:solidFill>
                  <a:srgbClr val="C0CAF5"/>
                </a:solidFill>
                <a:latin typeface="Calibri" pitchFamily="34" charset="0"/>
                <a:ea typeface="Calibri" pitchFamily="34" charset="-122"/>
                <a:cs typeface="Calibri" pitchFamily="34" charset="-120"/>
              </a:rPr>
              <a:t>Delivery</a:t>
            </a:r>
            <a:endParaRPr lang="en-US" sz="1700" dirty="0"/>
          </a:p>
        </p:txBody>
      </p:sp>
      <p:sp>
        <p:nvSpPr>
          <p:cNvPr id="24" name="Text 22"/>
          <p:cNvSpPr txBox="1"/>
          <p:nvPr/>
        </p:nvSpPr>
        <p:spPr>
          <a:xfrm>
            <a:off x="6519672" y="5358384"/>
            <a:ext cx="4846320" cy="822960"/>
          </a:xfrm>
          <a:prstGeom prst="rect">
            <a:avLst/>
          </a:prstGeom>
          <a:noFill/>
          <a:ln/>
        </p:spPr>
        <p:txBody>
          <a:bodyPr wrap="square" lIns="0" tIns="0" rIns="0" bIns="0" rtlCol="0" anchor="t"/>
          <a:lstStyle/>
          <a:p>
            <a:pPr algn="l" indent="0" marL="0">
              <a:buNone/>
            </a:pPr>
            <a:r>
              <a:rPr lang="en-US" sz="1300" dirty="0">
                <a:solidFill>
                  <a:srgbClr val="A9B1D6"/>
                </a:solidFill>
                <a:latin typeface="Calibri" pitchFamily="34" charset="0"/>
                <a:ea typeface="Calibri" pitchFamily="34" charset="-122"/>
                <a:cs typeface="Calibri" pitchFamily="34" charset="-120"/>
              </a:rPr>
              <a:t>Clean Git history, reviewed PRs, a tagged release, and a clear, honest reflection.</a:t>
            </a:r>
            <a:endParaRPr lang="en-US" sz="1300" dirty="0"/>
          </a:p>
        </p:txBody>
      </p:sp>
      <p:sp>
        <p:nvSpPr>
          <p:cNvPr id="25" name="Shape 23"/>
          <p:cNvSpPr/>
          <p:nvPr/>
        </p:nvSpPr>
        <p:spPr>
          <a:xfrm>
            <a:off x="548640" y="6217920"/>
            <a:ext cx="640080" cy="384048"/>
          </a:xfrm>
          <a:prstGeom prst="roundRect">
            <a:avLst>
              <a:gd name="adj" fmla="val 19048"/>
            </a:avLst>
          </a:prstGeom>
          <a:solidFill>
            <a:srgbClr val="7AA2F7"/>
          </a:solidFill>
          <a:ln/>
        </p:spPr>
      </p:sp>
      <p:sp>
        <p:nvSpPr>
          <p:cNvPr id="26" name="Text 24"/>
          <p:cNvSpPr txBox="1"/>
          <p:nvPr/>
        </p:nvSpPr>
        <p:spPr>
          <a:xfrm>
            <a:off x="548640" y="6217920"/>
            <a:ext cx="640080" cy="384048"/>
          </a:xfrm>
          <a:prstGeom prst="rect">
            <a:avLst/>
          </a:prstGeom>
          <a:noFill/>
          <a:ln/>
        </p:spPr>
        <p:txBody>
          <a:bodyPr wrap="square" lIns="0" tIns="0" rIns="0" bIns="0" rtlCol="0" anchor="ctr"/>
          <a:lstStyle/>
          <a:p>
            <a:pPr algn="ctr" indent="0" marL="0">
              <a:buNone/>
            </a:pPr>
            <a:r>
              <a:rPr lang="en-US" sz="1300" b="1" dirty="0">
                <a:solidFill>
                  <a:srgbClr val="1A1B26"/>
                </a:solidFill>
                <a:latin typeface="Courier New" pitchFamily="34" charset="0"/>
                <a:ea typeface="Courier New" pitchFamily="34" charset="-122"/>
                <a:cs typeface="Courier New" pitchFamily="34" charset="-120"/>
              </a:rPr>
              <a:t>S9</a:t>
            </a:r>
            <a:endParaRPr lang="en-US" sz="1300" dirty="0"/>
          </a:p>
        </p:txBody>
      </p:sp>
      <p:sp>
        <p:nvSpPr>
          <p:cNvPr id="27" name="Text 25"/>
          <p:cNvSpPr txBox="1"/>
          <p:nvPr/>
        </p:nvSpPr>
        <p:spPr>
          <a:xfrm>
            <a:off x="1325880" y="6254496"/>
            <a:ext cx="8229600" cy="320040"/>
          </a:xfrm>
          <a:prstGeom prst="rect">
            <a:avLst/>
          </a:prstGeom>
          <a:noFill/>
          <a:ln/>
        </p:spPr>
        <p:txBody>
          <a:bodyPr wrap="square" lIns="0" tIns="0" rIns="0" bIns="0" rtlCol="0" anchor="ctr"/>
          <a:lstStyle/>
          <a:p>
            <a:pPr algn="l" indent="0" marL="0">
              <a:buNone/>
            </a:pPr>
            <a:r>
              <a:rPr lang="en-US" sz="1000" dirty="0">
                <a:solidFill>
                  <a:srgbClr val="565F89"/>
                </a:solidFill>
                <a:latin typeface="Calibri" pitchFamily="34" charset="0"/>
                <a:ea typeface="Calibri" pitchFamily="34" charset="-122"/>
                <a:cs typeface="Calibri" pitchFamily="34" charset="-120"/>
              </a:rPr>
              <a:t>Prompt &amp; Context Engineering  ·  Capstone Presentations &amp; The Future</a:t>
            </a:r>
            <a:endParaRPr lang="en-US" sz="1000" dirty="0"/>
          </a:p>
        </p:txBody>
      </p:sp>
      <p:sp>
        <p:nvSpPr>
          <p:cNvPr id="28" name="Text 26"/>
          <p:cNvSpPr txBox="1"/>
          <p:nvPr/>
        </p:nvSpPr>
        <p:spPr>
          <a:xfrm>
            <a:off x="8897112" y="6254496"/>
            <a:ext cx="2743200" cy="320040"/>
          </a:xfrm>
          <a:prstGeom prst="rect">
            <a:avLst/>
          </a:prstGeom>
          <a:noFill/>
          <a:ln/>
        </p:spPr>
        <p:txBody>
          <a:bodyPr wrap="square" lIns="0" tIns="0" rIns="0" bIns="0" rtlCol="0" anchor="ctr"/>
          <a:lstStyle/>
          <a:p>
            <a:pPr algn="r" indent="0" marL="0">
              <a:buNone/>
            </a:pPr>
            <a:r>
              <a:rPr lang="en-US" sz="1000" dirty="0">
                <a:solidFill>
                  <a:srgbClr val="565F89"/>
                </a:solidFill>
                <a:latin typeface="Calibri" pitchFamily="34" charset="0"/>
                <a:ea typeface="Calibri" pitchFamily="34" charset="-122"/>
                <a:cs typeface="Calibri" pitchFamily="34" charset="-120"/>
              </a:rPr>
              <a:t>1 Oct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B26"/>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t"/>
          <a:lstStyle/>
          <a:p>
            <a:pPr algn="l" indent="0" marL="0">
              <a:buNone/>
            </a:pPr>
            <a:r>
              <a:rPr lang="en-US" sz="1300" b="1" spc="200" kern="0" dirty="0">
                <a:solidFill>
                  <a:srgbClr val="7AA2F7"/>
                </a:solidFill>
                <a:latin typeface="Courier New" pitchFamily="34" charset="0"/>
                <a:ea typeface="Courier New" pitchFamily="34" charset="-122"/>
                <a:cs typeface="Courier New" pitchFamily="34" charset="-120"/>
              </a:rPr>
              <a:t>PEER REVIEW</a:t>
            </a:r>
            <a:endParaRPr lang="en-US" sz="1300" dirty="0"/>
          </a:p>
        </p:txBody>
      </p:sp>
      <p:sp>
        <p:nvSpPr>
          <p:cNvPr id="3" name="Text 1"/>
          <p:cNvSpPr txBox="1"/>
          <p:nvPr/>
        </p:nvSpPr>
        <p:spPr>
          <a:xfrm>
            <a:off x="548640" y="868680"/>
            <a:ext cx="11091672" cy="1005840"/>
          </a:xfrm>
          <a:prstGeom prst="rect">
            <a:avLst/>
          </a:prstGeom>
          <a:noFill/>
          <a:ln/>
        </p:spPr>
        <p:txBody>
          <a:bodyPr wrap="square" lIns="0" tIns="0" rIns="0" bIns="0" rtlCol="0" anchor="t"/>
          <a:lstStyle/>
          <a:p>
            <a:pPr algn="l" indent="0" marL="0">
              <a:buNone/>
            </a:pPr>
            <a:r>
              <a:rPr lang="en-US" sz="3400" b="1" dirty="0">
                <a:solidFill>
                  <a:srgbClr val="C0CAF5"/>
                </a:solidFill>
                <a:latin typeface="Calibri" pitchFamily="34" charset="0"/>
                <a:ea typeface="Calibri" pitchFamily="34" charset="-122"/>
                <a:cs typeface="Calibri" pitchFamily="34" charset="-120"/>
              </a:rPr>
              <a:t>Giving good feedback</a:t>
            </a:r>
            <a:endParaRPr lang="en-US" sz="3400" dirty="0"/>
          </a:p>
        </p:txBody>
      </p:sp>
      <p:sp>
        <p:nvSpPr>
          <p:cNvPr id="4" name="Text 2"/>
          <p:cNvSpPr txBox="1"/>
          <p:nvPr/>
        </p:nvSpPr>
        <p:spPr>
          <a:xfrm>
            <a:off x="548640" y="1627632"/>
            <a:ext cx="10881360" cy="502920"/>
          </a:xfrm>
          <a:prstGeom prst="rect">
            <a:avLst/>
          </a:prstGeom>
          <a:noFill/>
          <a:ln/>
        </p:spPr>
        <p:txBody>
          <a:bodyPr wrap="square" lIns="0" tIns="0" rIns="0" bIns="0" rtlCol="0" anchor="t"/>
          <a:lstStyle/>
          <a:p>
            <a:pPr algn="l" indent="0" marL="0">
              <a:buNone/>
            </a:pPr>
            <a:r>
              <a:rPr lang="en-US" sz="1500" dirty="0">
                <a:solidFill>
                  <a:srgbClr val="A9B1D6"/>
                </a:solidFill>
                <a:latin typeface="Calibri" pitchFamily="34" charset="0"/>
                <a:ea typeface="Calibri" pitchFamily="34" charset="-122"/>
                <a:cs typeface="Calibri" pitchFamily="34" charset="-120"/>
              </a:rPr>
              <a:t>A quick word on how to be a useful audience for each other.</a:t>
            </a:r>
            <a:endParaRPr lang="en-US" sz="1500" dirty="0"/>
          </a:p>
        </p:txBody>
      </p:sp>
      <p:sp>
        <p:nvSpPr>
          <p:cNvPr id="5" name="Text 3"/>
          <p:cNvSpPr txBox="1"/>
          <p:nvPr/>
        </p:nvSpPr>
        <p:spPr>
          <a:xfrm>
            <a:off x="548640" y="2340864"/>
            <a:ext cx="6126480" cy="3511296"/>
          </a:xfrm>
          <a:prstGeom prst="rect">
            <a:avLst/>
          </a:prstGeom>
          <a:noFill/>
          <a:ln/>
        </p:spPr>
        <p:txBody>
          <a:bodyPr wrap="square" lIns="0" tIns="0" rIns="0" bIns="0" rtlCol="0" anchor="t"/>
          <a:lstStyle/>
          <a:p>
            <a:pPr marL="342900" indent="-342900">
              <a:spcAft>
                <a:spcPts val="300"/>
              </a:spcAft>
              <a:buSzPct val="100000"/>
              <a:buChar char="•"/>
            </a:pPr>
            <a:r>
              <a:rPr lang="en-US" sz="1600" b="1" dirty="0">
                <a:solidFill>
                  <a:srgbClr val="C0CAF5"/>
                </a:solidFill>
                <a:latin typeface="Calibri" pitchFamily="34" charset="0"/>
                <a:ea typeface="Calibri" pitchFamily="34" charset="-122"/>
                <a:cs typeface="Calibri" pitchFamily="34" charset="-120"/>
              </a:rPr>
              <a:t>Start with what worked and why</a:t>
            </a:r>
            <a:endParaRPr lang="en-US" sz="1600" dirty="0"/>
          </a:p>
          <a:p>
            <a:pPr lvl="1" indent="0" marL="0">
              <a:spcAft>
                <a:spcPts val="1200"/>
              </a:spcAft>
              <a:buNone/>
            </a:pPr>
            <a:r>
              <a:rPr lang="en-US" sz="1300" dirty="0">
                <a:solidFill>
                  <a:srgbClr val="A9B1D6"/>
                </a:solidFill>
                <a:latin typeface="Calibri" pitchFamily="34" charset="0"/>
                <a:ea typeface="Calibri" pitchFamily="34" charset="-122"/>
                <a:cs typeface="Calibri" pitchFamily="34" charset="-120"/>
              </a:rPr>
              <a:t>Specific praise ('the refusal handling was solid') is more useful than generic applause.</a:t>
            </a:r>
            <a:endParaRPr lang="en-US" sz="1600" dirty="0"/>
          </a:p>
          <a:p>
            <a:pPr marL="342900" indent="-342900">
              <a:spcAft>
                <a:spcPts val="300"/>
              </a:spcAft>
              <a:buSzPct val="100000"/>
              <a:buChar char="•"/>
            </a:pPr>
            <a:r>
              <a:rPr lang="en-US" sz="1600" b="1" dirty="0">
                <a:solidFill>
                  <a:srgbClr val="C0CAF5"/>
                </a:solidFill>
                <a:latin typeface="Calibri" pitchFamily="34" charset="0"/>
                <a:ea typeface="Calibri" pitchFamily="34" charset="-122"/>
                <a:cs typeface="Calibri" pitchFamily="34" charset="-120"/>
              </a:rPr>
              <a:t>Ask about one concrete choice</a:t>
            </a:r>
            <a:endParaRPr lang="en-US" sz="1600" dirty="0"/>
          </a:p>
          <a:p>
            <a:pPr lvl="1" indent="0" marL="0">
              <a:spcAft>
                <a:spcPts val="1200"/>
              </a:spcAft>
              <a:buNone/>
            </a:pPr>
            <a:r>
              <a:rPr lang="en-US" sz="1300" dirty="0">
                <a:solidFill>
                  <a:srgbClr val="A9B1D6"/>
                </a:solidFill>
                <a:latin typeface="Calibri" pitchFamily="34" charset="0"/>
                <a:ea typeface="Calibri" pitchFamily="34" charset="-122"/>
                <a:cs typeface="Calibri" pitchFamily="34" charset="-120"/>
              </a:rPr>
              <a:t>Probe a single prompt or eval decision rather than vaguely 'have you considered...'.</a:t>
            </a:r>
            <a:endParaRPr lang="en-US" sz="1600" dirty="0"/>
          </a:p>
          <a:p>
            <a:pPr marL="342900" indent="-342900">
              <a:spcAft>
                <a:spcPts val="300"/>
              </a:spcAft>
              <a:buSzPct val="100000"/>
              <a:buChar char="•"/>
            </a:pPr>
            <a:r>
              <a:rPr lang="en-US" sz="1600" b="1" dirty="0">
                <a:solidFill>
                  <a:srgbClr val="C0CAF5"/>
                </a:solidFill>
                <a:latin typeface="Calibri" pitchFamily="34" charset="0"/>
                <a:ea typeface="Calibri" pitchFamily="34" charset="-122"/>
                <a:cs typeface="Calibri" pitchFamily="34" charset="-120"/>
              </a:rPr>
              <a:t>Suggest one improvement, not ten</a:t>
            </a:r>
            <a:endParaRPr lang="en-US" sz="1600" dirty="0"/>
          </a:p>
          <a:p>
            <a:pPr lvl="1" indent="0" marL="0">
              <a:spcAft>
                <a:spcPts val="1200"/>
              </a:spcAft>
              <a:buNone/>
            </a:pPr>
            <a:r>
              <a:rPr lang="en-US" sz="1300" dirty="0">
                <a:solidFill>
                  <a:srgbClr val="A9B1D6"/>
                </a:solidFill>
                <a:latin typeface="Calibri" pitchFamily="34" charset="0"/>
                <a:ea typeface="Calibri" pitchFamily="34" charset="-122"/>
                <a:cs typeface="Calibri" pitchFamily="34" charset="-120"/>
              </a:rPr>
              <a:t>A focused, actionable suggestion beats a scattershot list the team can't act on.</a:t>
            </a:r>
            <a:endParaRPr lang="en-US" sz="1600" dirty="0"/>
          </a:p>
        </p:txBody>
      </p:sp>
      <p:sp>
        <p:nvSpPr>
          <p:cNvPr id="6" name="Shape 4"/>
          <p:cNvSpPr/>
          <p:nvPr/>
        </p:nvSpPr>
        <p:spPr>
          <a:xfrm>
            <a:off x="6995160" y="2478024"/>
            <a:ext cx="4645152" cy="3054096"/>
          </a:xfrm>
          <a:prstGeom prst="roundRect">
            <a:avLst>
              <a:gd name="adj" fmla="val 2695"/>
            </a:avLst>
          </a:prstGeom>
          <a:solidFill>
            <a:srgbClr val="24283B"/>
          </a:solidFill>
          <a:ln w="15875">
            <a:solidFill>
              <a:srgbClr val="7AA2F7"/>
            </a:solidFill>
            <a:prstDash val="solid"/>
          </a:ln>
        </p:spPr>
      </p:sp>
      <p:sp>
        <p:nvSpPr>
          <p:cNvPr id="7" name="Shape 5"/>
          <p:cNvSpPr/>
          <p:nvPr/>
        </p:nvSpPr>
        <p:spPr>
          <a:xfrm>
            <a:off x="7269480" y="2752344"/>
            <a:ext cx="457200" cy="457200"/>
          </a:xfrm>
          <a:prstGeom prst="ellipse">
            <a:avLst/>
          </a:prstGeom>
          <a:solidFill>
            <a:srgbClr val="7AA2F7"/>
          </a:solidFill>
          <a:ln/>
        </p:spPr>
      </p:sp>
      <p:sp>
        <p:nvSpPr>
          <p:cNvPr id="8" name="Text 6"/>
          <p:cNvSpPr txBox="1"/>
          <p:nvPr/>
        </p:nvSpPr>
        <p:spPr>
          <a:xfrm>
            <a:off x="7818120" y="2779776"/>
            <a:ext cx="3657600" cy="411480"/>
          </a:xfrm>
          <a:prstGeom prst="rect">
            <a:avLst/>
          </a:prstGeom>
          <a:noFill/>
          <a:ln/>
        </p:spPr>
        <p:txBody>
          <a:bodyPr wrap="square" lIns="0" tIns="0" rIns="0" bIns="0" rtlCol="0" anchor="ctr"/>
          <a:lstStyle/>
          <a:p>
            <a:pPr algn="l" indent="0" marL="0">
              <a:buNone/>
            </a:pPr>
            <a:r>
              <a:rPr lang="en-US" sz="1300" b="1" spc="100" kern="0" dirty="0">
                <a:solidFill>
                  <a:srgbClr val="7AA2F7"/>
                </a:solidFill>
                <a:latin typeface="Courier New" pitchFamily="34" charset="0"/>
                <a:ea typeface="Courier New" pitchFamily="34" charset="-122"/>
                <a:cs typeface="Courier New" pitchFamily="34" charset="-120"/>
              </a:rPr>
              <a:t>AIM</a:t>
            </a:r>
            <a:endParaRPr lang="en-US" sz="1300" dirty="0"/>
          </a:p>
        </p:txBody>
      </p:sp>
      <p:sp>
        <p:nvSpPr>
          <p:cNvPr id="9" name="Text 7"/>
          <p:cNvSpPr txBox="1"/>
          <p:nvPr/>
        </p:nvSpPr>
        <p:spPr>
          <a:xfrm>
            <a:off x="7269480" y="3438144"/>
            <a:ext cx="4160520" cy="1865376"/>
          </a:xfrm>
          <a:prstGeom prst="rect">
            <a:avLst/>
          </a:prstGeom>
          <a:noFill/>
          <a:ln/>
        </p:spPr>
        <p:txBody>
          <a:bodyPr wrap="square" lIns="0" tIns="0" rIns="0" bIns="0" rtlCol="0" anchor="t"/>
          <a:lstStyle/>
          <a:p>
            <a:pPr algn="l" indent="0" marL="0">
              <a:buNone/>
            </a:pPr>
            <a:r>
              <a:rPr lang="en-US" sz="1600" dirty="0">
                <a:solidFill>
                  <a:srgbClr val="C0CAF5"/>
                </a:solidFill>
                <a:latin typeface="Calibri" pitchFamily="34" charset="0"/>
                <a:ea typeface="Calibri" pitchFamily="34" charset="-122"/>
                <a:cs typeface="Calibri" pitchFamily="34" charset="-120"/>
              </a:rPr>
              <a:t>Leave each team with one thing they're genuinely excited to try next — not a scorecard of everything they missed.</a:t>
            </a:r>
            <a:endParaRPr lang="en-US" sz="1600" dirty="0"/>
          </a:p>
        </p:txBody>
      </p:sp>
      <p:sp>
        <p:nvSpPr>
          <p:cNvPr id="10" name="Shape 8"/>
          <p:cNvSpPr/>
          <p:nvPr/>
        </p:nvSpPr>
        <p:spPr>
          <a:xfrm>
            <a:off x="548640" y="6217920"/>
            <a:ext cx="640080" cy="384048"/>
          </a:xfrm>
          <a:prstGeom prst="roundRect">
            <a:avLst>
              <a:gd name="adj" fmla="val 19048"/>
            </a:avLst>
          </a:prstGeom>
          <a:solidFill>
            <a:srgbClr val="7AA2F7"/>
          </a:solidFill>
          <a:ln/>
        </p:spPr>
      </p:sp>
      <p:sp>
        <p:nvSpPr>
          <p:cNvPr id="11" name="Text 9"/>
          <p:cNvSpPr txBox="1"/>
          <p:nvPr/>
        </p:nvSpPr>
        <p:spPr>
          <a:xfrm>
            <a:off x="548640" y="6217920"/>
            <a:ext cx="640080" cy="384048"/>
          </a:xfrm>
          <a:prstGeom prst="rect">
            <a:avLst/>
          </a:prstGeom>
          <a:noFill/>
          <a:ln/>
        </p:spPr>
        <p:txBody>
          <a:bodyPr wrap="square" lIns="0" tIns="0" rIns="0" bIns="0" rtlCol="0" anchor="ctr"/>
          <a:lstStyle/>
          <a:p>
            <a:pPr algn="ctr" indent="0" marL="0">
              <a:buNone/>
            </a:pPr>
            <a:r>
              <a:rPr lang="en-US" sz="1300" b="1" dirty="0">
                <a:solidFill>
                  <a:srgbClr val="1A1B26"/>
                </a:solidFill>
                <a:latin typeface="Courier New" pitchFamily="34" charset="0"/>
                <a:ea typeface="Courier New" pitchFamily="34" charset="-122"/>
                <a:cs typeface="Courier New" pitchFamily="34" charset="-120"/>
              </a:rPr>
              <a:t>S9</a:t>
            </a:r>
            <a:endParaRPr lang="en-US" sz="1300" dirty="0"/>
          </a:p>
        </p:txBody>
      </p:sp>
      <p:sp>
        <p:nvSpPr>
          <p:cNvPr id="12" name="Text 10"/>
          <p:cNvSpPr txBox="1"/>
          <p:nvPr/>
        </p:nvSpPr>
        <p:spPr>
          <a:xfrm>
            <a:off x="1325880" y="6254496"/>
            <a:ext cx="8229600" cy="320040"/>
          </a:xfrm>
          <a:prstGeom prst="rect">
            <a:avLst/>
          </a:prstGeom>
          <a:noFill/>
          <a:ln/>
        </p:spPr>
        <p:txBody>
          <a:bodyPr wrap="square" lIns="0" tIns="0" rIns="0" bIns="0" rtlCol="0" anchor="ctr"/>
          <a:lstStyle/>
          <a:p>
            <a:pPr algn="l" indent="0" marL="0">
              <a:buNone/>
            </a:pPr>
            <a:r>
              <a:rPr lang="en-US" sz="1000" dirty="0">
                <a:solidFill>
                  <a:srgbClr val="565F89"/>
                </a:solidFill>
                <a:latin typeface="Calibri" pitchFamily="34" charset="0"/>
                <a:ea typeface="Calibri" pitchFamily="34" charset="-122"/>
                <a:cs typeface="Calibri" pitchFamily="34" charset="-120"/>
              </a:rPr>
              <a:t>Prompt &amp; Context Engineering  ·  Capstone Presentations &amp; The Future</a:t>
            </a:r>
            <a:endParaRPr lang="en-US" sz="1000" dirty="0"/>
          </a:p>
        </p:txBody>
      </p:sp>
      <p:sp>
        <p:nvSpPr>
          <p:cNvPr id="13" name="Text 11"/>
          <p:cNvSpPr txBox="1"/>
          <p:nvPr/>
        </p:nvSpPr>
        <p:spPr>
          <a:xfrm>
            <a:off x="8897112" y="6254496"/>
            <a:ext cx="2743200" cy="320040"/>
          </a:xfrm>
          <a:prstGeom prst="rect">
            <a:avLst/>
          </a:prstGeom>
          <a:noFill/>
          <a:ln/>
        </p:spPr>
        <p:txBody>
          <a:bodyPr wrap="square" lIns="0" tIns="0" rIns="0" bIns="0" rtlCol="0" anchor="ctr"/>
          <a:lstStyle/>
          <a:p>
            <a:pPr algn="r" indent="0" marL="0">
              <a:buNone/>
            </a:pPr>
            <a:r>
              <a:rPr lang="en-US" sz="1000" dirty="0">
                <a:solidFill>
                  <a:srgbClr val="565F89"/>
                </a:solidFill>
                <a:latin typeface="Calibri" pitchFamily="34" charset="0"/>
                <a:ea typeface="Calibri" pitchFamily="34" charset="-122"/>
                <a:cs typeface="Calibri" pitchFamily="34" charset="-120"/>
              </a:rPr>
              <a:t>1 Oct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B26"/>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t"/>
          <a:lstStyle/>
          <a:p>
            <a:pPr algn="l" indent="0" marL="0">
              <a:buNone/>
            </a:pPr>
            <a:r>
              <a:rPr lang="en-US" sz="1300" b="1" spc="200" kern="0" dirty="0">
                <a:solidFill>
                  <a:srgbClr val="7AA2F7"/>
                </a:solidFill>
                <a:latin typeface="Courier New" pitchFamily="34" charset="0"/>
                <a:ea typeface="Courier New" pitchFamily="34" charset="-122"/>
                <a:cs typeface="Courier New" pitchFamily="34" charset="-120"/>
              </a:rPr>
              <a:t>CONSOLIDATION</a:t>
            </a:r>
            <a:endParaRPr lang="en-US" sz="1300" dirty="0"/>
          </a:p>
        </p:txBody>
      </p:sp>
      <p:sp>
        <p:nvSpPr>
          <p:cNvPr id="3" name="Text 1"/>
          <p:cNvSpPr txBox="1"/>
          <p:nvPr/>
        </p:nvSpPr>
        <p:spPr>
          <a:xfrm>
            <a:off x="548640" y="868680"/>
            <a:ext cx="11091672" cy="1005840"/>
          </a:xfrm>
          <a:prstGeom prst="rect">
            <a:avLst/>
          </a:prstGeom>
          <a:noFill/>
          <a:ln/>
        </p:spPr>
        <p:txBody>
          <a:bodyPr wrap="square" lIns="0" tIns="0" rIns="0" bIns="0" rtlCol="0" anchor="t"/>
          <a:lstStyle/>
          <a:p>
            <a:pPr algn="l" indent="0" marL="0">
              <a:buNone/>
            </a:pPr>
            <a:r>
              <a:rPr lang="en-US" sz="3400" b="1" dirty="0">
                <a:solidFill>
                  <a:srgbClr val="C0CAF5"/>
                </a:solidFill>
                <a:latin typeface="Calibri" pitchFamily="34" charset="0"/>
                <a:ea typeface="Calibri" pitchFamily="34" charset="-122"/>
                <a:cs typeface="Calibri" pitchFamily="34" charset="-120"/>
              </a:rPr>
              <a:t>The cheat sheet</a:t>
            </a:r>
            <a:endParaRPr lang="en-US" sz="3400" dirty="0"/>
          </a:p>
        </p:txBody>
      </p:sp>
      <p:sp>
        <p:nvSpPr>
          <p:cNvPr id="4" name="Text 2"/>
          <p:cNvSpPr txBox="1"/>
          <p:nvPr/>
        </p:nvSpPr>
        <p:spPr>
          <a:xfrm>
            <a:off x="548640" y="1627632"/>
            <a:ext cx="10881360" cy="502920"/>
          </a:xfrm>
          <a:prstGeom prst="rect">
            <a:avLst/>
          </a:prstGeom>
          <a:noFill/>
          <a:ln/>
        </p:spPr>
        <p:txBody>
          <a:bodyPr wrap="square" lIns="0" tIns="0" rIns="0" bIns="0" rtlCol="0" anchor="t"/>
          <a:lstStyle/>
          <a:p>
            <a:pPr algn="l" indent="0" marL="0">
              <a:buNone/>
            </a:pPr>
            <a:r>
              <a:rPr lang="en-US" sz="1500" dirty="0">
                <a:solidFill>
                  <a:srgbClr val="A9B1D6"/>
                </a:solidFill>
                <a:latin typeface="Calibri" pitchFamily="34" charset="0"/>
                <a:ea typeface="Calibri" pitchFamily="34" charset="-122"/>
                <a:cs typeface="Calibri" pitchFamily="34" charset="-120"/>
              </a:rPr>
              <a:t>If you forget every technique but keep these four habits, you'll still be effective — screenshot this one.</a:t>
            </a:r>
            <a:endParaRPr lang="en-US" sz="1500" dirty="0"/>
          </a:p>
        </p:txBody>
      </p:sp>
      <p:sp>
        <p:nvSpPr>
          <p:cNvPr id="5" name="Shape 3"/>
          <p:cNvSpPr/>
          <p:nvPr/>
        </p:nvSpPr>
        <p:spPr>
          <a:xfrm>
            <a:off x="548640" y="2432304"/>
            <a:ext cx="5394960" cy="1810512"/>
          </a:xfrm>
          <a:prstGeom prst="roundRect">
            <a:avLst>
              <a:gd name="adj" fmla="val 4545"/>
            </a:avLst>
          </a:prstGeom>
          <a:solidFill>
            <a:srgbClr val="24283B"/>
          </a:solidFill>
          <a:ln w="12700">
            <a:solidFill>
              <a:srgbClr val="2A2E42"/>
            </a:solidFill>
            <a:prstDash val="solid"/>
          </a:ln>
        </p:spPr>
      </p:sp>
      <p:sp>
        <p:nvSpPr>
          <p:cNvPr id="6" name="Shape 4"/>
          <p:cNvSpPr/>
          <p:nvPr/>
        </p:nvSpPr>
        <p:spPr>
          <a:xfrm>
            <a:off x="822960" y="2724912"/>
            <a:ext cx="548640" cy="548640"/>
          </a:xfrm>
          <a:prstGeom prst="ellipse">
            <a:avLst/>
          </a:prstGeom>
          <a:solidFill>
            <a:srgbClr val="7AA2F7"/>
          </a:solidFill>
          <a:ln/>
        </p:spPr>
      </p:sp>
      <p:sp>
        <p:nvSpPr>
          <p:cNvPr id="7" name="Text 5"/>
          <p:cNvSpPr txBox="1"/>
          <p:nvPr/>
        </p:nvSpPr>
        <p:spPr>
          <a:xfrm>
            <a:off x="822960" y="2724912"/>
            <a:ext cx="548640" cy="548640"/>
          </a:xfrm>
          <a:prstGeom prst="rect">
            <a:avLst/>
          </a:prstGeom>
          <a:noFill/>
          <a:ln/>
        </p:spPr>
        <p:txBody>
          <a:bodyPr wrap="square" lIns="0" tIns="0" rIns="0" bIns="0" rtlCol="0" anchor="ctr"/>
          <a:lstStyle/>
          <a:p>
            <a:pPr algn="ctr" indent="0" marL="0">
              <a:buNone/>
            </a:pPr>
            <a:r>
              <a:rPr lang="en-US" sz="1900" b="1" dirty="0">
                <a:solidFill>
                  <a:srgbClr val="1A1B26"/>
                </a:solidFill>
                <a:latin typeface="Courier New" pitchFamily="34" charset="0"/>
                <a:ea typeface="Courier New" pitchFamily="34" charset="-122"/>
                <a:cs typeface="Courier New" pitchFamily="34" charset="-120"/>
              </a:rPr>
              <a:t>1</a:t>
            </a:r>
            <a:endParaRPr lang="en-US" sz="1900" dirty="0"/>
          </a:p>
        </p:txBody>
      </p:sp>
      <p:sp>
        <p:nvSpPr>
          <p:cNvPr id="8" name="Text 6"/>
          <p:cNvSpPr txBox="1"/>
          <p:nvPr/>
        </p:nvSpPr>
        <p:spPr>
          <a:xfrm>
            <a:off x="1508760" y="2688336"/>
            <a:ext cx="4206240" cy="548640"/>
          </a:xfrm>
          <a:prstGeom prst="rect">
            <a:avLst/>
          </a:prstGeom>
          <a:noFill/>
          <a:ln/>
        </p:spPr>
        <p:txBody>
          <a:bodyPr wrap="square" lIns="0" tIns="0" rIns="0" bIns="0" rtlCol="0" anchor="ctr"/>
          <a:lstStyle/>
          <a:p>
            <a:pPr algn="l" indent="0" marL="0">
              <a:buNone/>
            </a:pPr>
            <a:r>
              <a:rPr lang="en-US" sz="1700" b="1" dirty="0">
                <a:solidFill>
                  <a:srgbClr val="C0CAF5"/>
                </a:solidFill>
                <a:latin typeface="Calibri" pitchFamily="34" charset="0"/>
                <a:ea typeface="Calibri" pitchFamily="34" charset="-122"/>
                <a:cs typeface="Calibri" pitchFamily="34" charset="-120"/>
              </a:rPr>
              <a:t>Be specific</a:t>
            </a:r>
            <a:endParaRPr lang="en-US" sz="1700" dirty="0"/>
          </a:p>
        </p:txBody>
      </p:sp>
      <p:sp>
        <p:nvSpPr>
          <p:cNvPr id="9" name="Text 7"/>
          <p:cNvSpPr txBox="1"/>
          <p:nvPr/>
        </p:nvSpPr>
        <p:spPr>
          <a:xfrm>
            <a:off x="822960" y="3346704"/>
            <a:ext cx="4846320" cy="822960"/>
          </a:xfrm>
          <a:prstGeom prst="rect">
            <a:avLst/>
          </a:prstGeom>
          <a:noFill/>
          <a:ln/>
        </p:spPr>
        <p:txBody>
          <a:bodyPr wrap="square" lIns="0" tIns="0" rIns="0" bIns="0" rtlCol="0" anchor="t"/>
          <a:lstStyle/>
          <a:p>
            <a:pPr algn="l" indent="0" marL="0">
              <a:buNone/>
            </a:pPr>
            <a:r>
              <a:rPr lang="en-US" sz="1300" dirty="0">
                <a:solidFill>
                  <a:srgbClr val="A9B1D6"/>
                </a:solidFill>
                <a:latin typeface="Calibri" pitchFamily="34" charset="0"/>
                <a:ea typeface="Calibri" pitchFamily="34" charset="-122"/>
                <a:cs typeface="Calibri" pitchFamily="34" charset="-120"/>
              </a:rPr>
              <a:t>Role, task, audience, constraints, format. Leave the model no room to guess wrong.</a:t>
            </a:r>
            <a:endParaRPr lang="en-US" sz="1300" dirty="0"/>
          </a:p>
        </p:txBody>
      </p:sp>
      <p:sp>
        <p:nvSpPr>
          <p:cNvPr id="10" name="Shape 8"/>
          <p:cNvSpPr/>
          <p:nvPr/>
        </p:nvSpPr>
        <p:spPr>
          <a:xfrm>
            <a:off x="6245352" y="2432304"/>
            <a:ext cx="5394960" cy="1810512"/>
          </a:xfrm>
          <a:prstGeom prst="roundRect">
            <a:avLst>
              <a:gd name="adj" fmla="val 4545"/>
            </a:avLst>
          </a:prstGeom>
          <a:solidFill>
            <a:srgbClr val="24283B"/>
          </a:solidFill>
          <a:ln w="12700">
            <a:solidFill>
              <a:srgbClr val="2A2E42"/>
            </a:solidFill>
            <a:prstDash val="solid"/>
          </a:ln>
        </p:spPr>
      </p:sp>
      <p:sp>
        <p:nvSpPr>
          <p:cNvPr id="11" name="Shape 9"/>
          <p:cNvSpPr/>
          <p:nvPr/>
        </p:nvSpPr>
        <p:spPr>
          <a:xfrm>
            <a:off x="6519672" y="2724912"/>
            <a:ext cx="548640" cy="548640"/>
          </a:xfrm>
          <a:prstGeom prst="ellipse">
            <a:avLst/>
          </a:prstGeom>
          <a:solidFill>
            <a:srgbClr val="9ECE6A"/>
          </a:solidFill>
          <a:ln/>
        </p:spPr>
      </p:sp>
      <p:sp>
        <p:nvSpPr>
          <p:cNvPr id="12" name="Text 10"/>
          <p:cNvSpPr txBox="1"/>
          <p:nvPr/>
        </p:nvSpPr>
        <p:spPr>
          <a:xfrm>
            <a:off x="6519672" y="2724912"/>
            <a:ext cx="548640" cy="548640"/>
          </a:xfrm>
          <a:prstGeom prst="rect">
            <a:avLst/>
          </a:prstGeom>
          <a:noFill/>
          <a:ln/>
        </p:spPr>
        <p:txBody>
          <a:bodyPr wrap="square" lIns="0" tIns="0" rIns="0" bIns="0" rtlCol="0" anchor="ctr"/>
          <a:lstStyle/>
          <a:p>
            <a:pPr algn="ctr" indent="0" marL="0">
              <a:buNone/>
            </a:pPr>
            <a:r>
              <a:rPr lang="en-US" sz="1900" b="1" dirty="0">
                <a:solidFill>
                  <a:srgbClr val="1A1B26"/>
                </a:solidFill>
                <a:latin typeface="Courier New" pitchFamily="34" charset="0"/>
                <a:ea typeface="Courier New" pitchFamily="34" charset="-122"/>
                <a:cs typeface="Courier New" pitchFamily="34" charset="-120"/>
              </a:rPr>
              <a:t>2</a:t>
            </a:r>
            <a:endParaRPr lang="en-US" sz="1900" dirty="0"/>
          </a:p>
        </p:txBody>
      </p:sp>
      <p:sp>
        <p:nvSpPr>
          <p:cNvPr id="13" name="Text 11"/>
          <p:cNvSpPr txBox="1"/>
          <p:nvPr/>
        </p:nvSpPr>
        <p:spPr>
          <a:xfrm>
            <a:off x="7205472" y="2688336"/>
            <a:ext cx="4206240" cy="548640"/>
          </a:xfrm>
          <a:prstGeom prst="rect">
            <a:avLst/>
          </a:prstGeom>
          <a:noFill/>
          <a:ln/>
        </p:spPr>
        <p:txBody>
          <a:bodyPr wrap="square" lIns="0" tIns="0" rIns="0" bIns="0" rtlCol="0" anchor="ctr"/>
          <a:lstStyle/>
          <a:p>
            <a:pPr algn="l" indent="0" marL="0">
              <a:buNone/>
            </a:pPr>
            <a:r>
              <a:rPr lang="en-US" sz="1700" b="1" dirty="0">
                <a:solidFill>
                  <a:srgbClr val="C0CAF5"/>
                </a:solidFill>
                <a:latin typeface="Calibri" pitchFamily="34" charset="0"/>
                <a:ea typeface="Calibri" pitchFamily="34" charset="-122"/>
                <a:cs typeface="Calibri" pitchFamily="34" charset="-120"/>
              </a:rPr>
              <a:t>Curate context</a:t>
            </a:r>
            <a:endParaRPr lang="en-US" sz="1700" dirty="0"/>
          </a:p>
        </p:txBody>
      </p:sp>
      <p:sp>
        <p:nvSpPr>
          <p:cNvPr id="14" name="Text 12"/>
          <p:cNvSpPr txBox="1"/>
          <p:nvPr/>
        </p:nvSpPr>
        <p:spPr>
          <a:xfrm>
            <a:off x="6519672" y="3346704"/>
            <a:ext cx="4846320" cy="822960"/>
          </a:xfrm>
          <a:prstGeom prst="rect">
            <a:avLst/>
          </a:prstGeom>
          <a:noFill/>
          <a:ln/>
        </p:spPr>
        <p:txBody>
          <a:bodyPr wrap="square" lIns="0" tIns="0" rIns="0" bIns="0" rtlCol="0" anchor="t"/>
          <a:lstStyle/>
          <a:p>
            <a:pPr algn="l" indent="0" marL="0">
              <a:buNone/>
            </a:pPr>
            <a:r>
              <a:rPr lang="en-US" sz="1300" dirty="0">
                <a:solidFill>
                  <a:srgbClr val="A9B1D6"/>
                </a:solidFill>
                <a:latin typeface="Calibri" pitchFamily="34" charset="0"/>
                <a:ea typeface="Calibri" pitchFamily="34" charset="-122"/>
                <a:cs typeface="Calibri" pitchFamily="34" charset="-120"/>
              </a:rPr>
              <a:t>What's in the window beats exact wording. Retrieve, ground, and cut the rest.</a:t>
            </a:r>
            <a:endParaRPr lang="en-US" sz="1300" dirty="0"/>
          </a:p>
        </p:txBody>
      </p:sp>
      <p:sp>
        <p:nvSpPr>
          <p:cNvPr id="15" name="Shape 13"/>
          <p:cNvSpPr/>
          <p:nvPr/>
        </p:nvSpPr>
        <p:spPr>
          <a:xfrm>
            <a:off x="548640" y="4443984"/>
            <a:ext cx="5394960" cy="1810512"/>
          </a:xfrm>
          <a:prstGeom prst="roundRect">
            <a:avLst>
              <a:gd name="adj" fmla="val 4545"/>
            </a:avLst>
          </a:prstGeom>
          <a:solidFill>
            <a:srgbClr val="24283B"/>
          </a:solidFill>
          <a:ln w="12700">
            <a:solidFill>
              <a:srgbClr val="2A2E42"/>
            </a:solidFill>
            <a:prstDash val="solid"/>
          </a:ln>
        </p:spPr>
      </p:sp>
      <p:sp>
        <p:nvSpPr>
          <p:cNvPr id="16" name="Shape 14"/>
          <p:cNvSpPr/>
          <p:nvPr/>
        </p:nvSpPr>
        <p:spPr>
          <a:xfrm>
            <a:off x="822960" y="4736592"/>
            <a:ext cx="548640" cy="548640"/>
          </a:xfrm>
          <a:prstGeom prst="ellipse">
            <a:avLst/>
          </a:prstGeom>
          <a:solidFill>
            <a:srgbClr val="FF9E64"/>
          </a:solidFill>
          <a:ln/>
        </p:spPr>
      </p:sp>
      <p:sp>
        <p:nvSpPr>
          <p:cNvPr id="17" name="Text 15"/>
          <p:cNvSpPr txBox="1"/>
          <p:nvPr/>
        </p:nvSpPr>
        <p:spPr>
          <a:xfrm>
            <a:off x="822960" y="4736592"/>
            <a:ext cx="548640" cy="548640"/>
          </a:xfrm>
          <a:prstGeom prst="rect">
            <a:avLst/>
          </a:prstGeom>
          <a:noFill/>
          <a:ln/>
        </p:spPr>
        <p:txBody>
          <a:bodyPr wrap="square" lIns="0" tIns="0" rIns="0" bIns="0" rtlCol="0" anchor="ctr"/>
          <a:lstStyle/>
          <a:p>
            <a:pPr algn="ctr" indent="0" marL="0">
              <a:buNone/>
            </a:pPr>
            <a:r>
              <a:rPr lang="en-US" sz="1900" b="1" dirty="0">
                <a:solidFill>
                  <a:srgbClr val="1A1B26"/>
                </a:solidFill>
                <a:latin typeface="Courier New" pitchFamily="34" charset="0"/>
                <a:ea typeface="Courier New" pitchFamily="34" charset="-122"/>
                <a:cs typeface="Courier New" pitchFamily="34" charset="-120"/>
              </a:rPr>
              <a:t>3</a:t>
            </a:r>
            <a:endParaRPr lang="en-US" sz="1900" dirty="0"/>
          </a:p>
        </p:txBody>
      </p:sp>
      <p:sp>
        <p:nvSpPr>
          <p:cNvPr id="18" name="Text 16"/>
          <p:cNvSpPr txBox="1"/>
          <p:nvPr/>
        </p:nvSpPr>
        <p:spPr>
          <a:xfrm>
            <a:off x="1508760" y="4700016"/>
            <a:ext cx="4206240" cy="548640"/>
          </a:xfrm>
          <a:prstGeom prst="rect">
            <a:avLst/>
          </a:prstGeom>
          <a:noFill/>
          <a:ln/>
        </p:spPr>
        <p:txBody>
          <a:bodyPr wrap="square" lIns="0" tIns="0" rIns="0" bIns="0" rtlCol="0" anchor="ctr"/>
          <a:lstStyle/>
          <a:p>
            <a:pPr algn="l" indent="0" marL="0">
              <a:buNone/>
            </a:pPr>
            <a:r>
              <a:rPr lang="en-US" sz="1700" b="1" dirty="0">
                <a:solidFill>
                  <a:srgbClr val="C0CAF5"/>
                </a:solidFill>
                <a:latin typeface="Calibri" pitchFamily="34" charset="0"/>
                <a:ea typeface="Calibri" pitchFamily="34" charset="-122"/>
                <a:cs typeface="Calibri" pitchFamily="34" charset="-120"/>
              </a:rPr>
              <a:t>Constrain output</a:t>
            </a:r>
            <a:endParaRPr lang="en-US" sz="1700" dirty="0"/>
          </a:p>
        </p:txBody>
      </p:sp>
      <p:sp>
        <p:nvSpPr>
          <p:cNvPr id="19" name="Text 17"/>
          <p:cNvSpPr txBox="1"/>
          <p:nvPr/>
        </p:nvSpPr>
        <p:spPr>
          <a:xfrm>
            <a:off x="822960" y="5358384"/>
            <a:ext cx="4846320" cy="822960"/>
          </a:xfrm>
          <a:prstGeom prst="rect">
            <a:avLst/>
          </a:prstGeom>
          <a:noFill/>
          <a:ln/>
        </p:spPr>
        <p:txBody>
          <a:bodyPr wrap="square" lIns="0" tIns="0" rIns="0" bIns="0" rtlCol="0" anchor="t"/>
          <a:lstStyle/>
          <a:p>
            <a:pPr algn="l" indent="0" marL="0">
              <a:buNone/>
            </a:pPr>
            <a:r>
              <a:rPr lang="en-US" sz="1300" dirty="0">
                <a:solidFill>
                  <a:srgbClr val="A9B1D6"/>
                </a:solidFill>
                <a:latin typeface="Calibri" pitchFamily="34" charset="0"/>
                <a:ea typeface="Calibri" pitchFamily="34" charset="-122"/>
                <a:cs typeface="Calibri" pitchFamily="34" charset="-120"/>
              </a:rPr>
              <a:t>Demand a schema; validate and repair. Make output your software can trust.</a:t>
            </a:r>
            <a:endParaRPr lang="en-US" sz="1300" dirty="0"/>
          </a:p>
        </p:txBody>
      </p:sp>
      <p:sp>
        <p:nvSpPr>
          <p:cNvPr id="20" name="Shape 18"/>
          <p:cNvSpPr/>
          <p:nvPr/>
        </p:nvSpPr>
        <p:spPr>
          <a:xfrm>
            <a:off x="6245352" y="4443984"/>
            <a:ext cx="5394960" cy="1810512"/>
          </a:xfrm>
          <a:prstGeom prst="roundRect">
            <a:avLst>
              <a:gd name="adj" fmla="val 4545"/>
            </a:avLst>
          </a:prstGeom>
          <a:solidFill>
            <a:srgbClr val="24283B"/>
          </a:solidFill>
          <a:ln w="12700">
            <a:solidFill>
              <a:srgbClr val="2A2E42"/>
            </a:solidFill>
            <a:prstDash val="solid"/>
          </a:ln>
        </p:spPr>
      </p:sp>
      <p:sp>
        <p:nvSpPr>
          <p:cNvPr id="21" name="Shape 19"/>
          <p:cNvSpPr/>
          <p:nvPr/>
        </p:nvSpPr>
        <p:spPr>
          <a:xfrm>
            <a:off x="6519672" y="4736592"/>
            <a:ext cx="548640" cy="548640"/>
          </a:xfrm>
          <a:prstGeom prst="ellipse">
            <a:avLst/>
          </a:prstGeom>
          <a:solidFill>
            <a:srgbClr val="7DCFFF"/>
          </a:solidFill>
          <a:ln/>
        </p:spPr>
      </p:sp>
      <p:sp>
        <p:nvSpPr>
          <p:cNvPr id="22" name="Text 20"/>
          <p:cNvSpPr txBox="1"/>
          <p:nvPr/>
        </p:nvSpPr>
        <p:spPr>
          <a:xfrm>
            <a:off x="6519672" y="4736592"/>
            <a:ext cx="548640" cy="548640"/>
          </a:xfrm>
          <a:prstGeom prst="rect">
            <a:avLst/>
          </a:prstGeom>
          <a:noFill/>
          <a:ln/>
        </p:spPr>
        <p:txBody>
          <a:bodyPr wrap="square" lIns="0" tIns="0" rIns="0" bIns="0" rtlCol="0" anchor="ctr"/>
          <a:lstStyle/>
          <a:p>
            <a:pPr algn="ctr" indent="0" marL="0">
              <a:buNone/>
            </a:pPr>
            <a:r>
              <a:rPr lang="en-US" sz="1900" b="1" dirty="0">
                <a:solidFill>
                  <a:srgbClr val="1A1B26"/>
                </a:solidFill>
                <a:latin typeface="Courier New" pitchFamily="34" charset="0"/>
                <a:ea typeface="Courier New" pitchFamily="34" charset="-122"/>
                <a:cs typeface="Courier New" pitchFamily="34" charset="-120"/>
              </a:rPr>
              <a:t>4</a:t>
            </a:r>
            <a:endParaRPr lang="en-US" sz="1900" dirty="0"/>
          </a:p>
        </p:txBody>
      </p:sp>
      <p:sp>
        <p:nvSpPr>
          <p:cNvPr id="23" name="Text 21"/>
          <p:cNvSpPr txBox="1"/>
          <p:nvPr/>
        </p:nvSpPr>
        <p:spPr>
          <a:xfrm>
            <a:off x="7205472" y="4700016"/>
            <a:ext cx="4206240" cy="548640"/>
          </a:xfrm>
          <a:prstGeom prst="rect">
            <a:avLst/>
          </a:prstGeom>
          <a:noFill/>
          <a:ln/>
        </p:spPr>
        <p:txBody>
          <a:bodyPr wrap="square" lIns="0" tIns="0" rIns="0" bIns="0" rtlCol="0" anchor="ctr"/>
          <a:lstStyle/>
          <a:p>
            <a:pPr algn="l" indent="0" marL="0">
              <a:buNone/>
            </a:pPr>
            <a:r>
              <a:rPr lang="en-US" sz="1700" b="1" dirty="0">
                <a:solidFill>
                  <a:srgbClr val="C0CAF5"/>
                </a:solidFill>
                <a:latin typeface="Calibri" pitchFamily="34" charset="0"/>
                <a:ea typeface="Calibri" pitchFamily="34" charset="-122"/>
                <a:cs typeface="Calibri" pitchFamily="34" charset="-120"/>
              </a:rPr>
              <a:t>Measure everything</a:t>
            </a:r>
            <a:endParaRPr lang="en-US" sz="1700" dirty="0"/>
          </a:p>
        </p:txBody>
      </p:sp>
      <p:sp>
        <p:nvSpPr>
          <p:cNvPr id="24" name="Text 22"/>
          <p:cNvSpPr txBox="1"/>
          <p:nvPr/>
        </p:nvSpPr>
        <p:spPr>
          <a:xfrm>
            <a:off x="6519672" y="5358384"/>
            <a:ext cx="4846320" cy="822960"/>
          </a:xfrm>
          <a:prstGeom prst="rect">
            <a:avLst/>
          </a:prstGeom>
          <a:noFill/>
          <a:ln/>
        </p:spPr>
        <p:txBody>
          <a:bodyPr wrap="square" lIns="0" tIns="0" rIns="0" bIns="0" rtlCol="0" anchor="t"/>
          <a:lstStyle/>
          <a:p>
            <a:pPr algn="l" indent="0" marL="0">
              <a:buNone/>
            </a:pPr>
            <a:r>
              <a:rPr lang="en-US" sz="1300" dirty="0">
                <a:solidFill>
                  <a:srgbClr val="A9B1D6"/>
                </a:solidFill>
                <a:latin typeface="Calibri" pitchFamily="34" charset="0"/>
                <a:ea typeface="Calibri" pitchFamily="34" charset="-122"/>
                <a:cs typeface="Calibri" pitchFamily="34" charset="-120"/>
              </a:rPr>
              <a:t>An eval set, one change at a time, with cost and latency beside quality.</a:t>
            </a:r>
            <a:endParaRPr lang="en-US" sz="1300" dirty="0"/>
          </a:p>
        </p:txBody>
      </p:sp>
      <p:sp>
        <p:nvSpPr>
          <p:cNvPr id="25" name="Shape 23"/>
          <p:cNvSpPr/>
          <p:nvPr/>
        </p:nvSpPr>
        <p:spPr>
          <a:xfrm>
            <a:off x="548640" y="6217920"/>
            <a:ext cx="640080" cy="384048"/>
          </a:xfrm>
          <a:prstGeom prst="roundRect">
            <a:avLst>
              <a:gd name="adj" fmla="val 19048"/>
            </a:avLst>
          </a:prstGeom>
          <a:solidFill>
            <a:srgbClr val="7AA2F7"/>
          </a:solidFill>
          <a:ln/>
        </p:spPr>
      </p:sp>
      <p:sp>
        <p:nvSpPr>
          <p:cNvPr id="26" name="Text 24"/>
          <p:cNvSpPr txBox="1"/>
          <p:nvPr/>
        </p:nvSpPr>
        <p:spPr>
          <a:xfrm>
            <a:off x="548640" y="6217920"/>
            <a:ext cx="640080" cy="384048"/>
          </a:xfrm>
          <a:prstGeom prst="rect">
            <a:avLst/>
          </a:prstGeom>
          <a:noFill/>
          <a:ln/>
        </p:spPr>
        <p:txBody>
          <a:bodyPr wrap="square" lIns="0" tIns="0" rIns="0" bIns="0" rtlCol="0" anchor="ctr"/>
          <a:lstStyle/>
          <a:p>
            <a:pPr algn="ctr" indent="0" marL="0">
              <a:buNone/>
            </a:pPr>
            <a:r>
              <a:rPr lang="en-US" sz="1300" b="1" dirty="0">
                <a:solidFill>
                  <a:srgbClr val="1A1B26"/>
                </a:solidFill>
                <a:latin typeface="Courier New" pitchFamily="34" charset="0"/>
                <a:ea typeface="Courier New" pitchFamily="34" charset="-122"/>
                <a:cs typeface="Courier New" pitchFamily="34" charset="-120"/>
              </a:rPr>
              <a:t>S9</a:t>
            </a:r>
            <a:endParaRPr lang="en-US" sz="1300" dirty="0"/>
          </a:p>
        </p:txBody>
      </p:sp>
      <p:sp>
        <p:nvSpPr>
          <p:cNvPr id="27" name="Text 25"/>
          <p:cNvSpPr txBox="1"/>
          <p:nvPr/>
        </p:nvSpPr>
        <p:spPr>
          <a:xfrm>
            <a:off x="1325880" y="6254496"/>
            <a:ext cx="8229600" cy="320040"/>
          </a:xfrm>
          <a:prstGeom prst="rect">
            <a:avLst/>
          </a:prstGeom>
          <a:noFill/>
          <a:ln/>
        </p:spPr>
        <p:txBody>
          <a:bodyPr wrap="square" lIns="0" tIns="0" rIns="0" bIns="0" rtlCol="0" anchor="ctr"/>
          <a:lstStyle/>
          <a:p>
            <a:pPr algn="l" indent="0" marL="0">
              <a:buNone/>
            </a:pPr>
            <a:r>
              <a:rPr lang="en-US" sz="1000" dirty="0">
                <a:solidFill>
                  <a:srgbClr val="565F89"/>
                </a:solidFill>
                <a:latin typeface="Calibri" pitchFamily="34" charset="0"/>
                <a:ea typeface="Calibri" pitchFamily="34" charset="-122"/>
                <a:cs typeface="Calibri" pitchFamily="34" charset="-120"/>
              </a:rPr>
              <a:t>Prompt &amp; Context Engineering  ·  Capstone Presentations &amp; The Future</a:t>
            </a:r>
            <a:endParaRPr lang="en-US" sz="1000" dirty="0"/>
          </a:p>
        </p:txBody>
      </p:sp>
      <p:sp>
        <p:nvSpPr>
          <p:cNvPr id="28" name="Text 26"/>
          <p:cNvSpPr txBox="1"/>
          <p:nvPr/>
        </p:nvSpPr>
        <p:spPr>
          <a:xfrm>
            <a:off x="8897112" y="6254496"/>
            <a:ext cx="2743200" cy="320040"/>
          </a:xfrm>
          <a:prstGeom prst="rect">
            <a:avLst/>
          </a:prstGeom>
          <a:noFill/>
          <a:ln/>
        </p:spPr>
        <p:txBody>
          <a:bodyPr wrap="square" lIns="0" tIns="0" rIns="0" bIns="0" rtlCol="0" anchor="ctr"/>
          <a:lstStyle/>
          <a:p>
            <a:pPr algn="r" indent="0" marL="0">
              <a:buNone/>
            </a:pPr>
            <a:r>
              <a:rPr lang="en-US" sz="1000" dirty="0">
                <a:solidFill>
                  <a:srgbClr val="565F89"/>
                </a:solidFill>
                <a:latin typeface="Calibri" pitchFamily="34" charset="0"/>
                <a:ea typeface="Calibri" pitchFamily="34" charset="-122"/>
                <a:cs typeface="Calibri" pitchFamily="34" charset="-120"/>
              </a:rPr>
              <a:t>1 Oct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B26"/>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t"/>
          <a:lstStyle/>
          <a:p>
            <a:pPr algn="l" indent="0" marL="0">
              <a:buNone/>
            </a:pPr>
            <a:r>
              <a:rPr lang="en-US" sz="1300" b="1" spc="200" kern="0" dirty="0">
                <a:solidFill>
                  <a:srgbClr val="7AA2F7"/>
                </a:solidFill>
                <a:latin typeface="Courier New" pitchFamily="34" charset="0"/>
                <a:ea typeface="Courier New" pitchFamily="34" charset="-122"/>
                <a:cs typeface="Courier New" pitchFamily="34" charset="-120"/>
              </a:rPr>
              <a:t>OUTLOOK</a:t>
            </a:r>
            <a:endParaRPr lang="en-US" sz="1300" dirty="0"/>
          </a:p>
        </p:txBody>
      </p:sp>
      <p:sp>
        <p:nvSpPr>
          <p:cNvPr id="3" name="Text 1"/>
          <p:cNvSpPr txBox="1"/>
          <p:nvPr/>
        </p:nvSpPr>
        <p:spPr>
          <a:xfrm>
            <a:off x="548640" y="868680"/>
            <a:ext cx="11091672" cy="1005840"/>
          </a:xfrm>
          <a:prstGeom prst="rect">
            <a:avLst/>
          </a:prstGeom>
          <a:noFill/>
          <a:ln/>
        </p:spPr>
        <p:txBody>
          <a:bodyPr wrap="square" lIns="0" tIns="0" rIns="0" bIns="0" rtlCol="0" anchor="t"/>
          <a:lstStyle/>
          <a:p>
            <a:pPr algn="l" indent="0" marL="0">
              <a:buNone/>
            </a:pPr>
            <a:r>
              <a:rPr lang="en-US" sz="3400" b="1" dirty="0">
                <a:solidFill>
                  <a:srgbClr val="C0CAF5"/>
                </a:solidFill>
                <a:latin typeface="Calibri" pitchFamily="34" charset="0"/>
                <a:ea typeface="Calibri" pitchFamily="34" charset="-122"/>
                <a:cs typeface="Calibri" pitchFamily="34" charset="-120"/>
              </a:rPr>
              <a:t>Where the field is going</a:t>
            </a:r>
            <a:endParaRPr lang="en-US" sz="3400" dirty="0"/>
          </a:p>
        </p:txBody>
      </p:sp>
      <p:sp>
        <p:nvSpPr>
          <p:cNvPr id="4" name="Text 2"/>
          <p:cNvSpPr txBox="1"/>
          <p:nvPr/>
        </p:nvSpPr>
        <p:spPr>
          <a:xfrm>
            <a:off x="548640" y="1627632"/>
            <a:ext cx="10881360" cy="502920"/>
          </a:xfrm>
          <a:prstGeom prst="rect">
            <a:avLst/>
          </a:prstGeom>
          <a:noFill/>
          <a:ln/>
        </p:spPr>
        <p:txBody>
          <a:bodyPr wrap="square" lIns="0" tIns="0" rIns="0" bIns="0" rtlCol="0" anchor="t"/>
          <a:lstStyle/>
          <a:p>
            <a:pPr algn="l" indent="0" marL="0">
              <a:buNone/>
            </a:pPr>
            <a:r>
              <a:rPr lang="en-US" sz="1500" dirty="0">
                <a:solidFill>
                  <a:srgbClr val="A9B1D6"/>
                </a:solidFill>
                <a:latin typeface="Calibri" pitchFamily="34" charset="0"/>
                <a:ea typeface="Calibri" pitchFamily="34" charset="-122"/>
                <a:cs typeface="Calibri" pitchFamily="34" charset="-120"/>
              </a:rPr>
              <a:t>Finally, a look at where this is all heading, so what you learned keeps paying off after today.</a:t>
            </a:r>
            <a:endParaRPr lang="en-US" sz="1500" dirty="0"/>
          </a:p>
        </p:txBody>
      </p:sp>
      <p:sp>
        <p:nvSpPr>
          <p:cNvPr id="5" name="Text 3"/>
          <p:cNvSpPr txBox="1"/>
          <p:nvPr/>
        </p:nvSpPr>
        <p:spPr>
          <a:xfrm>
            <a:off x="548640" y="2340864"/>
            <a:ext cx="6126480" cy="3511296"/>
          </a:xfrm>
          <a:prstGeom prst="rect">
            <a:avLst/>
          </a:prstGeom>
          <a:noFill/>
          <a:ln/>
        </p:spPr>
        <p:txBody>
          <a:bodyPr wrap="square" lIns="0" tIns="0" rIns="0" bIns="0" rtlCol="0" anchor="t"/>
          <a:lstStyle/>
          <a:p>
            <a:pPr marL="342900" indent="-342900">
              <a:spcAft>
                <a:spcPts val="300"/>
              </a:spcAft>
              <a:buSzPct val="100000"/>
              <a:buChar char="•"/>
            </a:pPr>
            <a:r>
              <a:rPr lang="en-US" sz="1600" b="1" dirty="0">
                <a:solidFill>
                  <a:srgbClr val="C0CAF5"/>
                </a:solidFill>
                <a:latin typeface="Calibri" pitchFamily="34" charset="0"/>
                <a:ea typeface="Calibri" pitchFamily="34" charset="-122"/>
                <a:cs typeface="Calibri" pitchFamily="34" charset="-120"/>
              </a:rPr>
              <a:t>Automatic prompt optimization</a:t>
            </a:r>
            <a:endParaRPr lang="en-US" sz="1600" dirty="0"/>
          </a:p>
          <a:p>
            <a:pPr lvl="1" indent="0" marL="0">
              <a:spcAft>
                <a:spcPts val="1200"/>
              </a:spcAft>
              <a:buNone/>
            </a:pPr>
            <a:r>
              <a:rPr lang="en-US" sz="1300" dirty="0">
                <a:solidFill>
                  <a:srgbClr val="A9B1D6"/>
                </a:solidFill>
                <a:latin typeface="Calibri" pitchFamily="34" charset="0"/>
                <a:ea typeface="Calibri" pitchFamily="34" charset="-122"/>
                <a:cs typeface="Calibri" pitchFamily="34" charset="-120"/>
              </a:rPr>
              <a:t>Tools like DSPy tune prompts from data instead of by hand — you specify the goal and a metric, the framework searches.</a:t>
            </a:r>
            <a:endParaRPr lang="en-US" sz="1600" dirty="0"/>
          </a:p>
          <a:p>
            <a:pPr marL="342900" indent="-342900">
              <a:spcAft>
                <a:spcPts val="300"/>
              </a:spcAft>
              <a:buSzPct val="100000"/>
              <a:buChar char="•"/>
            </a:pPr>
            <a:r>
              <a:rPr lang="en-US" sz="1600" b="1" dirty="0">
                <a:solidFill>
                  <a:srgbClr val="C0CAF5"/>
                </a:solidFill>
                <a:latin typeface="Calibri" pitchFamily="34" charset="0"/>
                <a:ea typeface="Calibri" pitchFamily="34" charset="-122"/>
                <a:cs typeface="Calibri" pitchFamily="34" charset="-120"/>
              </a:rPr>
              <a:t>Context engineering over wording tricks</a:t>
            </a:r>
            <a:endParaRPr lang="en-US" sz="1600" dirty="0"/>
          </a:p>
          <a:p>
            <a:pPr lvl="1" indent="0" marL="0">
              <a:spcAft>
                <a:spcPts val="1200"/>
              </a:spcAft>
              <a:buNone/>
            </a:pPr>
            <a:r>
              <a:rPr lang="en-US" sz="1300" dirty="0">
                <a:solidFill>
                  <a:srgbClr val="A9B1D6"/>
                </a:solidFill>
                <a:latin typeface="Calibri" pitchFamily="34" charset="0"/>
                <a:ea typeface="Calibri" pitchFamily="34" charset="-122"/>
                <a:cs typeface="Calibri" pitchFamily="34" charset="-120"/>
              </a:rPr>
              <a:t>The centre of gravity keeps moving from clever phrasing to what you put in the window and how you assemble it.</a:t>
            </a:r>
            <a:endParaRPr lang="en-US" sz="1600" dirty="0"/>
          </a:p>
          <a:p>
            <a:pPr marL="342900" indent="-342900">
              <a:spcAft>
                <a:spcPts val="300"/>
              </a:spcAft>
              <a:buSzPct val="100000"/>
              <a:buChar char="•"/>
            </a:pPr>
            <a:r>
              <a:rPr lang="en-US" sz="1600" b="1" dirty="0">
                <a:solidFill>
                  <a:srgbClr val="C0CAF5"/>
                </a:solidFill>
                <a:latin typeface="Calibri" pitchFamily="34" charset="0"/>
                <a:ea typeface="Calibri" pitchFamily="34" charset="-122"/>
                <a:cs typeface="Calibri" pitchFamily="34" charset="-120"/>
              </a:rPr>
              <a:t>More autonomous agents, tighter guardrails</a:t>
            </a:r>
            <a:endParaRPr lang="en-US" sz="1600" dirty="0"/>
          </a:p>
          <a:p>
            <a:pPr lvl="1" indent="0" marL="0">
              <a:spcAft>
                <a:spcPts val="1200"/>
              </a:spcAft>
              <a:buNone/>
            </a:pPr>
            <a:r>
              <a:rPr lang="en-US" sz="1300" dirty="0">
                <a:solidFill>
                  <a:srgbClr val="A9B1D6"/>
                </a:solidFill>
                <a:latin typeface="Calibri" pitchFamily="34" charset="0"/>
                <a:ea typeface="Calibri" pitchFamily="34" charset="-122"/>
                <a:cs typeface="Calibri" pitchFamily="34" charset="-120"/>
              </a:rPr>
              <a:t>Capabilities and risks grow together; evaluation and safety become the durable, hard, valuable work.</a:t>
            </a:r>
            <a:endParaRPr lang="en-US" sz="1600" dirty="0"/>
          </a:p>
        </p:txBody>
      </p:sp>
      <p:sp>
        <p:nvSpPr>
          <p:cNvPr id="6" name="Shape 4"/>
          <p:cNvSpPr/>
          <p:nvPr/>
        </p:nvSpPr>
        <p:spPr>
          <a:xfrm>
            <a:off x="6995160" y="2478024"/>
            <a:ext cx="4645152" cy="3054096"/>
          </a:xfrm>
          <a:prstGeom prst="roundRect">
            <a:avLst>
              <a:gd name="adj" fmla="val 2695"/>
            </a:avLst>
          </a:prstGeom>
          <a:solidFill>
            <a:srgbClr val="24283B"/>
          </a:solidFill>
          <a:ln w="15875">
            <a:solidFill>
              <a:srgbClr val="7AA2F7"/>
            </a:solidFill>
            <a:prstDash val="solid"/>
          </a:ln>
        </p:spPr>
      </p:sp>
      <p:sp>
        <p:nvSpPr>
          <p:cNvPr id="7" name="Shape 5"/>
          <p:cNvSpPr/>
          <p:nvPr/>
        </p:nvSpPr>
        <p:spPr>
          <a:xfrm>
            <a:off x="7269480" y="2752344"/>
            <a:ext cx="457200" cy="457200"/>
          </a:xfrm>
          <a:prstGeom prst="ellipse">
            <a:avLst/>
          </a:prstGeom>
          <a:solidFill>
            <a:srgbClr val="7AA2F7"/>
          </a:solidFill>
          <a:ln/>
        </p:spPr>
      </p:sp>
      <p:sp>
        <p:nvSpPr>
          <p:cNvPr id="8" name="Text 6"/>
          <p:cNvSpPr txBox="1"/>
          <p:nvPr/>
        </p:nvSpPr>
        <p:spPr>
          <a:xfrm>
            <a:off x="7818120" y="2779776"/>
            <a:ext cx="3657600" cy="411480"/>
          </a:xfrm>
          <a:prstGeom prst="rect">
            <a:avLst/>
          </a:prstGeom>
          <a:noFill/>
          <a:ln/>
        </p:spPr>
        <p:txBody>
          <a:bodyPr wrap="square" lIns="0" tIns="0" rIns="0" bIns="0" rtlCol="0" anchor="ctr"/>
          <a:lstStyle/>
          <a:p>
            <a:pPr algn="l" indent="0" marL="0">
              <a:buNone/>
            </a:pPr>
            <a:r>
              <a:rPr lang="en-US" sz="1300" b="1" spc="100" kern="0" dirty="0">
                <a:solidFill>
                  <a:srgbClr val="7AA2F7"/>
                </a:solidFill>
                <a:latin typeface="Courier New" pitchFamily="34" charset="0"/>
                <a:ea typeface="Courier New" pitchFamily="34" charset="-122"/>
                <a:cs typeface="Courier New" pitchFamily="34" charset="-120"/>
              </a:rPr>
              <a:t>PARTING THOUGHT</a:t>
            </a:r>
            <a:endParaRPr lang="en-US" sz="1300" dirty="0"/>
          </a:p>
        </p:txBody>
      </p:sp>
      <p:sp>
        <p:nvSpPr>
          <p:cNvPr id="9" name="Text 7"/>
          <p:cNvSpPr txBox="1"/>
          <p:nvPr/>
        </p:nvSpPr>
        <p:spPr>
          <a:xfrm>
            <a:off x="7269480" y="3438144"/>
            <a:ext cx="4160520" cy="1865376"/>
          </a:xfrm>
          <a:prstGeom prst="rect">
            <a:avLst/>
          </a:prstGeom>
          <a:noFill/>
          <a:ln/>
        </p:spPr>
        <p:txBody>
          <a:bodyPr wrap="square" lIns="0" tIns="0" rIns="0" bIns="0" rtlCol="0" anchor="t"/>
          <a:lstStyle/>
          <a:p>
            <a:pPr algn="l" indent="0" marL="0">
              <a:buNone/>
            </a:pPr>
            <a:r>
              <a:rPr lang="en-US" sz="1600" dirty="0">
                <a:solidFill>
                  <a:srgbClr val="C0CAF5"/>
                </a:solidFill>
                <a:latin typeface="Calibri" pitchFamily="34" charset="0"/>
                <a:ea typeface="Calibri" pitchFamily="34" charset="-122"/>
                <a:cs typeface="Calibri" pitchFamily="34" charset="-120"/>
              </a:rPr>
              <a:t>Models will keep changing. A clear spec, curated context, and an eval set will keep working long after today's tricks expire.</a:t>
            </a:r>
            <a:endParaRPr lang="en-US" sz="1600" dirty="0"/>
          </a:p>
        </p:txBody>
      </p:sp>
      <p:sp>
        <p:nvSpPr>
          <p:cNvPr id="10" name="Shape 8"/>
          <p:cNvSpPr/>
          <p:nvPr/>
        </p:nvSpPr>
        <p:spPr>
          <a:xfrm>
            <a:off x="548640" y="6217920"/>
            <a:ext cx="640080" cy="384048"/>
          </a:xfrm>
          <a:prstGeom prst="roundRect">
            <a:avLst>
              <a:gd name="adj" fmla="val 19048"/>
            </a:avLst>
          </a:prstGeom>
          <a:solidFill>
            <a:srgbClr val="7AA2F7"/>
          </a:solidFill>
          <a:ln/>
        </p:spPr>
      </p:sp>
      <p:sp>
        <p:nvSpPr>
          <p:cNvPr id="11" name="Text 9"/>
          <p:cNvSpPr txBox="1"/>
          <p:nvPr/>
        </p:nvSpPr>
        <p:spPr>
          <a:xfrm>
            <a:off x="548640" y="6217920"/>
            <a:ext cx="640080" cy="384048"/>
          </a:xfrm>
          <a:prstGeom prst="rect">
            <a:avLst/>
          </a:prstGeom>
          <a:noFill/>
          <a:ln/>
        </p:spPr>
        <p:txBody>
          <a:bodyPr wrap="square" lIns="0" tIns="0" rIns="0" bIns="0" rtlCol="0" anchor="ctr"/>
          <a:lstStyle/>
          <a:p>
            <a:pPr algn="ctr" indent="0" marL="0">
              <a:buNone/>
            </a:pPr>
            <a:r>
              <a:rPr lang="en-US" sz="1300" b="1" dirty="0">
                <a:solidFill>
                  <a:srgbClr val="1A1B26"/>
                </a:solidFill>
                <a:latin typeface="Courier New" pitchFamily="34" charset="0"/>
                <a:ea typeface="Courier New" pitchFamily="34" charset="-122"/>
                <a:cs typeface="Courier New" pitchFamily="34" charset="-120"/>
              </a:rPr>
              <a:t>S9</a:t>
            </a:r>
            <a:endParaRPr lang="en-US" sz="1300" dirty="0"/>
          </a:p>
        </p:txBody>
      </p:sp>
      <p:sp>
        <p:nvSpPr>
          <p:cNvPr id="12" name="Text 10"/>
          <p:cNvSpPr txBox="1"/>
          <p:nvPr/>
        </p:nvSpPr>
        <p:spPr>
          <a:xfrm>
            <a:off x="1325880" y="6254496"/>
            <a:ext cx="8229600" cy="320040"/>
          </a:xfrm>
          <a:prstGeom prst="rect">
            <a:avLst/>
          </a:prstGeom>
          <a:noFill/>
          <a:ln/>
        </p:spPr>
        <p:txBody>
          <a:bodyPr wrap="square" lIns="0" tIns="0" rIns="0" bIns="0" rtlCol="0" anchor="ctr"/>
          <a:lstStyle/>
          <a:p>
            <a:pPr algn="l" indent="0" marL="0">
              <a:buNone/>
            </a:pPr>
            <a:r>
              <a:rPr lang="en-US" sz="1000" dirty="0">
                <a:solidFill>
                  <a:srgbClr val="565F89"/>
                </a:solidFill>
                <a:latin typeface="Calibri" pitchFamily="34" charset="0"/>
                <a:ea typeface="Calibri" pitchFamily="34" charset="-122"/>
                <a:cs typeface="Calibri" pitchFamily="34" charset="-120"/>
              </a:rPr>
              <a:t>Prompt &amp; Context Engineering  ·  Capstone Presentations &amp; The Future</a:t>
            </a:r>
            <a:endParaRPr lang="en-US" sz="1000" dirty="0"/>
          </a:p>
        </p:txBody>
      </p:sp>
      <p:sp>
        <p:nvSpPr>
          <p:cNvPr id="13" name="Text 11"/>
          <p:cNvSpPr txBox="1"/>
          <p:nvPr/>
        </p:nvSpPr>
        <p:spPr>
          <a:xfrm>
            <a:off x="8897112" y="6254496"/>
            <a:ext cx="2743200" cy="320040"/>
          </a:xfrm>
          <a:prstGeom prst="rect">
            <a:avLst/>
          </a:prstGeom>
          <a:noFill/>
          <a:ln/>
        </p:spPr>
        <p:txBody>
          <a:bodyPr wrap="square" lIns="0" tIns="0" rIns="0" bIns="0" rtlCol="0" anchor="ctr"/>
          <a:lstStyle/>
          <a:p>
            <a:pPr algn="r" indent="0" marL="0">
              <a:buNone/>
            </a:pPr>
            <a:r>
              <a:rPr lang="en-US" sz="1000" dirty="0">
                <a:solidFill>
                  <a:srgbClr val="565F89"/>
                </a:solidFill>
                <a:latin typeface="Calibri" pitchFamily="34" charset="0"/>
                <a:ea typeface="Calibri" pitchFamily="34" charset="-122"/>
                <a:cs typeface="Calibri" pitchFamily="34" charset="-120"/>
              </a:rPr>
              <a:t>1 Oct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B26"/>
        </a:solidFill>
      </p:bgPr>
    </p:bg>
    <p:spTree>
      <p:nvGrpSpPr>
        <p:cNvPr id="1" name=""/>
        <p:cNvGrpSpPr/>
        <p:nvPr/>
      </p:nvGrpSpPr>
      <p:grpSpPr>
        <a:xfrm>
          <a:off x="0" y="0"/>
          <a:ext cx="0" cy="0"/>
          <a:chOff x="0" y="0"/>
          <a:chExt cx="0" cy="0"/>
        </a:xfrm>
      </p:grpSpPr>
      <p:sp>
        <p:nvSpPr>
          <p:cNvPr id="2" name="Text 0"/>
          <p:cNvSpPr txBox="1"/>
          <p:nvPr/>
        </p:nvSpPr>
        <p:spPr>
          <a:xfrm>
            <a:off x="457200" y="2103120"/>
            <a:ext cx="4572000" cy="2743200"/>
          </a:xfrm>
          <a:prstGeom prst="rect">
            <a:avLst/>
          </a:prstGeom>
          <a:noFill/>
          <a:ln/>
        </p:spPr>
        <p:txBody>
          <a:bodyPr wrap="square" lIns="0" tIns="0" rIns="0" bIns="0" rtlCol="0" anchor="ctr"/>
          <a:lstStyle/>
          <a:p>
            <a:pPr algn="l" indent="0" marL="0">
              <a:buNone/>
            </a:pPr>
            <a:r>
              <a:rPr lang="en-US" sz="32000" b="1" dirty="0">
                <a:solidFill>
                  <a:srgbClr val="232739"/>
                </a:solidFill>
                <a:latin typeface="Calibri" pitchFamily="34" charset="0"/>
                <a:ea typeface="Calibri" pitchFamily="34" charset="-122"/>
                <a:cs typeface="Calibri" pitchFamily="34" charset="-120"/>
              </a:rPr>
              <a:t>✓</a:t>
            </a:r>
            <a:endParaRPr lang="en-US" sz="32000" dirty="0"/>
          </a:p>
        </p:txBody>
      </p:sp>
      <p:sp>
        <p:nvSpPr>
          <p:cNvPr id="3" name="Shape 1"/>
          <p:cNvSpPr/>
          <p:nvPr/>
        </p:nvSpPr>
        <p:spPr>
          <a:xfrm>
            <a:off x="548640" y="1280160"/>
            <a:ext cx="2377440" cy="384048"/>
          </a:xfrm>
          <a:prstGeom prst="roundRect">
            <a:avLst>
              <a:gd name="adj" fmla="val 19048"/>
            </a:avLst>
          </a:prstGeom>
          <a:solidFill>
            <a:srgbClr val="7AA2F7"/>
          </a:solidFill>
          <a:ln/>
        </p:spPr>
      </p:sp>
      <p:sp>
        <p:nvSpPr>
          <p:cNvPr id="4" name="Text 2"/>
          <p:cNvSpPr txBox="1"/>
          <p:nvPr/>
        </p:nvSpPr>
        <p:spPr>
          <a:xfrm>
            <a:off x="548640" y="1280160"/>
            <a:ext cx="2377440" cy="384048"/>
          </a:xfrm>
          <a:prstGeom prst="rect">
            <a:avLst/>
          </a:prstGeom>
          <a:noFill/>
          <a:ln/>
        </p:spPr>
        <p:txBody>
          <a:bodyPr wrap="square" lIns="0" tIns="0" rIns="0" bIns="0" rtlCol="0" anchor="ctr"/>
          <a:lstStyle/>
          <a:p>
            <a:pPr algn="ctr" indent="0" marL="0">
              <a:buNone/>
            </a:pPr>
            <a:r>
              <a:rPr lang="en-US" sz="1300" b="1" dirty="0">
                <a:solidFill>
                  <a:srgbClr val="1A1B26"/>
                </a:solidFill>
                <a:latin typeface="Courier New" pitchFamily="34" charset="0"/>
                <a:ea typeface="Courier New" pitchFamily="34" charset="-122"/>
                <a:cs typeface="Courier New" pitchFamily="34" charset="-120"/>
              </a:rPr>
              <a:t>THAT'S A WRAP</a:t>
            </a:r>
            <a:endParaRPr lang="en-US" sz="1300" dirty="0"/>
          </a:p>
        </p:txBody>
      </p:sp>
      <p:sp>
        <p:nvSpPr>
          <p:cNvPr id="5" name="Text 3"/>
          <p:cNvSpPr txBox="1"/>
          <p:nvPr/>
        </p:nvSpPr>
        <p:spPr>
          <a:xfrm>
            <a:off x="548640" y="1920240"/>
            <a:ext cx="10058400" cy="1097280"/>
          </a:xfrm>
          <a:prstGeom prst="rect">
            <a:avLst/>
          </a:prstGeom>
          <a:noFill/>
          <a:ln/>
        </p:spPr>
        <p:txBody>
          <a:bodyPr wrap="square" lIns="0" tIns="0" rIns="0" bIns="0" rtlCol="0" anchor="t"/>
          <a:lstStyle/>
          <a:p>
            <a:pPr algn="l" indent="0" marL="0">
              <a:buNone/>
            </a:pPr>
            <a:r>
              <a:rPr lang="en-US" sz="4000" b="1" dirty="0">
                <a:solidFill>
                  <a:srgbClr val="C0CAF5"/>
                </a:solidFill>
                <a:latin typeface="Calibri" pitchFamily="34" charset="0"/>
                <a:ea typeface="Calibri" pitchFamily="34" charset="-122"/>
                <a:cs typeface="Calibri" pitchFamily="34" charset="-120"/>
              </a:rPr>
              <a:t>Thank you — go build.</a:t>
            </a:r>
            <a:endParaRPr lang="en-US" sz="4000" dirty="0"/>
          </a:p>
        </p:txBody>
      </p:sp>
      <p:sp>
        <p:nvSpPr>
          <p:cNvPr id="6" name="Text 4"/>
          <p:cNvSpPr txBox="1"/>
          <p:nvPr/>
        </p:nvSpPr>
        <p:spPr>
          <a:xfrm>
            <a:off x="548640" y="3200400"/>
            <a:ext cx="7772400" cy="274320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A9B1D6"/>
                </a:solidFill>
                <a:latin typeface="Calibri" pitchFamily="34" charset="0"/>
                <a:ea typeface="Calibri" pitchFamily="34" charset="-122"/>
                <a:cs typeface="Calibri" pitchFamily="34" charset="-120"/>
              </a:rPr>
              <a:t>Course repo &amp; syllabus: your prompt-engineering-course fork</a:t>
            </a:r>
            <a:endParaRPr lang="en-US" sz="1700" dirty="0"/>
          </a:p>
          <a:p>
            <a:pPr marL="342900" indent="-342900">
              <a:spcAft>
                <a:spcPts val="1200"/>
              </a:spcAft>
              <a:buSzPct val="100000"/>
              <a:buChar char="•"/>
            </a:pPr>
            <a:r>
              <a:rPr lang="en-US" sz="1700" dirty="0">
                <a:solidFill>
                  <a:srgbClr val="A9B1D6"/>
                </a:solidFill>
                <a:latin typeface="Calibri" pitchFamily="34" charset="0"/>
                <a:ea typeface="Calibri" pitchFamily="34" charset="-122"/>
                <a:cs typeface="Calibri" pitchFamily="34" charset="-120"/>
              </a:rPr>
              <a:t>Vendor guides: OpenAI &amp; Anthropic prompt-engineering docs</a:t>
            </a:r>
            <a:endParaRPr lang="en-US" sz="1700" dirty="0"/>
          </a:p>
          <a:p>
            <a:pPr marL="342900" indent="-342900">
              <a:spcAft>
                <a:spcPts val="1200"/>
              </a:spcAft>
              <a:buSzPct val="100000"/>
              <a:buChar char="•"/>
            </a:pPr>
            <a:r>
              <a:rPr lang="en-US" sz="1700" dirty="0">
                <a:solidFill>
                  <a:srgbClr val="A9B1D6"/>
                </a:solidFill>
                <a:latin typeface="Calibri" pitchFamily="34" charset="0"/>
                <a:ea typeface="Calibri" pitchFamily="34" charset="-122"/>
                <a:cs typeface="Calibri" pitchFamily="34" charset="-120"/>
              </a:rPr>
              <a:t>Deeper systems: the LangChain/LangGraph companion course</a:t>
            </a:r>
            <a:endParaRPr lang="en-US" sz="1700" dirty="0"/>
          </a:p>
          <a:p>
            <a:pPr marL="342900" indent="-342900">
              <a:spcAft>
                <a:spcPts val="1200"/>
              </a:spcAft>
              <a:buSzPct val="100000"/>
              <a:buChar char="•"/>
            </a:pPr>
            <a:r>
              <a:rPr lang="en-US" sz="1700" dirty="0">
                <a:solidFill>
                  <a:srgbClr val="A9B1D6"/>
                </a:solidFill>
                <a:latin typeface="Calibri" pitchFamily="34" charset="0"/>
                <a:ea typeface="Calibri" pitchFamily="34" charset="-122"/>
                <a:cs typeface="Calibri" pitchFamily="34" charset="-120"/>
              </a:rPr>
              <a:t>Next step: wire your eval set into CI so tests run on every push</a:t>
            </a:r>
            <a:endParaRPr lang="en-US" sz="1700" dirty="0"/>
          </a:p>
        </p:txBody>
      </p:sp>
      <p:sp>
        <p:nvSpPr>
          <p:cNvPr id="7" name="Shape 5"/>
          <p:cNvSpPr/>
          <p:nvPr/>
        </p:nvSpPr>
        <p:spPr>
          <a:xfrm>
            <a:off x="548640" y="6217920"/>
            <a:ext cx="640080" cy="384048"/>
          </a:xfrm>
          <a:prstGeom prst="roundRect">
            <a:avLst>
              <a:gd name="adj" fmla="val 19048"/>
            </a:avLst>
          </a:prstGeom>
          <a:solidFill>
            <a:srgbClr val="7AA2F7"/>
          </a:solidFill>
          <a:ln/>
        </p:spPr>
      </p:sp>
      <p:sp>
        <p:nvSpPr>
          <p:cNvPr id="8" name="Text 6"/>
          <p:cNvSpPr txBox="1"/>
          <p:nvPr/>
        </p:nvSpPr>
        <p:spPr>
          <a:xfrm>
            <a:off x="548640" y="6217920"/>
            <a:ext cx="640080" cy="384048"/>
          </a:xfrm>
          <a:prstGeom prst="rect">
            <a:avLst/>
          </a:prstGeom>
          <a:noFill/>
          <a:ln/>
        </p:spPr>
        <p:txBody>
          <a:bodyPr wrap="square" lIns="0" tIns="0" rIns="0" bIns="0" rtlCol="0" anchor="ctr"/>
          <a:lstStyle/>
          <a:p>
            <a:pPr algn="ctr" indent="0" marL="0">
              <a:buNone/>
            </a:pPr>
            <a:r>
              <a:rPr lang="en-US" sz="1300" b="1" dirty="0">
                <a:solidFill>
                  <a:srgbClr val="1A1B26"/>
                </a:solidFill>
                <a:latin typeface="Courier New" pitchFamily="34" charset="0"/>
                <a:ea typeface="Courier New" pitchFamily="34" charset="-122"/>
                <a:cs typeface="Courier New" pitchFamily="34" charset="-120"/>
              </a:rPr>
              <a:t>S9</a:t>
            </a:r>
            <a:endParaRPr lang="en-US" sz="1300" dirty="0"/>
          </a:p>
        </p:txBody>
      </p:sp>
      <p:sp>
        <p:nvSpPr>
          <p:cNvPr id="9" name="Text 7"/>
          <p:cNvSpPr txBox="1"/>
          <p:nvPr/>
        </p:nvSpPr>
        <p:spPr>
          <a:xfrm>
            <a:off x="1325880" y="6254496"/>
            <a:ext cx="8229600" cy="320040"/>
          </a:xfrm>
          <a:prstGeom prst="rect">
            <a:avLst/>
          </a:prstGeom>
          <a:noFill/>
          <a:ln/>
        </p:spPr>
        <p:txBody>
          <a:bodyPr wrap="square" lIns="0" tIns="0" rIns="0" bIns="0" rtlCol="0" anchor="ctr"/>
          <a:lstStyle/>
          <a:p>
            <a:pPr algn="l" indent="0" marL="0">
              <a:buNone/>
            </a:pPr>
            <a:r>
              <a:rPr lang="en-US" sz="1000" dirty="0">
                <a:solidFill>
                  <a:srgbClr val="565F89"/>
                </a:solidFill>
                <a:latin typeface="Calibri" pitchFamily="34" charset="0"/>
                <a:ea typeface="Calibri" pitchFamily="34" charset="-122"/>
                <a:cs typeface="Calibri" pitchFamily="34" charset="-120"/>
              </a:rPr>
              <a:t>Prompt &amp; Context Engineering  ·  Capstone Presentations &amp; The Future</a:t>
            </a:r>
            <a:endParaRPr lang="en-US" sz="1000" dirty="0"/>
          </a:p>
        </p:txBody>
      </p:sp>
      <p:sp>
        <p:nvSpPr>
          <p:cNvPr id="10" name="Text 8"/>
          <p:cNvSpPr txBox="1"/>
          <p:nvPr/>
        </p:nvSpPr>
        <p:spPr>
          <a:xfrm>
            <a:off x="8897112" y="6254496"/>
            <a:ext cx="2743200" cy="320040"/>
          </a:xfrm>
          <a:prstGeom prst="rect">
            <a:avLst/>
          </a:prstGeom>
          <a:noFill/>
          <a:ln/>
        </p:spPr>
        <p:txBody>
          <a:bodyPr wrap="square" lIns="0" tIns="0" rIns="0" bIns="0" rtlCol="0" anchor="ctr"/>
          <a:lstStyle/>
          <a:p>
            <a:pPr algn="r" indent="0" marL="0">
              <a:buNone/>
            </a:pPr>
            <a:r>
              <a:rPr lang="en-US" sz="1000" dirty="0">
                <a:solidFill>
                  <a:srgbClr val="565F89"/>
                </a:solidFill>
                <a:latin typeface="Calibri" pitchFamily="34" charset="0"/>
                <a:ea typeface="Calibri" pitchFamily="34" charset="-122"/>
                <a:cs typeface="Calibri" pitchFamily="34" charset="-120"/>
              </a:rPr>
              <a:t>1 Oct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&amp; Context Engineering — Session 9</dc:title>
  <dc:subject>PptxGenJS Presentation</dc:subject>
  <dc:creator>Stefan Duprey</dc:creator>
  <cp:lastModifiedBy>Stefan Duprey</cp:lastModifiedBy>
  <cp:revision>1</cp:revision>
  <dcterms:created xsi:type="dcterms:W3CDTF">2026-09-08T15:47:41Z</dcterms:created>
  <dcterms:modified xsi:type="dcterms:W3CDTF">2026-09-08T15:47:41Z</dcterms:modified>
</cp:coreProperties>
</file>