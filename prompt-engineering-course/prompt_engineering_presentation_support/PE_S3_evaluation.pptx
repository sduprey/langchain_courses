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session in the course. Everything before was technique; this is what makes it engineering. It's a long slot — spend most of it in the lab building a real eval harness. The mantra to repeat: no prompt change ships without a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(supporting workflow): Remotes &amp; GitHub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(supporting workflow): Fork &amp; pull-request workflow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 this hard — it's the thesis of the course. Many students have only ever prompted by feel. The reframe: prompting is a normal engineering loop once you have a test set. Everything downstream (reasoning, RAG, cost, safety) gets measured the same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actual eval_harness in the repo — load_cases, run_eval, print_report. Stress that the dataset is the asset: a small, honest, hard-case-rich set is worth more than a big easy one. This is where prompts start to look like tested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LLM-as-judge is how you scale evaluation past exact-match. The catch students miss: the judge is itself a prompt that can be wrong or biased. Always calibrate it against a handful of human labels first. Structured JSON output here also previews S4.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discipline that separates a demo from a product. Connect to the Git thread: the PR they open in the lab is where the before/after numbers get recorded. Prompt versioning + eval = reproducible improvement.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humbling and important. Have them make three trivial variants of their classifier prompt and score all three — the spread surprises everyone. The lesson isn't 'prompting is hopeless', it's 'measure, and prefer prompts that are robust, not just lucky'.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loop of the entire course, now with real measurement behind it (it appeared informally in S2). Insist on 'change one thing' — it's the scientific method applied to prompts. Everything in S4–S8 plugs into this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heart of the course. Give this the bulk of the 2h30. Watch for students who write only easy cases — push them to add the ones that break their classifier. The PR is the Git touch-in and the hand-in; its description must contain the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now have the tool that judges everything else. Next session's payoff: they'll use this exact harness to decide whether chain-of-thought is worth its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182880"/>
            <a:ext cx="45720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2327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7680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Iteration — The Pivot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6052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prompting from vibes into engineering: measure, judge, and catch regressions.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12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Vendredi 18 septembre   ·   8h00–10h30   ·   2h30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—  Stefan Duprey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— the pivot to measurement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B9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be able to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remotes: clone, fork, push, pull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eval set and judge outputs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prompt sensitivity &amp; regressions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your eval through a pull request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03720" y="1965960"/>
            <a:ext cx="4736592" cy="3886200"/>
          </a:xfrm>
          <a:prstGeom prst="roundRect">
            <a:avLst>
              <a:gd name="adj" fmla="val 211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78040" y="2194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OF SHOW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2651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95360" y="26517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316382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0:10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31638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remotes, fork, GitHub flow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38221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0:50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382219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Evaluation, judging, sensitivity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4480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1:20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44805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lab — build an eval harness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Evaluation &amp; Iteration — The Pivot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Sept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0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05872" y="45720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F056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405872" y="457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GIT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· REMOTES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Remotes &amp; GitHub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0848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468880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 remote repository to your machine.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209544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095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19125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575304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your local commits up to the remote.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315968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315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2976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681728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and merge everyone else's work.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5422392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4223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540410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5788152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name for your main remote.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056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supporting workflow  ·  Evaluation &amp; Iteration — The Pivot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Sept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0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05872" y="45720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F056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405872" y="457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GIT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· THE GITHUB FLOW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&amp; pull-request workflow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6126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fork is your own copy of a repo on GitHub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your fork, branch, commit, and push to it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pull request to propose your changes back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how you'll hand in every lab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995160" y="2148840"/>
            <a:ext cx="4645152" cy="3383280"/>
          </a:xfrm>
          <a:prstGeom prst="roundRect">
            <a:avLst>
              <a:gd name="adj" fmla="val 2432"/>
            </a:avLst>
          </a:prstGeom>
          <a:solidFill>
            <a:srgbClr val="3E2418"/>
          </a:solidFill>
          <a:ln w="15875">
            <a:solidFill>
              <a:srgbClr val="F056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69480" y="2423160"/>
            <a:ext cx="457200" cy="457200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818120" y="24505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3108960"/>
            <a:ext cx="4160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fork the course repo and push your first prompt-engineering lab through it.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056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supporting workflow  ·  Evaluation &amp; Iteration — The Pivot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Sept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evaluation is the whole game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session that turns everything before it into engineering, so let's be clear on why measuring matters this much.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'It looks good' doesn't survive change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you tweak a prompt or swap a model, your gut feeling resets. A held-out eval set doesn't.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measurement, iteration is guessing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change something, it feels better, you move on — and you have no idea if you helped or hurt. A number ends the argument.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line between craft and engineering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fiddle with wording. Engineers define success, measure against it, and only keep changes that move the number.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BB9A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PIVOT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here on, no prompt change ships without a number behind it. That single rule is what this whole course is teaching.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Evaluation &amp; Iteration — The Pivot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Sept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eval set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 set sounds heavy, but it's just a handful of cases with known-good answers — here's how to put one together.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0352" cy="530352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4323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41401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cases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798064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real inputs — and especially the ones that broke before. Ten good cases beat a hundred trivial ones.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456432"/>
            <a:ext cx="530352" cy="530352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4564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43814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success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822192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case, an expected answer or a checkable criterion. If you can't say what 'right' is, you can't evaluate it.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0352" cy="530352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480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4622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&amp; score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846320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prompt across every case and record pass/fail. The course eval harness does this in a few lines.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5504688"/>
            <a:ext cx="530352" cy="530352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504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486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over time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5870448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on every change. Your score becomes a scoreboard you can defend to yourself and to a client.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Evaluation &amp; Iteration — The Pivot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Sept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LLM-as-judge: grading open-ended output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there's no single right answer to check against, you can hand the grading to another model — carefully.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86584"/>
            <a:ext cx="470916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model to grade a model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answers with no single right string (summaries, explanations), a second model applies a rubric and returns a score.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rubric and a strict format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1–5 on a named quality, return JSON. Vague judges give vague scores.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judge first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Spot-check it against your own labels before trusting it. A judge you haven't checked is just another opinion.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532120" y="2386584"/>
            <a:ext cx="6108192" cy="3465576"/>
          </a:xfrm>
          <a:prstGeom prst="roundRect">
            <a:avLst>
              <a:gd name="adj" fmla="val 1583"/>
            </a:avLst>
          </a:prstGeom>
          <a:solidFill>
            <a:srgbClr val="16161E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0" y="2523744"/>
            <a:ext cx="5650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judge prompt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788152" y="2889504"/>
            <a:ext cx="5596128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the answer 1-5 for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faithfulness to the context.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JSON: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int,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str }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rubric in, structured score out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Evaluation &amp; Iteration — The Pivot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Sept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DISCIPLINE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&amp; versioning prompts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are code, so treat them like it: version them, and never assume a fix didn't break something else.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prompts like code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them, and pin behaviour with tests. A prompt is a program; your eval set is its test suite.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fix can break another case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the tricky example often quietly regresses an easy one. Only the full eval set catches this.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scoreboard of versions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each prompt version and its score. You want to see the trend, and be able to roll back.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BB9A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HABIT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whole eval set before you ship any change. If you only remember one sentence from this course, that's the one.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Evaluation &amp; Iteration — The Pivot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Sept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UNCOMFORTABLE TRUTH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are fragile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Here's the humbling part — tiny, meaningless-looking changes can swing your results, so test for it on purpose.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 changes flip outputs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few-shot examples, changing 'Answer:' to 'answer:', an extra blank line — any of these can move results.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Whitespace and punctuation matter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sensitive to surface form in ways that feel arbitrary. Your parsing has to be robust to it.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adds run-to-run noise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0, the same prompt gives different answers. Pin temperature to 0 when you evaluate, or average several runs.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BB9A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 WHAT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sensitivity on purpose. A prompt that only works by luck will fail the moment anything shifts in production.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Evaluation &amp; Iteration — The Pivot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Sept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LOOP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— measure — refine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all together and you get the loop you'll run for the rest of the course.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0352" cy="530352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4323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41401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798064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simplest prompt that could work and score it. Now you have a number to beat.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456432"/>
            <a:ext cx="530352" cy="530352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4564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43814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822192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example, one constraint, one reorder — never several at once, or you won't know what helped.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0352" cy="530352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480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4622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846320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eval set and compare the number, not your gut. Keep the evidence.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5504688"/>
            <a:ext cx="530352" cy="530352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504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486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or revert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5870448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change only if it improved the score. Commit the winning version with the numbers in the message.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Evaluation &amp; Iteration — The Pivot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Sept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Build an eval harness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37744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· OLLAMA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5727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prompt-engineering-course/03_evaluation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7040880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957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the repo; wrap your S2 classifier in the eval harness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15 labelled cases, deliberately including hard ones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 prompt change and record before/after accuracy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branch and open a pull request to hand it in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18120" y="2194560"/>
            <a:ext cx="3822192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5875">
            <a:solidFill>
              <a:srgbClr val="BB9A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92440" y="2468880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924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24871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DELIVERABLE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092440" y="31546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runnable eval harness, a scored prompt change, and a PR whose description reports the before/after numbers.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Evaluation &amp; Iteration — The Pivot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Sept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WRAP-UP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— Session 3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1488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is what makes prompting engineering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0896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sets + a judge turn opinions into numbers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06908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whole set to catch regressions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457200" cy="457200"/>
          </a:xfrm>
          <a:prstGeom prst="ellipse">
            <a:avLst/>
          </a:prstGeom>
          <a:solidFill>
            <a:srgbClr val="BB9A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02920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are fragile — test sensitivity deliberately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2194560"/>
            <a:ext cx="4325112" cy="3566160"/>
          </a:xfrm>
          <a:prstGeom prst="roundRect">
            <a:avLst>
              <a:gd name="adj" fmla="val 230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SESSION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28346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B9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&amp; structured outputs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397764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models reason on purpose — then use your eval set to check whether the reasoning actually helped.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BB9A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Evaluation &amp; Iteration — The Pivot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Sept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&amp; Context Engineering — Session 3</dc:title>
  <dc:subject>PptxGenJS Presentation</dc:subject>
  <dc:creator>Stefan Duprey</dc:creator>
  <cp:lastModifiedBy>Stefan Duprey</cp:lastModifiedBy>
  <cp:revision>1</cp:revision>
  <dcterms:created xsi:type="dcterms:W3CDTF">2026-09-08T15:47:41Z</dcterms:created>
  <dcterms:modified xsi:type="dcterms:W3CDTF">2026-09-08T15:47:41Z</dcterms:modified>
</cp:coreProperties>
</file>