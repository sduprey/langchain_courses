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session. Goal: give students an accurate mental model of what an LLM is doing so that every later technique has something to hook onto. Keep it concrete — demos over theory. By the end they should be able to write a specific prompt and run it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is not a 'prompt tricks' course. The spine is specify -&gt; measure -&gt; iterate. Point out that evaluation arrives early (S3) on purpose — it's what makes everything after it engineering rather than guessing. Git rides along as the way work is handed in,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Why version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The everyday Git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See what changed — and hide what shouldn't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of the day. If students internalise 'next-token predictor with no memory', hallucination, context limits and prompt sensitivity all stop being surprising. Analogy: autocomplete that has read most of the internet. Stress that 'the model knows X' really means 'X was likely in training data' — not reliable recall.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tokenization notebook live if you can. Show that 'strawberry' splits oddly — this is why models miscount letters. Tie it forward: when we talk about cost in S7 and context windows in a minute, 'token' is the unit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guidance: use temperature 0 for anything you'll evaluate or parse (classification, extraction) so runs are comparable; raise it for brainstorming or drafting. Most students over-use high temperature and then wonder why results are inconsistent.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Foreshadow context engineering (S5). The window being shared is why 'just paste everything in' fails at scale. Give a number for their local model's window so it's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Defuse the common student reaction ('the model lied'). It has no concept of truth; it produces likely text. This reframes hallucination as expected behaviour to engineer around, and motivates both retrieval and evaluation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system/user split concrete by showing the same request with and without a system message. Students often cram everything into one user string; showing the roles gives them a cleaner structure to think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both live on the same paragraph. The point lands hardest when students see the vague version vary run-to-run while the specific one stays stable. This is the whole ethos of the course in one slide: specificity is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 and unblock installs; the first-commit step is the only Git needed today. Success = everyone has run a local model once and seen temperature change the output. Don't let setup eat the whole slot — pair students who are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understanding with one question: 'why can't the model remember our last conversation?' If they can answer, the mental model landed.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182880"/>
            <a:ext cx="45720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2327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Foundations: LLMs &amp; the Anatomy of a Prompt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language model produces text — and how a prompt steers it.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Mardi 15 septembre   ·   8h00–9h50   ·   1h50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—  Stefan Duprey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— Git + PE kickoff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AA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be able 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Git: init, add, commit, and read history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an LLM generates text, token by token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four parts of a good prompt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your repo and run a local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1965960"/>
            <a:ext cx="4736592" cy="3886200"/>
          </a:xfrm>
          <a:prstGeom prst="roundRect">
            <a:avLst>
              <a:gd name="adj" fmla="val 211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7804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OF SHOW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2651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6517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+ course map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31638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0:15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1638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foundations + hands-on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6758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1:00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36758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mental model &amp; prompt anatomy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43342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1:35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433425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0 — setup, commit, first prompts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COURSE 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course is going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Here's the shape of the whole journey, so you always know where a given day fits.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548640" cy="54864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1–2. How models work, and the everyday prompting toolkit.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96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05472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3–4. Evaluation first, then reasoning and structured output.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736592"/>
            <a:ext cx="548640" cy="548640"/>
          </a:xfrm>
          <a:prstGeom prst="ellipse">
            <a:avLst/>
          </a:prstGeom>
          <a:solidFill>
            <a:srgbClr val="FF9E6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5–6. Retrieval, tools and memory as engineered context.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736592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7–9. Cost, safety, and a capstone you present.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FOUNDATIONS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version control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6126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of your work you can return to anytime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safety net — experiment without fear of breaking things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let you try ideas in isolation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backbone of every team collaboration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995160" y="2148840"/>
            <a:ext cx="4645152" cy="3383280"/>
          </a:xfrm>
          <a:prstGeom prst="roundRect">
            <a:avLst>
              <a:gd name="adj" fmla="val 2432"/>
            </a:avLst>
          </a:prstGeom>
          <a:solidFill>
            <a:srgbClr val="3E2418"/>
          </a:solidFill>
          <a:ln w="15875">
            <a:solidFill>
              <a:srgbClr val="F056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69480" y="2423160"/>
            <a:ext cx="457200" cy="457200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18120" y="24505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IS GIT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3108960"/>
            <a:ext cx="4160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distributed version-control system: every clone is a full copy of the whole history.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Foundations: LLMs &amp; the Anatomy of a Prompt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THE LOOP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Git loop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848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468880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files in your working directory.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095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9125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575304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— choose exactly what goes into the next snapshot.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315968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315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297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681728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 -m "..." — save the snapshot with a message.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422392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223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40410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5788152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meaningful commits beat one giant one.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Foundations: LLMs &amp; the Anatomy of a Prompt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INSPECT &amp; IGNORE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changed — and hide what shouldn't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47091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status — what's staged, modified, untracked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 --oneline — the history at a glance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 — the exact lines that changed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— keep secrets and junk out of the repo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32120" y="2057400"/>
            <a:ext cx="6108192" cy="3794760"/>
          </a:xfrm>
          <a:prstGeom prst="roundRect">
            <a:avLst>
              <a:gd name="adj" fmla="val 1446"/>
            </a:avLst>
          </a:prstGeom>
          <a:solidFill>
            <a:srgbClr val="22120B"/>
          </a:solidFill>
          <a:ln w="12700">
            <a:solidFill>
              <a:srgbClr val="5C34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0" y="2194560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88152" y="2560320"/>
            <a:ext cx="559612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report.md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"draft summary"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.gitignore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__pycache__/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.ipynb_checkpoints/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Foundations: LLMs &amp; the Anatomy of a Prompt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MENTAL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is a next-token predictor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technique makes sense, let's be honest about the surprisingly simple thing the model is doing when it 'writes'.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predicts the next token, over and over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text so far, the model outputs a probability for every possible next token, picks one, appends it, and repeats. That single loop produces everything it writes.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lookup and no memory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isn't searching a database or recalling your last chat. Each call starts fresh from whatever text you put in front of it.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prompt is the whole program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the model means steering that text. Everything it can use for your task has to be present in the context you send.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7AA2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IDEA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model's entire working memory. If it isn't in the context, the model cannot use it — no matter how obvious it seems to you.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split into tokens, not words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read words the way you do — it reads tokens, and that one fact explains a lot of odd behaviour.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584"/>
            <a:ext cx="470916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read tokens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token is a chunk of text — often a word piece. The model never sees raw characters or whole words the way you do.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4 characters per token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rule of thumb in English: ~¾ of a word. Numbers, code and rare words split into more tokens.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pay and budget in tokens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speed and the context-window limit are all counted in tokens — so token count is a real engineering quantity, revisited in S7.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532120" y="2386584"/>
            <a:ext cx="6108192" cy="3465576"/>
          </a:xfrm>
          <a:prstGeom prst="roundRect">
            <a:avLst>
              <a:gd name="adj" fmla="val 1583"/>
            </a:avLst>
          </a:prstGeom>
          <a:solidFill>
            <a:srgbClr val="16161E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2523744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tokenization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88152" y="2889504"/>
            <a:ext cx="5596128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string ...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 engineering"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becomes tokens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["Prom", "pt", " engineering"]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F9E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= context_window - prompt_tokens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DECODING KNOBS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actually turn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prompt text you get a handful of dials — here's what each one really does.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548640" cy="54864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makes the model pick the most likely token every time — focused and repeatable. Higher values add randomness and variety.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96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05472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only from the smallest set of tokens whose probabilities sum to p. A different way to control how adventurous the output is.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736592"/>
            <a:ext cx="548640" cy="548640"/>
          </a:xfrm>
          <a:prstGeom prst="ellipse">
            <a:avLst/>
          </a:prstGeom>
          <a:solidFill>
            <a:srgbClr val="FF9E6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tokens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how long the response can be. Protects latency and cost — and stops runaway generations.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736592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sequences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that force generation to halt. Useful for keeping output inside a format you can parse.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a hard budget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the context window as a fixed desk: everything you want the model to use has to fit on it at once.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and answer share one budget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a fixed number of tokens for everything: your instructions, examples, retrieved data, and the model's reply all compete for the same space.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add costs room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instructions and big pasted documents leave less space for the answer — and slow the call down.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matters, not just size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least to the middle of a long input. We'll exploit and defend against this in S5 (context rot).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7AA2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OF THUMB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key instruction first or last — not buried in the middle of a wall of text the model will skim.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FAILURE MODE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models hallucinate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 see the model as a plausibility engine, confident wrong answers stop being mysterious and start being manageable.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optimise for plausible, not true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training objective rewards text that looks like a likely continuation. A confident wrong answer is often more 'likely-looking' than 'I don't know'.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get filled with guesses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grounding, the model invents specifics — names, numbers, citations — that fit the pattern but aren't real.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fixes are structural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the model in real sources (S5), let it say 'I don't know', and measure with an eval set (S3). You reduce hallucination; you don't switch it off.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7AA2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(S5) and evaluation (S3) are how we fight this systematically — not by asking the model nicely to stop.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prompt is made of roles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isn't one blob of text; it's a little conversation with distinct parts, and naming them gives you control.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0352" cy="530352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4323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1401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798064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standing instructions: who the model is, the rules it must follow, and the output format. Set once, applies to the whole exchange.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538728"/>
            <a:ext cx="530352" cy="530352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387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520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904488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request, plus any input or data the model should work on for this turn.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645152"/>
            <a:ext cx="530352" cy="530352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6451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626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5010912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reply — and, when you send history, its previous replies become part of the context for the next turn.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task, two prompts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watch specificity do its work — the same request, two very different results.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440680" cy="3374136"/>
          </a:xfrm>
          <a:prstGeom prst="roundRect">
            <a:avLst>
              <a:gd name="adj" fmla="val 2439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776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92424"/>
            <a:ext cx="480060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this."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audience — who is it for?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length or format target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rule for missing information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changes every run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99632" y="2432304"/>
            <a:ext cx="5440680" cy="3374136"/>
          </a:xfrm>
          <a:prstGeom prst="roundRect">
            <a:avLst>
              <a:gd name="adj" fmla="val 2439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73952" y="2724912"/>
            <a:ext cx="457200" cy="45720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73952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68312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9EC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92424"/>
            <a:ext cx="480060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"You are an editor."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+ exactly 3 bullets, max 60 words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a non-technical manager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"If anything is unclear, ask one question."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is consistent and usable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0 — Setup &amp; first prompts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· OLLAMA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5727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prompt-engineering-course/01_foundations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7040880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&amp; clone the repo; create and activate a virtual environment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Ollama and pull the model: ollama pull llama3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your first commit once setup runs (this is the Git touch-in)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01_tokenization.ipynb; run the same prompt at temperature 0 and 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18120" y="2194560"/>
            <a:ext cx="3822192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5875">
            <a:solidFill>
              <a:srgbClr val="7AA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92440" y="2468880"/>
            <a:ext cx="457200" cy="45720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92440" y="31546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local setup with a first commit on your fork, and one prompt run at two temperatures — note what changed.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— Session 1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488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predicts one token at a time, with no memory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089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model's entire working memory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6908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knobs trade focus for creativity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rgbClr val="7AA2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292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prompts (role, task, format) beat vague ones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2194560"/>
            <a:ext cx="4325112" cy="3566160"/>
          </a:xfrm>
          <a:prstGeom prst="roundRect">
            <a:avLst>
              <a:gd name="adj" fmla="val 230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SESSION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AA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&amp; task patterns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39776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toolkit — zero/few-shot, roles, structure — and how prompting changes by task: classification, extraction, summarization.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AA2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Foundations: LLMs &amp; the Anatomy of a Prompt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&amp; Context Engineering — Session 1</dc:title>
  <dc:subject>PptxGenJS Presentation</dc:subject>
  <dc:creator>Stefan Duprey</dc:creator>
  <cp:lastModifiedBy>Stefan Duprey</cp:lastModifiedBy>
  <cp:revision>1</cp:revision>
  <dcterms:created xsi:type="dcterms:W3CDTF">2026-09-08T15:47:41Z</dcterms:created>
  <dcterms:modified xsi:type="dcterms:W3CDTF">2026-09-08T15:47:41Z</dcterms:modified>
</cp:coreProperties>
</file>