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LangChain II — Chains &amp; RAG — Mercredi 23 septembre, 8h00–9h30 (1h30).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Lab: Lab — Offline document QA — llm_application_development/ (chains + QA)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0" y="182880"/>
            <a:ext cx="4572000" cy="6400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0" b="1" dirty="0">
                <a:solidFill>
                  <a:srgbClr val="2327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40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920240" cy="384048"/>
          </a:xfrm>
          <a:prstGeom prst="roundRect">
            <a:avLst>
              <a:gd name="adj" fmla="val 19048"/>
            </a:avLst>
          </a:prstGeom>
          <a:solidFill>
            <a:srgbClr val="FF9E6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 5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65960"/>
            <a:ext cx="7680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II — Chains &amp; RAG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16052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steps into pipelines, and ground answers in your own documents.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212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Mercredi 23 septembre   ·   8h00–9h30   ·   1h30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623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—  Stefan Duprey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TODAY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 — plan &amp; goals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6596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9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be able to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77440"/>
            <a:ext cx="5852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secrets out of Git (.gitignore, .env)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chains and build a RAG pipeline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grounded, citation-first prompts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an offline document-QA notebook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903720" y="1965960"/>
            <a:ext cx="4736592" cy="3886200"/>
          </a:xfrm>
          <a:prstGeom prst="roundRect">
            <a:avLst>
              <a:gd name="adj" fmla="val 2118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78040" y="21945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OF SHOW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178040" y="26517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056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0:00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595360" y="265176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— secrets &amp; .gitignore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178040" y="316382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0:15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595360" y="3163824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 &amp; RAG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178040" y="367588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0:40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595360" y="3675888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— offline RAG + short quiz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FF9E6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S5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LangChain II — Chains &amp; RAG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Sept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056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· SECRETS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secrets out of Git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03120"/>
            <a:ext cx="47091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keys live in .env — never in your code or notebooks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.env to .gitignore BEFORE your first commit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key pushed to GitHub is compromised — rotate it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secrets at runtime from the environment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532120" y="2057400"/>
            <a:ext cx="6108192" cy="3794760"/>
          </a:xfrm>
          <a:prstGeom prst="roundRect">
            <a:avLst>
              <a:gd name="adj" fmla="val 1446"/>
            </a:avLst>
          </a:prstGeom>
          <a:solidFill>
            <a:srgbClr val="16161E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760720" y="2194560"/>
            <a:ext cx="5650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safe pattern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788152" y="2560320"/>
            <a:ext cx="559612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.gitignore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.env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*.key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load at runtime, not in code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056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load_dotenv()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= os.environ[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"OPENAI_API_KEY"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FF9E6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S5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LangChain II — Chains &amp; RAG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Sept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COMPOSITION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3566160" cy="3566160"/>
          </a:xfrm>
          <a:prstGeom prst="roundRect">
            <a:avLst>
              <a:gd name="adj" fmla="val 2308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423160"/>
            <a:ext cx="566928" cy="566928"/>
          </a:xfrm>
          <a:prstGeom prst="ellipse">
            <a:avLst/>
          </a:prstGeom>
          <a:solidFill>
            <a:srgbClr val="FF9E6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423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2004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79476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of one step becomes the input of the next.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98264" y="2148840"/>
            <a:ext cx="3566160" cy="3566160"/>
          </a:xfrm>
          <a:prstGeom prst="roundRect">
            <a:avLst>
              <a:gd name="adj" fmla="val 2308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72584" y="2423160"/>
            <a:ext cx="566928" cy="566928"/>
          </a:xfrm>
          <a:prstGeom prst="ellipse">
            <a:avLst/>
          </a:prstGeom>
          <a:solidFill>
            <a:srgbClr val="9ECE6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72584" y="2423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⇉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672584" y="32004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672584" y="379476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right sub-chain based on the input.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47888" y="2148840"/>
            <a:ext cx="3566160" cy="3566160"/>
          </a:xfrm>
          <a:prstGeom prst="roundRect">
            <a:avLst>
              <a:gd name="adj" fmla="val 2308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22208" y="2423160"/>
            <a:ext cx="566928" cy="566928"/>
          </a:xfrm>
          <a:prstGeom prst="ellipse">
            <a:avLst/>
          </a:prstGeom>
          <a:solidFill>
            <a:srgbClr val="FF9E6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522208" y="2423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∘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522208" y="32004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Composable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522208" y="379476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testable steps beat one giant mega-prompt.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FF9E6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S5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LangChain II — Chains &amp; RAG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Sept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 PATTERN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RAG pipeline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30352" cy="530352"/>
          </a:xfrm>
          <a:prstGeom prst="ellipse">
            <a:avLst/>
          </a:prstGeom>
          <a:solidFill>
            <a:srgbClr val="FF9E6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1031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208483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&amp; split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468880"/>
            <a:ext cx="10424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documents into passages of a few hundred tokens.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163824"/>
            <a:ext cx="530352" cy="530352"/>
          </a:xfrm>
          <a:prstGeom prst="ellipse">
            <a:avLst/>
          </a:prstGeom>
          <a:solidFill>
            <a:srgbClr val="FF9E6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316382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3145536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&amp; store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529584"/>
            <a:ext cx="10424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chunks into vectors; index them in a vector store.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224528"/>
            <a:ext cx="530352" cy="530352"/>
          </a:xfrm>
          <a:prstGeom prst="ellipse">
            <a:avLst/>
          </a:prstGeom>
          <a:solidFill>
            <a:srgbClr val="FF9E6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22452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420624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4590288"/>
            <a:ext cx="10424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the question; fetch the top-k most similar chunks.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5285232"/>
            <a:ext cx="530352" cy="530352"/>
          </a:xfrm>
          <a:prstGeom prst="ellipse">
            <a:avLst/>
          </a:prstGeom>
          <a:solidFill>
            <a:srgbClr val="FF9E6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528523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5266944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5650992"/>
            <a:ext cx="10424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the model with the question + retrieved context.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FF9E6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S5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LangChain II — Chains &amp; RAG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Sept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RETRIEVAL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&amp; vector stores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57400"/>
            <a:ext cx="61264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map text to vectors; similar meaning → close vectors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= nearest-neighbour search over those vectors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size and overlap strongly affect quality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embeddings (nomic-embed-text) keep it offline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995160" y="2148840"/>
            <a:ext cx="4645152" cy="3291840"/>
          </a:xfrm>
          <a:prstGeom prst="roundRect">
            <a:avLst>
              <a:gd name="adj" fmla="val 2500"/>
            </a:avLst>
          </a:prstGeom>
          <a:solidFill>
            <a:srgbClr val="24283B"/>
          </a:solidFill>
          <a:ln w="15875">
            <a:solidFill>
              <a:srgbClr val="FF9E6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69480" y="2423160"/>
            <a:ext cx="457200" cy="457200"/>
          </a:xfrm>
          <a:prstGeom prst="ellipse">
            <a:avLst/>
          </a:prstGeom>
          <a:solidFill>
            <a:srgbClr val="FF9E6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818120" y="24505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RAG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269480" y="3108960"/>
            <a:ext cx="4114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grounds answers in your data and current facts — the main cure for hallucination.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FF9E6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S5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LangChain II — Chains &amp; RAG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Sept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PROMPT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for RAG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03120"/>
            <a:ext cx="47091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Instruct: answer only from the context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citations to the retrieved chunks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Explicitly allow "I don't know"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refusal permission is the anti-hallucination lever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532120" y="2057400"/>
            <a:ext cx="6108192" cy="3794760"/>
          </a:xfrm>
          <a:prstGeom prst="roundRect">
            <a:avLst>
              <a:gd name="adj" fmla="val 1446"/>
            </a:avLst>
          </a:prstGeom>
          <a:solidFill>
            <a:srgbClr val="16161E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760720" y="2194560"/>
            <a:ext cx="5650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grounded QA prompt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788152" y="2560320"/>
            <a:ext cx="559612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 using ONLY the context.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Cite sources as [1], [2].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the answer isn't in the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context, say 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 don't know."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Context: {chunks}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Question: {q}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FF9E6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S5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LangChain II — Chains &amp; RAG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Sept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QUALITY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failure modes &amp; fixes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395728"/>
            <a:ext cx="548640" cy="548640"/>
          </a:xfrm>
          <a:prstGeom prst="ellipse">
            <a:avLst/>
          </a:prstGeom>
          <a:solidFill>
            <a:srgbClr val="FF9E6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3957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✂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35915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chunks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1752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big/small → tune size &amp; overlap; split on structure.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45352" y="2103120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19672" y="2395728"/>
            <a:ext cx="548640" cy="548640"/>
          </a:xfrm>
          <a:prstGeom prst="ellipse">
            <a:avLst/>
          </a:prstGeom>
          <a:solidFill>
            <a:srgbClr val="9ECE6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19672" y="23957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7205472" y="235915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retrieval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519672" y="301752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rewriting or hybrid keyword+vector search.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4114800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407408"/>
            <a:ext cx="548640" cy="548640"/>
          </a:xfrm>
          <a:prstGeom prst="ellipse">
            <a:avLst/>
          </a:prstGeom>
          <a:solidFill>
            <a:srgbClr val="FF9E6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407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✎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437083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Ignored context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0292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Restate the grounding rule; put context near the question.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245352" y="4114800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19672" y="4407408"/>
            <a:ext cx="548640" cy="548640"/>
          </a:xfrm>
          <a:prstGeom prst="ellipse">
            <a:avLst/>
          </a:prstGeom>
          <a:solidFill>
            <a:srgbClr val="7DCF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19672" y="4407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◎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7205472" y="437083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citations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6519672" y="50292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chunks and require inline references.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FF9E6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S5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LangChain II — Chains &amp; RAG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Sept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HANDS-ON LAB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— Offline document QA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FF9E6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 A · OLLAMA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108960" y="157276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llm_application_development/ (chains + QA)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7040880" cy="3657600"/>
          </a:xfrm>
          <a:prstGeom prst="roundRect">
            <a:avLst>
              <a:gd name="adj" fmla="val 2250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239572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788920"/>
            <a:ext cx="6400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sequential chain over a local model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a document set with local embeddings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grounded, citation-requiring QA prompt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 question whose answer is NOT in the docs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818120" y="2194560"/>
            <a:ext cx="3822192" cy="3657600"/>
          </a:xfrm>
          <a:prstGeom prst="roundRect">
            <a:avLst>
              <a:gd name="adj" fmla="val 2250"/>
            </a:avLst>
          </a:prstGeom>
          <a:solidFill>
            <a:srgbClr val="24283B"/>
          </a:solidFill>
          <a:ln w="15875">
            <a:solidFill>
              <a:srgbClr val="FF9E6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92440" y="2468880"/>
            <a:ext cx="457200" cy="457200"/>
          </a:xfrm>
          <a:prstGeom prst="ellipse">
            <a:avLst/>
          </a:prstGeom>
          <a:solidFill>
            <a:srgbClr val="FF9E6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09244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0" y="248716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DELIVERABLE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092440" y="3154680"/>
            <a:ext cx="3291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offline RAG notebook that cites sources and refuses when the answer is absent.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FF9E6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LangChain II — Chains &amp; RAG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Sept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WRAP-UP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— Session 5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457200" cy="457200"/>
          </a:xfrm>
          <a:prstGeom prst="ellipse">
            <a:avLst/>
          </a:prstGeom>
          <a:solidFill>
            <a:srgbClr val="FF9E6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14884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 compose small, testable steps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154680"/>
            <a:ext cx="457200" cy="457200"/>
          </a:xfrm>
          <a:prstGeom prst="ellipse">
            <a:avLst/>
          </a:prstGeom>
          <a:solidFill>
            <a:srgbClr val="FF9E6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310896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= load, split, embed, retrieve, generate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4114800"/>
            <a:ext cx="457200" cy="457200"/>
          </a:xfrm>
          <a:prstGeom prst="ellipse">
            <a:avLst/>
          </a:prstGeom>
          <a:solidFill>
            <a:srgbClr val="FF9E6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406908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+ citation + refusal fight hallucination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5074920"/>
            <a:ext cx="457200" cy="457200"/>
          </a:xfrm>
          <a:prstGeom prst="ellipse">
            <a:avLst/>
          </a:prstGeom>
          <a:solidFill>
            <a:srgbClr val="FF9E6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5074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502920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pipeline can run locally and offline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15200" y="2194560"/>
            <a:ext cx="4325112" cy="3566160"/>
          </a:xfrm>
          <a:prstGeom prst="roundRect">
            <a:avLst>
              <a:gd name="adj" fmla="val 2308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89520" y="2423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 SESSION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589520" y="283464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9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function calling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7589520" y="3977640"/>
            <a:ext cx="3749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models call your functions reliably. Big lab — and the capstone brief goes out.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FF9E6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S5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LangChain II — Chains &amp; RAG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Sept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 + Prompt Engineering — Session 5</dc:title>
  <dc:subject>PptxGenJS Presentation</dc:subject>
  <dc:creator>Stefan Duprey</dc:creator>
  <cp:lastModifiedBy>Stefan Duprey</cp:lastModifiedBy>
  <cp:revision>1</cp:revision>
  <dcterms:created xsi:type="dcterms:W3CDTF">2026-09-07T07:40:55Z</dcterms:created>
  <dcterms:modified xsi:type="dcterms:W3CDTF">2026-09-07T07:40:55Z</dcterms:modified>
</cp:coreProperties>
</file>